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MiSans" charset="-122" pitchFamily="34"/>
      <p:regular r:id="rId25"/>
    </p:embeddedFont>
    <p:embeddedFont>
      <p:font typeface="Noto Sans SC" charset="-122" pitchFamily="34"/>
      <p:regular r:id="rId26"/>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font" Target="fonts/font1.fntdata"/><Relationship Id="rId26"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8-2.jp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slides_tmpl/image/25-09-04-14:58:38-d2sjh7m1bb2p4onbq9cg.png">    </p:cNvPr>
          <p:cNvPicPr>
            <a:picLocks noChangeAspect="1"/>
          </p:cNvPicPr>
          <p:nvPr/>
        </p:nvPicPr>
        <p:blipFill>
          <a:blip r:embed="rId1"/>
          <a:stretch>
            <a:fillRect/>
          </a:stretch>
        </p:blipFill>
        <p:spPr>
          <a:xfrm>
            <a:off x="-57785" y="-635"/>
            <a:ext cx="12263755" cy="6858635"/>
          </a:xfrm>
          <a:prstGeom prst="rect">
            <a:avLst/>
          </a:prstGeom>
        </p:spPr>
      </p:pic>
      <p:sp>
        <p:nvSpPr>
          <p:cNvPr id="3" name="Text 0"/>
          <p:cNvSpPr/>
          <p:nvPr/>
        </p:nvSpPr>
        <p:spPr>
          <a:xfrm>
            <a:off x="2793365" y="2157730"/>
            <a:ext cx="8289925" cy="1656080"/>
          </a:xfrm>
          <a:prstGeom prst="rect">
            <a:avLst/>
          </a:prstGeom>
          <a:noFill/>
          <a:ln/>
        </p:spPr>
        <p:txBody>
          <a:bodyPr wrap="square" lIns="91440" tIns="45720" rIns="91440" bIns="45720" rtlCol="0" anchor="t"/>
          <a:lstStyle/>
          <a:p>
            <a:pPr algn="r" indent="0" marL="0">
              <a:lnSpc>
                <a:spcPct val="110000"/>
              </a:lnSpc>
              <a:buNone/>
            </a:pPr>
            <a:r>
              <a:rPr lang="en-US" sz="4800" b="1" dirty="0">
                <a:solidFill>
                  <a:srgbClr val="44546A"/>
                </a:solidFill>
                <a:latin typeface="MiSans" pitchFamily="34" charset="0"/>
                <a:ea typeface="MiSans" pitchFamily="34" charset="-122"/>
                <a:cs typeface="MiSans" pitchFamily="34" charset="-120"/>
              </a:rPr>
              <a:t>Xây Dựng Ứng Dụng Android Đầu Tiên Của Bạn</a:t>
            </a:r>
            <a:endParaRPr lang="en-US" sz="1600" dirty="0"/>
          </a:p>
        </p:txBody>
      </p:sp>
      <p:sp>
        <p:nvSpPr>
          <p:cNvPr id="4" name="Shape 1"/>
          <p:cNvSpPr/>
          <p:nvPr/>
        </p:nvSpPr>
        <p:spPr>
          <a:xfrm>
            <a:off x="-11430" y="-18415"/>
            <a:ext cx="12214860" cy="1351915"/>
          </a:xfrm>
          <a:prstGeom prst="rect">
            <a:avLst/>
          </a:prstGeom>
          <a:gradFill rotWithShape="1" flip="none">
            <a:gsLst>
              <a:gs pos="0">
                <a:srgbClr val="FFFFFF"/>
              </a:gs>
              <a:gs pos="86000">
                <a:srgbClr val="FFFFFF">
                  <a:alpha val="0"/>
                </a:srgbClr>
              </a:gs>
              <a:gs pos="100000">
                <a:srgbClr val="FFFFFF">
                  <a:alpha val="0"/>
                </a:srgbClr>
              </a:gs>
            </a:gsLst>
            <a:lin ang="5400000" scaled="1"/>
          </a:gradFill>
          <a:ln/>
        </p:spPr>
      </p:sp>
      <p:sp>
        <p:nvSpPr>
          <p:cNvPr id="5" name="Text 2"/>
          <p:cNvSpPr/>
          <p:nvPr/>
        </p:nvSpPr>
        <p:spPr>
          <a:xfrm>
            <a:off x="-11430" y="-18415"/>
            <a:ext cx="12214860" cy="1351915"/>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6" name="Shape 3"/>
          <p:cNvSpPr/>
          <p:nvPr/>
        </p:nvSpPr>
        <p:spPr>
          <a:xfrm rot="10800000">
            <a:off x="13335" y="5374005"/>
            <a:ext cx="12192000" cy="1497965"/>
          </a:xfrm>
          <a:prstGeom prst="rect">
            <a:avLst/>
          </a:prstGeom>
          <a:gradFill rotWithShape="1" flip="none">
            <a:gsLst>
              <a:gs pos="0">
                <a:srgbClr val="FFFFFF"/>
              </a:gs>
              <a:gs pos="86000">
                <a:srgbClr val="FFFFFF">
                  <a:alpha val="0"/>
                </a:srgbClr>
              </a:gs>
              <a:gs pos="100000">
                <a:srgbClr val="FFFFFF">
                  <a:alpha val="0"/>
                </a:srgbClr>
              </a:gs>
            </a:gsLst>
            <a:lin ang="5400000" scaled="1"/>
          </a:gradFill>
          <a:ln/>
        </p:spPr>
      </p:sp>
      <p:sp>
        <p:nvSpPr>
          <p:cNvPr id="7" name="Text 4"/>
          <p:cNvSpPr/>
          <p:nvPr/>
        </p:nvSpPr>
        <p:spPr>
          <a:xfrm rot="10800000">
            <a:off x="13335" y="5374005"/>
            <a:ext cx="12192000" cy="1497965"/>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8" name="Text 5"/>
          <p:cNvSpPr/>
          <p:nvPr/>
        </p:nvSpPr>
        <p:spPr>
          <a:xfrm>
            <a:off x="6781575" y="4015673"/>
            <a:ext cx="5057522" cy="774700"/>
          </a:xfrm>
          <a:prstGeom prst="rect">
            <a:avLst/>
          </a:prstGeom>
          <a:noFill/>
          <a:ln/>
        </p:spPr>
        <p:txBody>
          <a:bodyPr wrap="square" lIns="91440" tIns="45720" rIns="91440" bIns="45720" rtlCol="0" anchor="t"/>
          <a:lstStyle/>
          <a:p>
            <a:pPr indent="0" marL="0">
              <a:lnSpc>
                <a:spcPct val="100000"/>
              </a:lnSpc>
              <a:buNone/>
            </a:pPr>
            <a:r>
              <a:rPr lang="en-US" sz="2400" b="1" dirty="0">
                <a:solidFill>
                  <a:srgbClr val="333F4F"/>
                </a:solidFill>
                <a:latin typeface="MiSans" pitchFamily="34" charset="0"/>
                <a:ea typeface="MiSans" pitchFamily="34" charset="-122"/>
                <a:cs typeface="MiSans" pitchFamily="34" charset="-120"/>
              </a:rPr>
              <a:t>Các thành viên : </a:t>
            </a:r>
            <a:endParaRPr lang="en-US" sz="1600" dirty="0"/>
          </a:p>
          <a:p>
            <a:pPr indent="0" marL="0">
              <a:lnSpc>
                <a:spcPct val="100000"/>
              </a:lnSpc>
              <a:buNone/>
            </a:pPr>
            <a:endParaRPr lang="en-US" sz="1600" dirty="0"/>
          </a:p>
        </p:txBody>
      </p:sp>
      <p:sp>
        <p:nvSpPr>
          <p:cNvPr id="9" name="Text 6"/>
          <p:cNvSpPr/>
          <p:nvPr/>
        </p:nvSpPr>
        <p:spPr>
          <a:xfrm>
            <a:off x="6781575" y="4515809"/>
            <a:ext cx="3630177" cy="1607179"/>
          </a:xfrm>
          <a:prstGeom prst="rect">
            <a:avLst/>
          </a:prstGeom>
          <a:noFill/>
          <a:ln/>
        </p:spPr>
        <p:txBody>
          <a:bodyPr wrap="square" lIns="91440" tIns="45720" rIns="91440" bIns="45720" rtlCol="0" anchor="t"/>
          <a:lstStyle/>
          <a:p>
            <a:pPr indent="0" marL="0">
              <a:lnSpc>
                <a:spcPct val="100000"/>
              </a:lnSpc>
              <a:buNone/>
            </a:pPr>
            <a:r>
              <a:rPr lang="en-US" sz="1600" dirty="0">
                <a:solidFill>
                  <a:srgbClr val="333F4F"/>
                </a:solidFill>
                <a:latin typeface="微软雅黑" pitchFamily="34" charset="0"/>
                <a:ea typeface="微软雅黑" pitchFamily="34" charset="-122"/>
                <a:cs typeface="微软雅黑" pitchFamily="34" charset="-120"/>
              </a:rPr>
              <a:t>23020155-Trần Quang Thành</a:t>
            </a:r>
            <a:endParaRPr lang="en-US" sz="1600" dirty="0"/>
          </a:p>
          <a:p>
            <a:pPr indent="0" marL="0">
              <a:lnSpc>
                <a:spcPct val="100000"/>
              </a:lnSpc>
              <a:buNone/>
            </a:pPr>
            <a:r>
              <a:rPr lang="en-US" sz="1600" dirty="0">
                <a:solidFill>
                  <a:srgbClr val="333F4F"/>
                </a:solidFill>
                <a:latin typeface="微软雅黑" pitchFamily="34" charset="0"/>
                <a:ea typeface="微软雅黑" pitchFamily="34" charset="-122"/>
                <a:cs typeface="微软雅黑" pitchFamily="34" charset="-120"/>
              </a:rPr>
              <a:t>23020012-Hoàng Quốc Bảo</a:t>
            </a:r>
            <a:endParaRPr lang="en-US" sz="1600" dirty="0"/>
          </a:p>
          <a:p>
            <a:pPr indent="0" marL="0">
              <a:lnSpc>
                <a:spcPct val="100000"/>
              </a:lnSpc>
              <a:buNone/>
            </a:pPr>
            <a:r>
              <a:rPr lang="en-US" sz="1600" dirty="0">
                <a:solidFill>
                  <a:srgbClr val="333F4F"/>
                </a:solidFill>
                <a:latin typeface="微软雅黑" pitchFamily="34" charset="0"/>
                <a:ea typeface="微软雅黑" pitchFamily="34" charset="-122"/>
                <a:cs typeface="微软雅黑" pitchFamily="34" charset="-120"/>
              </a:rPr>
              <a:t>23020152-Cao Trần Hà Thái</a:t>
            </a:r>
            <a:endParaRPr lang="en-US" sz="1600" dirty="0"/>
          </a:p>
          <a:p>
            <a:pPr indent="0" marL="0">
              <a:lnSpc>
                <a:spcPct val="100000"/>
              </a:lnSpc>
              <a:buNone/>
            </a:pPr>
            <a:r>
              <a:rPr lang="en-US" sz="1600" dirty="0">
                <a:solidFill>
                  <a:srgbClr val="333F4F"/>
                </a:solidFill>
                <a:latin typeface="微软雅黑" pitchFamily="34" charset="0"/>
                <a:ea typeface="微软雅黑" pitchFamily="34" charset="-122"/>
                <a:cs typeface="微软雅黑" pitchFamily="34" charset="-120"/>
              </a:rPr>
              <a:t>23020125-Nguyễn Đỗ Trọng Nghĩa</a:t>
            </a:r>
            <a:endParaRPr lang="en-US" sz="1600" dirty="0"/>
          </a:p>
          <a:p>
            <a:pPr indent="0" marL="0">
              <a:lnSpc>
                <a:spcPct val="100000"/>
              </a:lnSpc>
              <a:buNone/>
            </a:pPr>
            <a:r>
              <a:rPr lang="en-US" sz="1600" dirty="0">
                <a:solidFill>
                  <a:srgbClr val="333F4F"/>
                </a:solidFill>
                <a:latin typeface="微软雅黑" pitchFamily="34" charset="0"/>
                <a:ea typeface="微软雅黑" pitchFamily="34" charset="-122"/>
                <a:cs typeface="微软雅黑" pitchFamily="34" charset="-120"/>
              </a:rPr>
              <a:t>23020161-Quách Đức Thiện</a:t>
            </a:r>
            <a:endParaRPr lang="en-US" sz="1600" dirty="0"/>
          </a:p>
          <a:p>
            <a:pPr indent="0" marL="0">
              <a:lnSpc>
                <a:spcPct val="100000"/>
              </a:lnSpc>
              <a:buNone/>
            </a:pP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slides_tmpl/image/25-09-04-14:58:42-d2sjh8m1bb2p4onbq9g0.jpg">    </p:cNvPr>
          <p:cNvPicPr>
            <a:picLocks noChangeAspect="1"/>
          </p:cNvPicPr>
          <p:nvPr/>
        </p:nvPicPr>
        <p:blipFill>
          <a:blip r:embed="rId1"/>
          <a:stretch>
            <a:fillRect/>
          </a:stretch>
        </p:blipFill>
        <p:spPr>
          <a:xfrm>
            <a:off x="0" y="-5080"/>
            <a:ext cx="12264882" cy="6876000"/>
          </a:xfrm>
          <a:prstGeom prst="rect">
            <a:avLst/>
          </a:prstGeom>
        </p:spPr>
      </p:pic>
      <p:sp>
        <p:nvSpPr>
          <p:cNvPr id="3" name="Shape 0"/>
          <p:cNvSpPr/>
          <p:nvPr/>
        </p:nvSpPr>
        <p:spPr>
          <a:xfrm>
            <a:off x="0" y="-5080"/>
            <a:ext cx="7412990" cy="6834505"/>
          </a:xfrm>
          <a:prstGeom prst="rect">
            <a:avLst/>
          </a:prstGeom>
          <a:solidFill>
            <a:srgbClr val="FFFFFF">
              <a:alpha val="65098"/>
            </a:srgbClr>
          </a:solidFill>
          <a:ln/>
        </p:spPr>
      </p:sp>
      <p:sp>
        <p:nvSpPr>
          <p:cNvPr id="4" name="Text 1"/>
          <p:cNvSpPr/>
          <p:nvPr/>
        </p:nvSpPr>
        <p:spPr>
          <a:xfrm>
            <a:off x="0" y="-5080"/>
            <a:ext cx="7412990" cy="6834505"/>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5" name="Text 2"/>
          <p:cNvSpPr/>
          <p:nvPr/>
        </p:nvSpPr>
        <p:spPr>
          <a:xfrm>
            <a:off x="1297940" y="929640"/>
            <a:ext cx="3182082" cy="1428750"/>
          </a:xfrm>
          <a:prstGeom prst="rect">
            <a:avLst/>
          </a:prstGeom>
          <a:noFill/>
          <a:ln/>
        </p:spPr>
        <p:txBody>
          <a:bodyPr wrap="square" lIns="91440" tIns="45720" rIns="91440" bIns="45720" rtlCol="0" anchor="t"/>
          <a:lstStyle/>
          <a:p>
            <a:pPr indent="0" marL="0">
              <a:lnSpc>
                <a:spcPct val="100000"/>
              </a:lnSpc>
              <a:buNone/>
            </a:pPr>
            <a:r>
              <a:rPr lang="en-US" sz="4400" b="1" dirty="0">
                <a:solidFill>
                  <a:srgbClr val="333F4F"/>
                </a:solidFill>
                <a:latin typeface="MiSans" pitchFamily="34" charset="0"/>
                <a:ea typeface="MiSans" pitchFamily="34" charset="-122"/>
                <a:cs typeface="MiSans" pitchFamily="34" charset="-120"/>
              </a:rPr>
              <a:t>Tổng quan</a:t>
            </a:r>
            <a:endParaRPr lang="en-US" sz="1600" dirty="0"/>
          </a:p>
        </p:txBody>
      </p:sp>
      <p:sp>
        <p:nvSpPr>
          <p:cNvPr id="6" name="Shape 3"/>
          <p:cNvSpPr/>
          <p:nvPr/>
        </p:nvSpPr>
        <p:spPr>
          <a:xfrm>
            <a:off x="837565" y="1108075"/>
            <a:ext cx="410845" cy="410845"/>
          </a:xfrm>
          <a:prstGeom prst="rect">
            <a:avLst/>
          </a:prstGeom>
          <a:solidFill>
            <a:srgbClr val="44546A"/>
          </a:solidFill>
          <a:ln/>
        </p:spPr>
      </p:sp>
      <p:sp>
        <p:nvSpPr>
          <p:cNvPr id="7" name="Text 4"/>
          <p:cNvSpPr/>
          <p:nvPr/>
        </p:nvSpPr>
        <p:spPr>
          <a:xfrm>
            <a:off x="837565" y="1108075"/>
            <a:ext cx="410845" cy="410845"/>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8" name="Shape 5"/>
          <p:cNvSpPr/>
          <p:nvPr/>
        </p:nvSpPr>
        <p:spPr>
          <a:xfrm>
            <a:off x="821055" y="1697990"/>
            <a:ext cx="5009515" cy="0"/>
          </a:xfrm>
          <a:prstGeom prst="line">
            <a:avLst/>
          </a:prstGeom>
          <a:noFill/>
          <a:ln w="19050">
            <a:solidFill>
              <a:srgbClr val="44546A"/>
            </a:solidFill>
            <a:prstDash val="solid"/>
            <a:headEnd type="none"/>
            <a:tailEnd type="none"/>
          </a:ln>
        </p:spPr>
      </p:sp>
      <p:pic>
        <p:nvPicPr>
          <p:cNvPr id="9" name="Image 1" descr="https://kimi-img.moonshot.cn/pub/slides/slides_tmpl/image/25-09-04-14:58:37-d2sjh7e1bb2p4onbq9c0.jpg">    </p:cNvPr>
          <p:cNvPicPr>
            <a:picLocks noChangeAspect="1"/>
          </p:cNvPicPr>
          <p:nvPr/>
        </p:nvPicPr>
        <p:blipFill>
          <a:blip r:embed="rId2"/>
          <a:srcRect l="10582" r="13651" t="0" b="0"/>
          <a:stretch/>
        </p:blipFill>
        <p:spPr>
          <a:xfrm>
            <a:off x="6384290" y="0"/>
            <a:ext cx="2132330" cy="4240530"/>
          </a:xfrm>
          <a:prstGeom prst="rect">
            <a:avLst/>
          </a:prstGeom>
        </p:spPr>
      </p:pic>
      <p:sp>
        <p:nvSpPr>
          <p:cNvPr id="10" name="Text 6"/>
          <p:cNvSpPr/>
          <p:nvPr/>
        </p:nvSpPr>
        <p:spPr>
          <a:xfrm>
            <a:off x="720090" y="1997710"/>
            <a:ext cx="5194300" cy="475456"/>
          </a:xfrm>
          <a:prstGeom prst="rect">
            <a:avLst/>
          </a:prstGeom>
          <a:noFill/>
          <a:ln/>
        </p:spPr>
        <p:txBody>
          <a:bodyPr wrap="square" lIns="91440" tIns="45720" rIns="91440" bIns="45720" rtlCol="0" anchor="t">
            <a:spAutoFit/>
          </a:bodyPr>
          <a:lstStyle/>
          <a:p>
            <a:pPr indent="0" marL="0">
              <a:lnSpc>
                <a:spcPct val="130000"/>
              </a:lnSpc>
              <a:buNone/>
            </a:pPr>
            <a:r>
              <a:rPr lang="en-US" sz="2400" dirty="0">
                <a:solidFill>
                  <a:srgbClr val="333F4F"/>
                </a:solidFill>
                <a:latin typeface="MiSans" pitchFamily="34" charset="0"/>
                <a:ea typeface="MiSans" pitchFamily="34" charset="-122"/>
                <a:cs typeface="MiSans" pitchFamily="34" charset="-120"/>
              </a:rPr>
              <a:t>Giới thiệu Android Studio</a:t>
            </a:r>
            <a:endParaRPr lang="en-US" sz="1600" dirty="0"/>
          </a:p>
        </p:txBody>
      </p:sp>
      <p:sp>
        <p:nvSpPr>
          <p:cNvPr id="11" name="Text 7"/>
          <p:cNvSpPr/>
          <p:nvPr/>
        </p:nvSpPr>
        <p:spPr>
          <a:xfrm>
            <a:off x="720090" y="2615242"/>
            <a:ext cx="5194300" cy="1215033"/>
          </a:xfrm>
          <a:prstGeom prst="rect">
            <a:avLst/>
          </a:prstGeom>
          <a:noFill/>
          <a:ln/>
        </p:spPr>
        <p:txBody>
          <a:bodyPr wrap="square" lIns="91440" tIns="45720" rIns="91440" bIns="45720" rtlCol="0" anchor="t">
            <a:spAutoFit/>
          </a:bodyPr>
          <a:lstStyle/>
          <a:p>
            <a:pPr indent="0" marL="0">
              <a:lnSpc>
                <a:spcPct val="130000"/>
              </a:lnSpc>
              <a:buNone/>
            </a:pPr>
            <a:r>
              <a:rPr lang="en-US" sz="2400" dirty="0">
                <a:solidFill>
                  <a:srgbClr val="333F4F"/>
                </a:solidFill>
                <a:latin typeface="MiSans" pitchFamily="34" charset="0"/>
                <a:ea typeface="MiSans" pitchFamily="34" charset="-122"/>
                <a:cs typeface="MiSans" pitchFamily="34" charset="-120"/>
              </a:rPr>
              <a:t>Tạo ứng dụng "Hello World" bằng Android Studio</a:t>
            </a:r>
            <a:endParaRPr lang="en-US" sz="1600" dirty="0"/>
          </a:p>
          <a:p>
            <a:pPr indent="0" marL="0">
              <a:lnSpc>
                <a:spcPct val="130000"/>
              </a:lnSpc>
              <a:buNone/>
            </a:pPr>
            <a:endParaRPr lang="en-US" sz="1600" dirty="0"/>
          </a:p>
        </p:txBody>
      </p:sp>
      <p:sp>
        <p:nvSpPr>
          <p:cNvPr id="12" name="Text 8"/>
          <p:cNvSpPr/>
          <p:nvPr/>
        </p:nvSpPr>
        <p:spPr>
          <a:xfrm>
            <a:off x="720090" y="3749673"/>
            <a:ext cx="5194300" cy="1215033"/>
          </a:xfrm>
          <a:prstGeom prst="rect">
            <a:avLst/>
          </a:prstGeom>
          <a:noFill/>
          <a:ln/>
        </p:spPr>
        <p:txBody>
          <a:bodyPr wrap="square" lIns="91440" tIns="45720" rIns="91440" bIns="45720" rtlCol="0" anchor="t">
            <a:spAutoFit/>
          </a:bodyPr>
          <a:lstStyle/>
          <a:p>
            <a:pPr indent="0" marL="0">
              <a:lnSpc>
                <a:spcPct val="130000"/>
              </a:lnSpc>
              <a:buNone/>
            </a:pPr>
            <a:r>
              <a:rPr lang="en-US" sz="2400" dirty="0">
                <a:solidFill>
                  <a:srgbClr val="333F4F"/>
                </a:solidFill>
                <a:latin typeface="MiSans" pitchFamily="34" charset="0"/>
                <a:ea typeface="MiSans" pitchFamily="34" charset="-122"/>
                <a:cs typeface="MiSans" pitchFamily="34" charset="-120"/>
              </a:rPr>
              <a:t>Luồng phát triển cở bản của một ứng dụng sử dụng Android Studio</a:t>
            </a:r>
            <a:endParaRPr lang="en-US" sz="1600" dirty="0"/>
          </a:p>
          <a:p>
            <a:pPr indent="0" marL="0">
              <a:lnSpc>
                <a:spcPct val="130000"/>
              </a:lnSpc>
              <a:buNone/>
            </a:pPr>
            <a:endParaRPr lang="en-US" sz="1600" dirty="0"/>
          </a:p>
        </p:txBody>
      </p:sp>
      <p:sp>
        <p:nvSpPr>
          <p:cNvPr id="13" name="Text 9"/>
          <p:cNvSpPr/>
          <p:nvPr/>
        </p:nvSpPr>
        <p:spPr>
          <a:xfrm>
            <a:off x="720090" y="4843939"/>
            <a:ext cx="5194300" cy="1215033"/>
          </a:xfrm>
          <a:prstGeom prst="rect">
            <a:avLst/>
          </a:prstGeom>
          <a:noFill/>
          <a:ln/>
        </p:spPr>
        <p:txBody>
          <a:bodyPr wrap="square" lIns="91440" tIns="45720" rIns="91440" bIns="45720" rtlCol="0" anchor="t">
            <a:spAutoFit/>
          </a:bodyPr>
          <a:lstStyle/>
          <a:p>
            <a:pPr indent="0" marL="0">
              <a:lnSpc>
                <a:spcPct val="130000"/>
              </a:lnSpc>
              <a:buNone/>
            </a:pPr>
            <a:r>
              <a:rPr lang="en-US" sz="2400" dirty="0">
                <a:solidFill>
                  <a:srgbClr val="333F4F"/>
                </a:solidFill>
                <a:latin typeface="MiSans" pitchFamily="34" charset="0"/>
                <a:ea typeface="MiSans" pitchFamily="34" charset="-122"/>
                <a:cs typeface="MiSans" pitchFamily="34" charset="-120"/>
              </a:rPr>
              <a:t>Chạy ứng dụng sử dụng thiết bị thật hoặc ảo hóa</a:t>
            </a:r>
            <a:endParaRPr lang="en-US" sz="1600" dirty="0"/>
          </a:p>
          <a:p>
            <a:pPr indent="0" marL="0">
              <a:lnSpc>
                <a:spcPct val="130000"/>
              </a:lnSpc>
              <a:buNone/>
            </a:pP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slides_tmpl/image/25-09-04-14:58:34-d2sjh6m1bb2p4onbq9b0.jpg">    </p:cNvPr>
          <p:cNvPicPr>
            <a:picLocks noChangeAspect="1"/>
          </p:cNvPicPr>
          <p:nvPr/>
        </p:nvPicPr>
        <p:blipFill>
          <a:blip r:embed="rId1"/>
          <a:stretch>
            <a:fillRect/>
          </a:stretch>
        </p:blipFill>
        <p:spPr>
          <a:xfrm>
            <a:off x="0" y="0"/>
            <a:ext cx="12191365" cy="6858000"/>
          </a:xfrm>
          <a:prstGeom prst="rect">
            <a:avLst/>
          </a:prstGeom>
        </p:spPr>
      </p:pic>
      <p:pic>
        <p:nvPicPr>
          <p:cNvPr id="3" name="Image 1" descr="https://kimi-img.moonshot.cn/pub/slides/slides_tmpl/image/25-09-04-14:58:39-d2sjh7u1bb2p4onbq9d0.jpg">    </p:cNvPr>
          <p:cNvPicPr>
            <a:picLocks noChangeAspect="1"/>
          </p:cNvPicPr>
          <p:nvPr/>
        </p:nvPicPr>
        <p:blipFill>
          <a:blip r:embed="rId2">
            <a:alphaModFix amt="90000"/>
          </a:blip>
          <a:srcRect l="0" r="0" t="19005" b="17569"/>
          <a:stretch/>
        </p:blipFill>
        <p:spPr>
          <a:xfrm>
            <a:off x="0" y="1316990"/>
            <a:ext cx="12192000" cy="4321175"/>
          </a:xfrm>
          <a:prstGeom prst="rect">
            <a:avLst/>
          </a:prstGeom>
        </p:spPr>
      </p:pic>
      <p:sp>
        <p:nvSpPr>
          <p:cNvPr id="4" name="Text 0"/>
          <p:cNvSpPr/>
          <p:nvPr/>
        </p:nvSpPr>
        <p:spPr>
          <a:xfrm>
            <a:off x="1367155" y="3056890"/>
            <a:ext cx="9475470" cy="1066800"/>
          </a:xfrm>
          <a:prstGeom prst="rect">
            <a:avLst/>
          </a:prstGeom>
          <a:noFill/>
          <a:ln/>
        </p:spPr>
        <p:txBody>
          <a:bodyPr wrap="square" lIns="91440" tIns="45720" rIns="91440" bIns="45720" rtlCol="0" anchor="t"/>
          <a:lstStyle/>
          <a:p>
            <a:pPr algn="ctr" indent="0" marL="0">
              <a:lnSpc>
                <a:spcPct val="110000"/>
              </a:lnSpc>
              <a:buNone/>
            </a:pPr>
            <a:r>
              <a:rPr lang="en-US" sz="4800" dirty="0">
                <a:solidFill>
                  <a:srgbClr val="333F4F"/>
                </a:solidFill>
                <a:latin typeface="MiSans" pitchFamily="34" charset="0"/>
                <a:ea typeface="MiSans" pitchFamily="34" charset="-122"/>
                <a:cs typeface="MiSans" pitchFamily="34" charset="-120"/>
              </a:rPr>
              <a:t>Giới thiệu Android Studio</a:t>
            </a:r>
            <a:endParaRPr lang="en-US" sz="1600" dirty="0"/>
          </a:p>
        </p:txBody>
      </p:sp>
      <p:sp>
        <p:nvSpPr>
          <p:cNvPr id="5" name="Text 1"/>
          <p:cNvSpPr/>
          <p:nvPr/>
        </p:nvSpPr>
        <p:spPr>
          <a:xfrm>
            <a:off x="5107305" y="1623060"/>
            <a:ext cx="2824344" cy="1066800"/>
          </a:xfrm>
          <a:prstGeom prst="rect">
            <a:avLst/>
          </a:prstGeom>
          <a:noFill/>
          <a:ln/>
        </p:spPr>
        <p:txBody>
          <a:bodyPr wrap="square" lIns="91440" tIns="45720" rIns="91440" bIns="45720" rtlCol="0" anchor="t"/>
          <a:lstStyle/>
          <a:p>
            <a:pPr algn="l" indent="0" marL="0">
              <a:lnSpc>
                <a:spcPct val="100000"/>
              </a:lnSpc>
              <a:buNone/>
            </a:pPr>
            <a:r>
              <a:rPr lang="en-US" sz="9600" dirty="0">
                <a:solidFill>
                  <a:srgbClr val="44546A"/>
                </a:solidFill>
                <a:latin typeface="MiSans" pitchFamily="34" charset="0"/>
                <a:ea typeface="MiSans" pitchFamily="34" charset="-122"/>
                <a:cs typeface="MiSans" pitchFamily="34" charset="-120"/>
              </a:rPr>
              <a:t>01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4F6"/>
        </a:solidFill>
      </p:bgPr>
    </p:bg>
    <p:spTree>
      <p:nvGrpSpPr>
        <p:cNvPr id="1" name=""/>
        <p:cNvGrpSpPr/>
        <p:nvPr/>
      </p:nvGrpSpPr>
      <p:grpSpPr>
        <a:xfrm>
          <a:off x="0" y="0"/>
          <a:ext cx="0" cy="0"/>
          <a:chOff x="0" y="0"/>
          <a:chExt cx="0" cy="0"/>
        </a:xfrm>
      </p:grpSpPr>
      <p:pic>
        <p:nvPicPr>
          <p:cNvPr id="2" name="Image 0" descr="https://kimi-img.moonshot.cn/pub/slides/slides_tmpl/image/25-09-04-14:58:41-d2sjh8e1bb2p4onbq9f0.jpg">    </p:cNvPr>
          <p:cNvPicPr>
            <a:picLocks noChangeAspect="1"/>
          </p:cNvPicPr>
          <p:nvPr/>
        </p:nvPicPr>
        <p:blipFill>
          <a:blip r:embed="rId1"/>
          <a:stretch>
            <a:fillRect/>
          </a:stretch>
        </p:blipFill>
        <p:spPr>
          <a:xfrm>
            <a:off x="-29845" y="-15875"/>
            <a:ext cx="12300585" cy="6921500"/>
          </a:xfrm>
          <a:prstGeom prst="rect">
            <a:avLst/>
          </a:prstGeom>
        </p:spPr>
      </p:pic>
      <p:sp>
        <p:nvSpPr>
          <p:cNvPr id="3" name="Text 0"/>
          <p:cNvSpPr/>
          <p:nvPr/>
        </p:nvSpPr>
        <p:spPr>
          <a:xfrm>
            <a:off x="279399" y="816853"/>
            <a:ext cx="12192000" cy="508000"/>
          </a:xfrm>
          <a:prstGeom prst="rect">
            <a:avLst/>
          </a:prstGeom>
          <a:noFill/>
          <a:ln/>
        </p:spPr>
        <p:txBody>
          <a:bodyPr wrap="square" lIns="0" tIns="0" rIns="0" bIns="0" rtlCol="0" anchor="ctr"/>
          <a:lstStyle/>
          <a:p>
            <a:pPr indent="0" marL="0">
              <a:lnSpc>
                <a:spcPct val="90000"/>
              </a:lnSpc>
              <a:buNone/>
            </a:pPr>
            <a:r>
              <a:rPr lang="en-US" sz="3600" b="1" dirty="0">
                <a:solidFill>
                  <a:srgbClr val="333333"/>
                </a:solidFill>
                <a:latin typeface="Noto Sans SC" pitchFamily="34" charset="0"/>
                <a:ea typeface="Noto Sans SC" pitchFamily="34" charset="-122"/>
                <a:cs typeface="Noto Sans SC" pitchFamily="34" charset="-120"/>
              </a:rPr>
              <a:t>Android Studio Là Gì?</a:t>
            </a:r>
            <a:endParaRPr lang="en-US" sz="1600" dirty="0"/>
          </a:p>
        </p:txBody>
      </p:sp>
      <p:sp>
        <p:nvSpPr>
          <p:cNvPr id="4" name="Text 1"/>
          <p:cNvSpPr/>
          <p:nvPr/>
        </p:nvSpPr>
        <p:spPr>
          <a:xfrm>
            <a:off x="279399" y="1528053"/>
            <a:ext cx="9753600" cy="609600"/>
          </a:xfrm>
          <a:prstGeom prst="rect">
            <a:avLst/>
          </a:prstGeom>
          <a:noFill/>
          <a:ln/>
        </p:spPr>
        <p:txBody>
          <a:bodyPr wrap="square" lIns="0" tIns="0" rIns="0" bIns="0" rtlCol="0" anchor="ctr"/>
          <a:lstStyle/>
          <a:p>
            <a:pPr indent="0" marL="0">
              <a:lnSpc>
                <a:spcPct val="130000"/>
              </a:lnSpc>
              <a:buNone/>
            </a:pPr>
            <a:r>
              <a:rPr lang="en-US" sz="1600" dirty="0">
                <a:solidFill>
                  <a:srgbClr val="333333"/>
                </a:solidFill>
                <a:latin typeface="Noto Sans SC" pitchFamily="34" charset="0"/>
                <a:ea typeface="Noto Sans SC" pitchFamily="34" charset="-122"/>
                <a:cs typeface="Noto Sans SC" pitchFamily="34" charset="-120"/>
              </a:rPr>
              <a:t>Android Studio là môi trường phát triển tích hợp (IDE) chính thức cho Android, cung cấp mọi công cụ cần thiết để xây dựng ứng dụng chất lượng cao.</a:t>
            </a:r>
            <a:endParaRPr lang="en-US" sz="1600" dirty="0"/>
          </a:p>
        </p:txBody>
      </p:sp>
      <p:sp>
        <p:nvSpPr>
          <p:cNvPr id="5" name="Shape 2"/>
          <p:cNvSpPr/>
          <p:nvPr/>
        </p:nvSpPr>
        <p:spPr>
          <a:xfrm>
            <a:off x="279399" y="2544053"/>
            <a:ext cx="3759200" cy="2235200"/>
          </a:xfrm>
          <a:custGeom>
            <a:avLst/>
            <a:gdLst/>
            <a:ahLst/>
            <a:cxnLst/>
            <a:rect l="l" t="t" r="r" b="b"/>
            <a:pathLst>
              <a:path w="3759200" h="2235200">
                <a:moveTo>
                  <a:pt x="101590" y="0"/>
                </a:moveTo>
                <a:lnTo>
                  <a:pt x="3657610" y="0"/>
                </a:lnTo>
                <a:cubicBezTo>
                  <a:pt x="3713717" y="0"/>
                  <a:pt x="3759200" y="45483"/>
                  <a:pt x="3759200" y="101590"/>
                </a:cubicBezTo>
                <a:lnTo>
                  <a:pt x="3759200" y="2133610"/>
                </a:lnTo>
                <a:cubicBezTo>
                  <a:pt x="3759200" y="2189717"/>
                  <a:pt x="3713717" y="2235200"/>
                  <a:pt x="3657610" y="2235200"/>
                </a:cubicBezTo>
                <a:lnTo>
                  <a:pt x="101590" y="2235200"/>
                </a:lnTo>
                <a:cubicBezTo>
                  <a:pt x="45483" y="2235200"/>
                  <a:pt x="0" y="2189717"/>
                  <a:pt x="0" y="2133610"/>
                </a:cubicBezTo>
                <a:lnTo>
                  <a:pt x="0" y="101590"/>
                </a:lnTo>
                <a:cubicBezTo>
                  <a:pt x="0" y="45521"/>
                  <a:pt x="45521" y="0"/>
                  <a:pt x="101590" y="0"/>
                </a:cubicBezTo>
                <a:close/>
              </a:path>
            </a:pathLst>
          </a:custGeom>
          <a:solidFill>
            <a:srgbClr val="D7E3E9">
              <a:alpha val="66667"/>
            </a:srgbClr>
          </a:solidFill>
          <a:ln/>
        </p:spPr>
      </p:sp>
      <p:sp>
        <p:nvSpPr>
          <p:cNvPr id="6" name="Shape 3"/>
          <p:cNvSpPr/>
          <p:nvPr/>
        </p:nvSpPr>
        <p:spPr>
          <a:xfrm>
            <a:off x="1777999" y="2848853"/>
            <a:ext cx="762000" cy="609600"/>
          </a:xfrm>
          <a:custGeom>
            <a:avLst/>
            <a:gdLst/>
            <a:ahLst/>
            <a:cxnLst/>
            <a:rect l="l" t="t" r="r" b="b"/>
            <a:pathLst>
              <a:path w="762000" h="609600">
                <a:moveTo>
                  <a:pt x="76200" y="114300"/>
                </a:moveTo>
                <a:cubicBezTo>
                  <a:pt x="76200" y="72271"/>
                  <a:pt x="110371" y="38100"/>
                  <a:pt x="152400" y="38100"/>
                </a:cubicBezTo>
                <a:lnTo>
                  <a:pt x="609600" y="38100"/>
                </a:lnTo>
                <a:cubicBezTo>
                  <a:pt x="651629" y="38100"/>
                  <a:pt x="685800" y="72271"/>
                  <a:pt x="685800" y="114300"/>
                </a:cubicBezTo>
                <a:lnTo>
                  <a:pt x="685800" y="400050"/>
                </a:lnTo>
                <a:lnTo>
                  <a:pt x="609600" y="400050"/>
                </a:lnTo>
                <a:lnTo>
                  <a:pt x="609600" y="114300"/>
                </a:lnTo>
                <a:lnTo>
                  <a:pt x="152400" y="114300"/>
                </a:lnTo>
                <a:lnTo>
                  <a:pt x="152400" y="400050"/>
                </a:lnTo>
                <a:lnTo>
                  <a:pt x="76200" y="400050"/>
                </a:lnTo>
                <a:lnTo>
                  <a:pt x="76200" y="114300"/>
                </a:lnTo>
                <a:close/>
                <a:moveTo>
                  <a:pt x="0" y="480060"/>
                </a:moveTo>
                <a:cubicBezTo>
                  <a:pt x="0" y="467439"/>
                  <a:pt x="10239" y="457200"/>
                  <a:pt x="22860" y="457200"/>
                </a:cubicBezTo>
                <a:lnTo>
                  <a:pt x="739140" y="457200"/>
                </a:lnTo>
                <a:cubicBezTo>
                  <a:pt x="751761" y="457200"/>
                  <a:pt x="762000" y="467439"/>
                  <a:pt x="762000" y="480060"/>
                </a:cubicBezTo>
                <a:cubicBezTo>
                  <a:pt x="762000" y="530542"/>
                  <a:pt x="721043" y="571500"/>
                  <a:pt x="670560" y="571500"/>
                </a:cubicBezTo>
                <a:lnTo>
                  <a:pt x="91440" y="571500"/>
                </a:lnTo>
                <a:cubicBezTo>
                  <a:pt x="40957" y="571500"/>
                  <a:pt x="0" y="530543"/>
                  <a:pt x="0" y="480060"/>
                </a:cubicBezTo>
                <a:close/>
                <a:moveTo>
                  <a:pt x="334566" y="248841"/>
                </a:moveTo>
                <a:lnTo>
                  <a:pt x="297656" y="285750"/>
                </a:lnTo>
                <a:lnTo>
                  <a:pt x="334566" y="322659"/>
                </a:lnTo>
                <a:cubicBezTo>
                  <a:pt x="345758" y="333851"/>
                  <a:pt x="345758" y="351949"/>
                  <a:pt x="334566" y="363022"/>
                </a:cubicBezTo>
                <a:cubicBezTo>
                  <a:pt x="323374" y="374094"/>
                  <a:pt x="305276" y="374213"/>
                  <a:pt x="294203" y="363022"/>
                </a:cubicBezTo>
                <a:lnTo>
                  <a:pt x="237053" y="305872"/>
                </a:lnTo>
                <a:cubicBezTo>
                  <a:pt x="225862" y="294680"/>
                  <a:pt x="225862" y="276582"/>
                  <a:pt x="237053" y="265509"/>
                </a:cubicBezTo>
                <a:lnTo>
                  <a:pt x="294203" y="208359"/>
                </a:lnTo>
                <a:cubicBezTo>
                  <a:pt x="305395" y="197167"/>
                  <a:pt x="323493" y="197167"/>
                  <a:pt x="334566" y="208359"/>
                </a:cubicBezTo>
                <a:cubicBezTo>
                  <a:pt x="345638" y="219551"/>
                  <a:pt x="345758" y="237649"/>
                  <a:pt x="334566" y="248722"/>
                </a:cubicBezTo>
                <a:close/>
                <a:moveTo>
                  <a:pt x="467916" y="208359"/>
                </a:moveTo>
                <a:lnTo>
                  <a:pt x="525066" y="265509"/>
                </a:lnTo>
                <a:cubicBezTo>
                  <a:pt x="536258" y="276701"/>
                  <a:pt x="536258" y="294799"/>
                  <a:pt x="525066" y="305872"/>
                </a:cubicBezTo>
                <a:lnTo>
                  <a:pt x="467916" y="363022"/>
                </a:lnTo>
                <a:cubicBezTo>
                  <a:pt x="456724" y="374213"/>
                  <a:pt x="438626" y="374213"/>
                  <a:pt x="427553" y="363022"/>
                </a:cubicBezTo>
                <a:cubicBezTo>
                  <a:pt x="416481" y="351830"/>
                  <a:pt x="416362" y="333732"/>
                  <a:pt x="427553" y="322659"/>
                </a:cubicBezTo>
                <a:lnTo>
                  <a:pt x="464463" y="285750"/>
                </a:lnTo>
                <a:lnTo>
                  <a:pt x="427553" y="248841"/>
                </a:lnTo>
                <a:cubicBezTo>
                  <a:pt x="416362" y="237649"/>
                  <a:pt x="416362" y="219551"/>
                  <a:pt x="427553" y="208478"/>
                </a:cubicBezTo>
                <a:cubicBezTo>
                  <a:pt x="438745" y="197406"/>
                  <a:pt x="456843" y="197287"/>
                  <a:pt x="467916" y="208478"/>
                </a:cubicBezTo>
                <a:close/>
              </a:path>
            </a:pathLst>
          </a:custGeom>
          <a:solidFill>
            <a:srgbClr val="F9B79B"/>
          </a:solidFill>
          <a:ln/>
        </p:spPr>
      </p:sp>
      <p:sp>
        <p:nvSpPr>
          <p:cNvPr id="7" name="Text 4"/>
          <p:cNvSpPr/>
          <p:nvPr/>
        </p:nvSpPr>
        <p:spPr>
          <a:xfrm>
            <a:off x="1426169" y="3610853"/>
            <a:ext cx="1968500" cy="355600"/>
          </a:xfrm>
          <a:prstGeom prst="rect">
            <a:avLst/>
          </a:prstGeom>
          <a:noFill/>
          <a:ln/>
        </p:spPr>
        <p:txBody>
          <a:bodyPr wrap="square" lIns="0" tIns="0" rIns="0" bIns="0" rtlCol="0" anchor="ctr"/>
          <a:lstStyle/>
          <a:p>
            <a:pPr indent="0" marL="0">
              <a:lnSpc>
                <a:spcPct val="130000"/>
              </a:lnSpc>
              <a:buNone/>
            </a:pPr>
            <a:r>
              <a:rPr lang="en-US" sz="1800" dirty="0">
                <a:solidFill>
                  <a:srgbClr val="333333"/>
                </a:solidFill>
                <a:latin typeface="Noto Sans SC" pitchFamily="34" charset="0"/>
                <a:ea typeface="Noto Sans SC" pitchFamily="34" charset="-122"/>
                <a:cs typeface="Noto Sans SC" pitchFamily="34" charset="-120"/>
              </a:rPr>
              <a:t>IDE Tích Hợp</a:t>
            </a:r>
            <a:endParaRPr lang="en-US" sz="1600" dirty="0"/>
          </a:p>
        </p:txBody>
      </p:sp>
      <p:sp>
        <p:nvSpPr>
          <p:cNvPr id="8" name="Text 5"/>
          <p:cNvSpPr/>
          <p:nvPr/>
        </p:nvSpPr>
        <p:spPr>
          <a:xfrm>
            <a:off x="482599" y="3966453"/>
            <a:ext cx="3352800" cy="508000"/>
          </a:xfrm>
          <a:prstGeom prst="rect">
            <a:avLst/>
          </a:prstGeom>
          <a:noFill/>
          <a:ln/>
        </p:spPr>
        <p:txBody>
          <a:bodyPr wrap="square" lIns="0" tIns="0" rIns="0" bIns="0" rtlCol="0" anchor="ctr"/>
          <a:lstStyle/>
          <a:p>
            <a:pPr algn="ctr"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Môi trường phát triển thống nhất với mọi thứ bạn cần.</a:t>
            </a:r>
            <a:endParaRPr lang="en-US" sz="1600" dirty="0"/>
          </a:p>
        </p:txBody>
      </p:sp>
      <p:sp>
        <p:nvSpPr>
          <p:cNvPr id="9" name="Shape 6"/>
          <p:cNvSpPr/>
          <p:nvPr/>
        </p:nvSpPr>
        <p:spPr>
          <a:xfrm>
            <a:off x="4241799" y="2544053"/>
            <a:ext cx="3759200" cy="1016000"/>
          </a:xfrm>
          <a:custGeom>
            <a:avLst/>
            <a:gdLst/>
            <a:ahLst/>
            <a:cxnLst/>
            <a:rect l="l" t="t" r="r" b="b"/>
            <a:pathLst>
              <a:path w="3759200" h="1016000">
                <a:moveTo>
                  <a:pt x="101600" y="0"/>
                </a:moveTo>
                <a:lnTo>
                  <a:pt x="3657600" y="0"/>
                </a:lnTo>
                <a:cubicBezTo>
                  <a:pt x="3713675" y="0"/>
                  <a:pt x="3759200" y="45525"/>
                  <a:pt x="3759200" y="101600"/>
                </a:cubicBezTo>
                <a:lnTo>
                  <a:pt x="3759200" y="914400"/>
                </a:lnTo>
                <a:cubicBezTo>
                  <a:pt x="3759200" y="970475"/>
                  <a:pt x="3713675" y="1016000"/>
                  <a:pt x="36576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BACBD3"/>
          </a:solidFill>
          <a:ln/>
        </p:spPr>
      </p:sp>
      <p:sp>
        <p:nvSpPr>
          <p:cNvPr id="10" name="Shape 7"/>
          <p:cNvSpPr/>
          <p:nvPr/>
        </p:nvSpPr>
        <p:spPr>
          <a:xfrm>
            <a:off x="4473574" y="2861553"/>
            <a:ext cx="285750" cy="381000"/>
          </a:xfrm>
          <a:custGeom>
            <a:avLst/>
            <a:gdLst/>
            <a:ahLst/>
            <a:cxnLst/>
            <a:rect l="l" t="t" r="r" b="b"/>
            <a:pathLst>
              <a:path w="285750" h="381000">
                <a:moveTo>
                  <a:pt x="0" y="47625"/>
                </a:moveTo>
                <a:cubicBezTo>
                  <a:pt x="0" y="21357"/>
                  <a:pt x="21357" y="0"/>
                  <a:pt x="47625" y="0"/>
                </a:cubicBezTo>
                <a:lnTo>
                  <a:pt x="158874" y="0"/>
                </a:lnTo>
                <a:cubicBezTo>
                  <a:pt x="171524" y="0"/>
                  <a:pt x="183654" y="4986"/>
                  <a:pt x="192584" y="13915"/>
                </a:cubicBezTo>
                <a:lnTo>
                  <a:pt x="271835" y="93241"/>
                </a:lnTo>
                <a:cubicBezTo>
                  <a:pt x="280764" y="102171"/>
                  <a:pt x="285750" y="114300"/>
                  <a:pt x="285750" y="126950"/>
                </a:cubicBezTo>
                <a:lnTo>
                  <a:pt x="285750" y="333375"/>
                </a:lnTo>
                <a:cubicBezTo>
                  <a:pt x="285750" y="359643"/>
                  <a:pt x="264393" y="381000"/>
                  <a:pt x="238125" y="381000"/>
                </a:cubicBezTo>
                <a:lnTo>
                  <a:pt x="47625" y="381000"/>
                </a:lnTo>
                <a:cubicBezTo>
                  <a:pt x="21357" y="381000"/>
                  <a:pt x="0" y="359643"/>
                  <a:pt x="0" y="333375"/>
                </a:cubicBezTo>
                <a:lnTo>
                  <a:pt x="0" y="47625"/>
                </a:lnTo>
                <a:close/>
                <a:moveTo>
                  <a:pt x="154781" y="43532"/>
                </a:moveTo>
                <a:lnTo>
                  <a:pt x="154781" y="113109"/>
                </a:lnTo>
                <a:cubicBezTo>
                  <a:pt x="154781" y="123006"/>
                  <a:pt x="162744" y="130969"/>
                  <a:pt x="172641" y="130969"/>
                </a:cubicBezTo>
                <a:lnTo>
                  <a:pt x="242218" y="130969"/>
                </a:lnTo>
                <a:lnTo>
                  <a:pt x="154781" y="43532"/>
                </a:lnTo>
                <a:close/>
                <a:moveTo>
                  <a:pt x="114746" y="219968"/>
                </a:moveTo>
                <a:cubicBezTo>
                  <a:pt x="121146" y="212452"/>
                  <a:pt x="120328" y="201216"/>
                  <a:pt x="112812" y="194816"/>
                </a:cubicBezTo>
                <a:cubicBezTo>
                  <a:pt x="105296" y="188416"/>
                  <a:pt x="94059" y="189235"/>
                  <a:pt x="87660" y="196751"/>
                </a:cubicBezTo>
                <a:lnTo>
                  <a:pt x="51941" y="238423"/>
                </a:lnTo>
                <a:cubicBezTo>
                  <a:pt x="46211" y="245120"/>
                  <a:pt x="46211" y="254943"/>
                  <a:pt x="51941" y="261640"/>
                </a:cubicBezTo>
                <a:lnTo>
                  <a:pt x="87660" y="303312"/>
                </a:lnTo>
                <a:cubicBezTo>
                  <a:pt x="94059" y="310828"/>
                  <a:pt x="105370" y="311646"/>
                  <a:pt x="112812" y="305246"/>
                </a:cubicBezTo>
                <a:cubicBezTo>
                  <a:pt x="120253" y="298847"/>
                  <a:pt x="121146" y="287536"/>
                  <a:pt x="114746" y="280095"/>
                </a:cubicBezTo>
                <a:lnTo>
                  <a:pt x="88999" y="250031"/>
                </a:lnTo>
                <a:lnTo>
                  <a:pt x="114746" y="219968"/>
                </a:lnTo>
                <a:close/>
                <a:moveTo>
                  <a:pt x="198090" y="196751"/>
                </a:moveTo>
                <a:cubicBezTo>
                  <a:pt x="191691" y="189235"/>
                  <a:pt x="180380" y="188416"/>
                  <a:pt x="172938" y="194816"/>
                </a:cubicBezTo>
                <a:cubicBezTo>
                  <a:pt x="165497" y="201216"/>
                  <a:pt x="164604" y="212527"/>
                  <a:pt x="171004" y="219968"/>
                </a:cubicBezTo>
                <a:lnTo>
                  <a:pt x="196751" y="250031"/>
                </a:lnTo>
                <a:lnTo>
                  <a:pt x="171004" y="280095"/>
                </a:lnTo>
                <a:cubicBezTo>
                  <a:pt x="164604" y="287610"/>
                  <a:pt x="165422" y="298847"/>
                  <a:pt x="172938" y="305246"/>
                </a:cubicBezTo>
                <a:cubicBezTo>
                  <a:pt x="180454" y="311646"/>
                  <a:pt x="191691" y="310828"/>
                  <a:pt x="198090" y="303312"/>
                </a:cubicBezTo>
                <a:lnTo>
                  <a:pt x="233809" y="261640"/>
                </a:lnTo>
                <a:cubicBezTo>
                  <a:pt x="239539" y="254943"/>
                  <a:pt x="239539" y="245120"/>
                  <a:pt x="233809" y="238423"/>
                </a:cubicBezTo>
                <a:lnTo>
                  <a:pt x="198090" y="196751"/>
                </a:lnTo>
                <a:close/>
              </a:path>
            </a:pathLst>
          </a:custGeom>
          <a:solidFill>
            <a:srgbClr val="F9B79B"/>
          </a:solidFill>
          <a:ln/>
        </p:spPr>
      </p:sp>
      <p:sp>
        <p:nvSpPr>
          <p:cNvPr id="11" name="Text 8"/>
          <p:cNvSpPr/>
          <p:nvPr/>
        </p:nvSpPr>
        <p:spPr>
          <a:xfrm>
            <a:off x="4994472" y="2696453"/>
            <a:ext cx="3365500" cy="304800"/>
          </a:xfrm>
          <a:prstGeom prst="rect">
            <a:avLst/>
          </a:prstGeom>
          <a:noFill/>
          <a:ln/>
        </p:spPr>
        <p:txBody>
          <a:bodyPr wrap="square" lIns="0" tIns="0" rIns="0" bIns="0" rtlCol="0" anchor="ctr"/>
          <a:lstStyle/>
          <a:p>
            <a:pPr indent="0" marL="0">
              <a:lnSpc>
                <a:spcPct val="130000"/>
              </a:lnSpc>
              <a:buNone/>
            </a:pPr>
            <a:r>
              <a:rPr lang="en-US" sz="1600" b="1" dirty="0">
                <a:solidFill>
                  <a:srgbClr val="333333"/>
                </a:solidFill>
                <a:latin typeface="Noto Sans SC" pitchFamily="34" charset="0"/>
                <a:ea typeface="Noto Sans SC" pitchFamily="34" charset="-122"/>
                <a:cs typeface="Noto Sans SC" pitchFamily="34" charset="-120"/>
              </a:rPr>
              <a:t>Mẫu Project &amp; Activity</a:t>
            </a:r>
            <a:endParaRPr lang="en-US" sz="1600" dirty="0"/>
          </a:p>
        </p:txBody>
      </p:sp>
      <p:sp>
        <p:nvSpPr>
          <p:cNvPr id="12" name="Text 9"/>
          <p:cNvSpPr/>
          <p:nvPr/>
        </p:nvSpPr>
        <p:spPr>
          <a:xfrm>
            <a:off x="4994472" y="3001253"/>
            <a:ext cx="2857500" cy="406400"/>
          </a:xfrm>
          <a:prstGeom prst="rect">
            <a:avLst/>
          </a:prstGeom>
          <a:noFill/>
          <a:ln/>
        </p:spPr>
        <p:txBody>
          <a:bodyPr wrap="square" lIns="0" tIns="0" rIns="0" bIns="0" rtlCol="0" anchor="ctr"/>
          <a:lstStyle/>
          <a:p>
            <a:pPr indent="0" marL="0">
              <a:lnSpc>
                <a:spcPct val="110000"/>
              </a:lnSpc>
              <a:buNone/>
            </a:pPr>
            <a:r>
              <a:rPr lang="en-US" sz="1200" dirty="0">
                <a:solidFill>
                  <a:srgbClr val="333333"/>
                </a:solidFill>
                <a:latin typeface="Noto Sans SC" pitchFamily="34" charset="0"/>
                <a:ea typeface="Noto Sans SC" pitchFamily="34" charset="-122"/>
                <a:cs typeface="Noto Sans SC" pitchFamily="34" charset="-120"/>
              </a:rPr>
              <a:t>Khởi đầu nhanh chóng với các mẫu có sẵn.</a:t>
            </a:r>
            <a:endParaRPr lang="en-US" sz="1600" dirty="0"/>
          </a:p>
        </p:txBody>
      </p:sp>
      <p:sp>
        <p:nvSpPr>
          <p:cNvPr id="13" name="Shape 10"/>
          <p:cNvSpPr/>
          <p:nvPr/>
        </p:nvSpPr>
        <p:spPr>
          <a:xfrm>
            <a:off x="8204199" y="2544053"/>
            <a:ext cx="3759200" cy="1016000"/>
          </a:xfrm>
          <a:custGeom>
            <a:avLst/>
            <a:gdLst/>
            <a:ahLst/>
            <a:cxnLst/>
            <a:rect l="l" t="t" r="r" b="b"/>
            <a:pathLst>
              <a:path w="3759200" h="1016000">
                <a:moveTo>
                  <a:pt x="101600" y="0"/>
                </a:moveTo>
                <a:lnTo>
                  <a:pt x="3657600" y="0"/>
                </a:lnTo>
                <a:cubicBezTo>
                  <a:pt x="3713675" y="0"/>
                  <a:pt x="3759200" y="45525"/>
                  <a:pt x="3759200" y="101600"/>
                </a:cubicBezTo>
                <a:lnTo>
                  <a:pt x="3759200" y="914400"/>
                </a:lnTo>
                <a:cubicBezTo>
                  <a:pt x="3759200" y="970475"/>
                  <a:pt x="3713675" y="1016000"/>
                  <a:pt x="36576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BACBD3"/>
          </a:solidFill>
          <a:ln/>
        </p:spPr>
      </p:sp>
      <p:sp>
        <p:nvSpPr>
          <p:cNvPr id="14" name="Shape 11"/>
          <p:cNvSpPr/>
          <p:nvPr/>
        </p:nvSpPr>
        <p:spPr>
          <a:xfrm>
            <a:off x="8345486" y="2861553"/>
            <a:ext cx="428625" cy="381000"/>
          </a:xfrm>
          <a:custGeom>
            <a:avLst/>
            <a:gdLst/>
            <a:ahLst/>
            <a:cxnLst/>
            <a:rect l="l" t="t" r="r" b="b"/>
            <a:pathLst>
              <a:path w="428625" h="381000">
                <a:moveTo>
                  <a:pt x="357560" y="7665"/>
                </a:moveTo>
                <a:lnTo>
                  <a:pt x="192807" y="117574"/>
                </a:lnTo>
                <a:cubicBezTo>
                  <a:pt x="171152" y="132011"/>
                  <a:pt x="157386" y="155451"/>
                  <a:pt x="155153" y="181049"/>
                </a:cubicBezTo>
                <a:cubicBezTo>
                  <a:pt x="201513" y="190574"/>
                  <a:pt x="238051" y="227112"/>
                  <a:pt x="247650" y="273546"/>
                </a:cubicBezTo>
                <a:cubicBezTo>
                  <a:pt x="273323" y="271314"/>
                  <a:pt x="296689" y="257547"/>
                  <a:pt x="311125" y="235893"/>
                </a:cubicBezTo>
                <a:lnTo>
                  <a:pt x="420960" y="71065"/>
                </a:lnTo>
                <a:cubicBezTo>
                  <a:pt x="425946" y="63550"/>
                  <a:pt x="428625" y="54769"/>
                  <a:pt x="428625" y="45690"/>
                </a:cubicBezTo>
                <a:cubicBezTo>
                  <a:pt x="428625" y="20464"/>
                  <a:pt x="408161" y="0"/>
                  <a:pt x="382935" y="0"/>
                </a:cubicBezTo>
                <a:cubicBezTo>
                  <a:pt x="373931" y="0"/>
                  <a:pt x="365075" y="2679"/>
                  <a:pt x="357560" y="7665"/>
                </a:cubicBezTo>
                <a:close/>
                <a:moveTo>
                  <a:pt x="214313" y="297656"/>
                </a:moveTo>
                <a:cubicBezTo>
                  <a:pt x="214313" y="251594"/>
                  <a:pt x="177031" y="214313"/>
                  <a:pt x="130969" y="214313"/>
                </a:cubicBezTo>
                <a:cubicBezTo>
                  <a:pt x="84906" y="214313"/>
                  <a:pt x="47625" y="251594"/>
                  <a:pt x="47625" y="297656"/>
                </a:cubicBezTo>
                <a:cubicBezTo>
                  <a:pt x="47625" y="300558"/>
                  <a:pt x="47774" y="303461"/>
                  <a:pt x="48071" y="306288"/>
                </a:cubicBezTo>
                <a:cubicBezTo>
                  <a:pt x="49411" y="319311"/>
                  <a:pt x="40481" y="333375"/>
                  <a:pt x="27384" y="333375"/>
                </a:cubicBezTo>
                <a:lnTo>
                  <a:pt x="23812" y="333375"/>
                </a:lnTo>
                <a:cubicBezTo>
                  <a:pt x="10641" y="333375"/>
                  <a:pt x="0" y="344016"/>
                  <a:pt x="0" y="357188"/>
                </a:cubicBezTo>
                <a:cubicBezTo>
                  <a:pt x="0" y="370359"/>
                  <a:pt x="10641" y="381000"/>
                  <a:pt x="23812" y="381000"/>
                </a:cubicBezTo>
                <a:lnTo>
                  <a:pt x="130969" y="381000"/>
                </a:lnTo>
                <a:cubicBezTo>
                  <a:pt x="177031" y="381000"/>
                  <a:pt x="214313" y="343719"/>
                  <a:pt x="214313" y="297656"/>
                </a:cubicBezTo>
                <a:close/>
              </a:path>
            </a:pathLst>
          </a:custGeom>
          <a:solidFill>
            <a:srgbClr val="F9B79B"/>
          </a:solidFill>
          <a:ln/>
        </p:spPr>
      </p:sp>
      <p:sp>
        <p:nvSpPr>
          <p:cNvPr id="15" name="Text 12"/>
          <p:cNvSpPr/>
          <p:nvPr/>
        </p:nvSpPr>
        <p:spPr>
          <a:xfrm>
            <a:off x="8920955" y="2696453"/>
            <a:ext cx="3403600" cy="304800"/>
          </a:xfrm>
          <a:prstGeom prst="rect">
            <a:avLst/>
          </a:prstGeom>
          <a:noFill/>
          <a:ln/>
        </p:spPr>
        <p:txBody>
          <a:bodyPr wrap="square" lIns="0" tIns="0" rIns="0" bIns="0" rtlCol="0" anchor="ctr"/>
          <a:lstStyle/>
          <a:p>
            <a:pPr indent="0" marL="0">
              <a:lnSpc>
                <a:spcPct val="130000"/>
              </a:lnSpc>
              <a:buNone/>
            </a:pPr>
            <a:r>
              <a:rPr lang="en-US" sz="1600" b="1" dirty="0">
                <a:solidFill>
                  <a:srgbClr val="333333"/>
                </a:solidFill>
                <a:latin typeface="Noto Sans SC" pitchFamily="34" charset="0"/>
                <a:ea typeface="Noto Sans SC" pitchFamily="34" charset="-122"/>
                <a:cs typeface="Noto Sans SC" pitchFamily="34" charset="-120"/>
              </a:rPr>
              <a:t>Trình Chỉnh Sửa Giao Diện</a:t>
            </a:r>
            <a:endParaRPr lang="en-US" sz="1600" dirty="0"/>
          </a:p>
        </p:txBody>
      </p:sp>
      <p:sp>
        <p:nvSpPr>
          <p:cNvPr id="16" name="Text 13"/>
          <p:cNvSpPr/>
          <p:nvPr/>
        </p:nvSpPr>
        <p:spPr>
          <a:xfrm>
            <a:off x="8920955" y="3001253"/>
            <a:ext cx="2895600" cy="406400"/>
          </a:xfrm>
          <a:prstGeom prst="rect">
            <a:avLst/>
          </a:prstGeom>
          <a:noFill/>
          <a:ln/>
        </p:spPr>
        <p:txBody>
          <a:bodyPr wrap="square" lIns="0" tIns="0" rIns="0" bIns="0" rtlCol="0" anchor="ctr"/>
          <a:lstStyle/>
          <a:p>
            <a:pPr indent="0" marL="0">
              <a:lnSpc>
                <a:spcPct val="110000"/>
              </a:lnSpc>
              <a:buNone/>
            </a:pPr>
            <a:r>
              <a:rPr lang="en-US" sz="1200" dirty="0">
                <a:solidFill>
                  <a:srgbClr val="333333"/>
                </a:solidFill>
                <a:latin typeface="Noto Sans SC" pitchFamily="34" charset="0"/>
                <a:ea typeface="Noto Sans SC" pitchFamily="34" charset="-122"/>
                <a:cs typeface="Noto Sans SC" pitchFamily="34" charset="-120"/>
              </a:rPr>
              <a:t>Thiết kế UI/UX trực quan với giao diện kéo-thả.</a:t>
            </a:r>
            <a:endParaRPr lang="en-US" sz="1600" dirty="0"/>
          </a:p>
        </p:txBody>
      </p:sp>
      <p:sp>
        <p:nvSpPr>
          <p:cNvPr id="17" name="Shape 14"/>
          <p:cNvSpPr/>
          <p:nvPr/>
        </p:nvSpPr>
        <p:spPr>
          <a:xfrm>
            <a:off x="4241799" y="3763253"/>
            <a:ext cx="3759200" cy="1016000"/>
          </a:xfrm>
          <a:custGeom>
            <a:avLst/>
            <a:gdLst/>
            <a:ahLst/>
            <a:cxnLst/>
            <a:rect l="l" t="t" r="r" b="b"/>
            <a:pathLst>
              <a:path w="3759200" h="1016000">
                <a:moveTo>
                  <a:pt x="101600" y="0"/>
                </a:moveTo>
                <a:lnTo>
                  <a:pt x="3657600" y="0"/>
                </a:lnTo>
                <a:cubicBezTo>
                  <a:pt x="3713675" y="0"/>
                  <a:pt x="3759200" y="45525"/>
                  <a:pt x="3759200" y="101600"/>
                </a:cubicBezTo>
                <a:lnTo>
                  <a:pt x="3759200" y="914400"/>
                </a:lnTo>
                <a:cubicBezTo>
                  <a:pt x="3759200" y="970475"/>
                  <a:pt x="3713675" y="1016000"/>
                  <a:pt x="36576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BACBD3"/>
          </a:solidFill>
          <a:ln/>
        </p:spPr>
      </p:sp>
      <p:sp>
        <p:nvSpPr>
          <p:cNvPr id="18" name="Shape 15"/>
          <p:cNvSpPr/>
          <p:nvPr/>
        </p:nvSpPr>
        <p:spPr>
          <a:xfrm>
            <a:off x="4394199" y="4080753"/>
            <a:ext cx="381000" cy="381000"/>
          </a:xfrm>
          <a:custGeom>
            <a:avLst/>
            <a:gdLst/>
            <a:ahLst/>
            <a:cxnLst/>
            <a:rect l="l" t="t" r="r" b="b"/>
            <a:pathLst>
              <a:path w="381000" h="381000">
                <a:moveTo>
                  <a:pt x="23812" y="0"/>
                </a:moveTo>
                <a:cubicBezTo>
                  <a:pt x="10641" y="0"/>
                  <a:pt x="0" y="10641"/>
                  <a:pt x="0" y="23812"/>
                </a:cubicBezTo>
                <a:cubicBezTo>
                  <a:pt x="0" y="36984"/>
                  <a:pt x="10641" y="47625"/>
                  <a:pt x="23812" y="47625"/>
                </a:cubicBezTo>
                <a:lnTo>
                  <a:pt x="23812" y="309563"/>
                </a:lnTo>
                <a:cubicBezTo>
                  <a:pt x="23812" y="349002"/>
                  <a:pt x="55811" y="381000"/>
                  <a:pt x="95250" y="381000"/>
                </a:cubicBezTo>
                <a:cubicBezTo>
                  <a:pt x="134689" y="381000"/>
                  <a:pt x="166688" y="349002"/>
                  <a:pt x="166688" y="309563"/>
                </a:cubicBezTo>
                <a:lnTo>
                  <a:pt x="166688" y="47625"/>
                </a:lnTo>
                <a:lnTo>
                  <a:pt x="214313" y="47625"/>
                </a:lnTo>
                <a:lnTo>
                  <a:pt x="214313" y="309563"/>
                </a:lnTo>
                <a:cubicBezTo>
                  <a:pt x="214313" y="349002"/>
                  <a:pt x="246311" y="381000"/>
                  <a:pt x="285750" y="381000"/>
                </a:cubicBezTo>
                <a:cubicBezTo>
                  <a:pt x="325189" y="381000"/>
                  <a:pt x="357188" y="349002"/>
                  <a:pt x="357188" y="309563"/>
                </a:cubicBezTo>
                <a:lnTo>
                  <a:pt x="357188" y="47625"/>
                </a:lnTo>
                <a:cubicBezTo>
                  <a:pt x="370359" y="47625"/>
                  <a:pt x="381000" y="36984"/>
                  <a:pt x="381000" y="23812"/>
                </a:cubicBezTo>
                <a:cubicBezTo>
                  <a:pt x="381000" y="10641"/>
                  <a:pt x="370359" y="0"/>
                  <a:pt x="357188" y="0"/>
                </a:cubicBezTo>
                <a:lnTo>
                  <a:pt x="23812" y="0"/>
                </a:lnTo>
                <a:close/>
                <a:moveTo>
                  <a:pt x="119063" y="47625"/>
                </a:moveTo>
                <a:lnTo>
                  <a:pt x="119063" y="142875"/>
                </a:lnTo>
                <a:lnTo>
                  <a:pt x="71438" y="142875"/>
                </a:lnTo>
                <a:lnTo>
                  <a:pt x="71438" y="47625"/>
                </a:lnTo>
                <a:lnTo>
                  <a:pt x="119063" y="47625"/>
                </a:lnTo>
                <a:close/>
                <a:moveTo>
                  <a:pt x="309563" y="47625"/>
                </a:moveTo>
                <a:lnTo>
                  <a:pt x="309563" y="142875"/>
                </a:lnTo>
                <a:lnTo>
                  <a:pt x="261938" y="142875"/>
                </a:lnTo>
                <a:lnTo>
                  <a:pt x="261938" y="47625"/>
                </a:lnTo>
                <a:lnTo>
                  <a:pt x="309563" y="47625"/>
                </a:lnTo>
                <a:close/>
              </a:path>
            </a:pathLst>
          </a:custGeom>
          <a:solidFill>
            <a:srgbClr val="F9B79B"/>
          </a:solidFill>
          <a:ln/>
        </p:spPr>
      </p:sp>
      <p:sp>
        <p:nvSpPr>
          <p:cNvPr id="19" name="Text 16"/>
          <p:cNvSpPr/>
          <p:nvPr/>
        </p:nvSpPr>
        <p:spPr>
          <a:xfrm>
            <a:off x="4930774" y="3915653"/>
            <a:ext cx="3429000" cy="304800"/>
          </a:xfrm>
          <a:prstGeom prst="rect">
            <a:avLst/>
          </a:prstGeom>
          <a:noFill/>
          <a:ln/>
        </p:spPr>
        <p:txBody>
          <a:bodyPr wrap="square" lIns="0" tIns="0" rIns="0" bIns="0" rtlCol="0" anchor="ctr"/>
          <a:lstStyle/>
          <a:p>
            <a:pPr indent="0" marL="0">
              <a:lnSpc>
                <a:spcPct val="130000"/>
              </a:lnSpc>
              <a:buNone/>
            </a:pPr>
            <a:r>
              <a:rPr lang="en-US" sz="1600" b="1" dirty="0">
                <a:solidFill>
                  <a:srgbClr val="333333"/>
                </a:solidFill>
                <a:latin typeface="Noto Sans SC" pitchFamily="34" charset="0"/>
                <a:ea typeface="Noto Sans SC" pitchFamily="34" charset="-122"/>
                <a:cs typeface="Noto Sans SC" pitchFamily="34" charset="-120"/>
              </a:rPr>
              <a:t>Công Cụ Kiểm Thử</a:t>
            </a:r>
            <a:endParaRPr lang="en-US" sz="1600" dirty="0"/>
          </a:p>
        </p:txBody>
      </p:sp>
      <p:sp>
        <p:nvSpPr>
          <p:cNvPr id="20" name="Text 17"/>
          <p:cNvSpPr/>
          <p:nvPr/>
        </p:nvSpPr>
        <p:spPr>
          <a:xfrm>
            <a:off x="4930774" y="4220453"/>
            <a:ext cx="2921000" cy="406400"/>
          </a:xfrm>
          <a:prstGeom prst="rect">
            <a:avLst/>
          </a:prstGeom>
          <a:noFill/>
          <a:ln/>
        </p:spPr>
        <p:txBody>
          <a:bodyPr wrap="square" lIns="0" tIns="0" rIns="0" bIns="0" rtlCol="0" anchor="ctr"/>
          <a:lstStyle/>
          <a:p>
            <a:pPr indent="0" marL="0">
              <a:lnSpc>
                <a:spcPct val="110000"/>
              </a:lnSpc>
              <a:buNone/>
            </a:pPr>
            <a:r>
              <a:rPr lang="en-US" sz="1200" dirty="0">
                <a:solidFill>
                  <a:srgbClr val="333333"/>
                </a:solidFill>
                <a:latin typeface="Noto Sans SC" pitchFamily="34" charset="0"/>
                <a:ea typeface="Noto Sans SC" pitchFamily="34" charset="-122"/>
                <a:cs typeface="Noto Sans SC" pitchFamily="34" charset="-120"/>
              </a:rPr>
              <a:t>Đảm bảo chất lượng code với các công cụ tích hợp.</a:t>
            </a:r>
            <a:endParaRPr lang="en-US" sz="1600" dirty="0"/>
          </a:p>
        </p:txBody>
      </p:sp>
      <p:sp>
        <p:nvSpPr>
          <p:cNvPr id="21" name="Shape 18"/>
          <p:cNvSpPr/>
          <p:nvPr/>
        </p:nvSpPr>
        <p:spPr>
          <a:xfrm>
            <a:off x="8204199" y="3763253"/>
            <a:ext cx="3759200" cy="1016000"/>
          </a:xfrm>
          <a:custGeom>
            <a:avLst/>
            <a:gdLst/>
            <a:ahLst/>
            <a:cxnLst/>
            <a:rect l="l" t="t" r="r" b="b"/>
            <a:pathLst>
              <a:path w="3759200" h="1016000">
                <a:moveTo>
                  <a:pt x="101600" y="0"/>
                </a:moveTo>
                <a:lnTo>
                  <a:pt x="3657600" y="0"/>
                </a:lnTo>
                <a:cubicBezTo>
                  <a:pt x="3713675" y="0"/>
                  <a:pt x="3759200" y="45525"/>
                  <a:pt x="3759200" y="101600"/>
                </a:cubicBezTo>
                <a:lnTo>
                  <a:pt x="3759200" y="914400"/>
                </a:lnTo>
                <a:cubicBezTo>
                  <a:pt x="3759200" y="970475"/>
                  <a:pt x="3713675" y="1016000"/>
                  <a:pt x="36576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BACBD3"/>
          </a:solidFill>
          <a:ln/>
        </p:spPr>
      </p:sp>
      <p:sp>
        <p:nvSpPr>
          <p:cNvPr id="22" name="Shape 19"/>
          <p:cNvSpPr/>
          <p:nvPr/>
        </p:nvSpPr>
        <p:spPr>
          <a:xfrm>
            <a:off x="8337549" y="4080753"/>
            <a:ext cx="381000" cy="381000"/>
          </a:xfrm>
          <a:custGeom>
            <a:avLst/>
            <a:gdLst/>
            <a:ahLst/>
            <a:cxnLst/>
            <a:rect l="l" t="t" r="r" b="b"/>
            <a:pathLst>
              <a:path w="381000" h="381000">
                <a:moveTo>
                  <a:pt x="211336" y="-967"/>
                </a:moveTo>
                <a:cubicBezTo>
                  <a:pt x="198462" y="-8409"/>
                  <a:pt x="182538" y="-8409"/>
                  <a:pt x="169664" y="-967"/>
                </a:cubicBezTo>
                <a:lnTo>
                  <a:pt x="107007" y="35198"/>
                </a:lnTo>
                <a:cubicBezTo>
                  <a:pt x="94134" y="42639"/>
                  <a:pt x="86171" y="56406"/>
                  <a:pt x="86171" y="71289"/>
                </a:cubicBezTo>
                <a:lnTo>
                  <a:pt x="86171" y="147117"/>
                </a:lnTo>
                <a:lnTo>
                  <a:pt x="20464" y="185068"/>
                </a:lnTo>
                <a:cubicBezTo>
                  <a:pt x="7590" y="192509"/>
                  <a:pt x="-372" y="206276"/>
                  <a:pt x="-372" y="221159"/>
                </a:cubicBezTo>
                <a:lnTo>
                  <a:pt x="-372" y="293563"/>
                </a:lnTo>
                <a:cubicBezTo>
                  <a:pt x="-372" y="308446"/>
                  <a:pt x="7590" y="322213"/>
                  <a:pt x="20464" y="329654"/>
                </a:cubicBezTo>
                <a:lnTo>
                  <a:pt x="83195" y="365820"/>
                </a:lnTo>
                <a:cubicBezTo>
                  <a:pt x="96069" y="373261"/>
                  <a:pt x="111993" y="373261"/>
                  <a:pt x="124867" y="365820"/>
                </a:cubicBezTo>
                <a:lnTo>
                  <a:pt x="190574" y="327868"/>
                </a:lnTo>
                <a:lnTo>
                  <a:pt x="256282" y="365820"/>
                </a:lnTo>
                <a:cubicBezTo>
                  <a:pt x="269156" y="373261"/>
                  <a:pt x="285080" y="373261"/>
                  <a:pt x="297954" y="365820"/>
                </a:cubicBezTo>
                <a:lnTo>
                  <a:pt x="360536" y="329654"/>
                </a:lnTo>
                <a:cubicBezTo>
                  <a:pt x="373410" y="322213"/>
                  <a:pt x="381372" y="308446"/>
                  <a:pt x="381372" y="293563"/>
                </a:cubicBezTo>
                <a:lnTo>
                  <a:pt x="381372" y="221159"/>
                </a:lnTo>
                <a:cubicBezTo>
                  <a:pt x="381372" y="206276"/>
                  <a:pt x="373410" y="192509"/>
                  <a:pt x="360536" y="185068"/>
                </a:cubicBezTo>
                <a:lnTo>
                  <a:pt x="294829" y="147117"/>
                </a:lnTo>
                <a:lnTo>
                  <a:pt x="294829" y="71289"/>
                </a:lnTo>
                <a:cubicBezTo>
                  <a:pt x="294829" y="56406"/>
                  <a:pt x="286866" y="42639"/>
                  <a:pt x="273993" y="35198"/>
                </a:cubicBezTo>
                <a:lnTo>
                  <a:pt x="211336" y="-967"/>
                </a:lnTo>
                <a:close/>
                <a:moveTo>
                  <a:pt x="172641" y="217736"/>
                </a:moveTo>
                <a:lnTo>
                  <a:pt x="172641" y="296987"/>
                </a:lnTo>
                <a:lnTo>
                  <a:pt x="106933" y="334938"/>
                </a:lnTo>
                <a:cubicBezTo>
                  <a:pt x="106040" y="335459"/>
                  <a:pt x="104998" y="335756"/>
                  <a:pt x="103956" y="335756"/>
                </a:cubicBezTo>
                <a:lnTo>
                  <a:pt x="103956" y="257398"/>
                </a:lnTo>
                <a:lnTo>
                  <a:pt x="172641" y="217736"/>
                </a:lnTo>
                <a:close/>
                <a:moveTo>
                  <a:pt x="344835" y="218182"/>
                </a:moveTo>
                <a:cubicBezTo>
                  <a:pt x="345356" y="219075"/>
                  <a:pt x="345653" y="220117"/>
                  <a:pt x="345653" y="221159"/>
                </a:cubicBezTo>
                <a:lnTo>
                  <a:pt x="345653" y="293563"/>
                </a:lnTo>
                <a:cubicBezTo>
                  <a:pt x="345653" y="295721"/>
                  <a:pt x="344537" y="297656"/>
                  <a:pt x="342677" y="298698"/>
                </a:cubicBezTo>
                <a:lnTo>
                  <a:pt x="279946" y="334863"/>
                </a:lnTo>
                <a:cubicBezTo>
                  <a:pt x="279053" y="335384"/>
                  <a:pt x="278011" y="335682"/>
                  <a:pt x="276969" y="335682"/>
                </a:cubicBezTo>
                <a:lnTo>
                  <a:pt x="276969" y="257324"/>
                </a:lnTo>
                <a:lnTo>
                  <a:pt x="344835" y="218182"/>
                </a:lnTo>
                <a:close/>
                <a:moveTo>
                  <a:pt x="259184" y="71289"/>
                </a:moveTo>
                <a:lnTo>
                  <a:pt x="259184" y="147117"/>
                </a:lnTo>
                <a:lnTo>
                  <a:pt x="190500" y="186779"/>
                </a:lnTo>
                <a:lnTo>
                  <a:pt x="190500" y="107528"/>
                </a:lnTo>
                <a:lnTo>
                  <a:pt x="258366" y="68387"/>
                </a:lnTo>
                <a:cubicBezTo>
                  <a:pt x="258887" y="69279"/>
                  <a:pt x="259184" y="70321"/>
                  <a:pt x="259184" y="71363"/>
                </a:cubicBezTo>
                <a:close/>
              </a:path>
            </a:pathLst>
          </a:custGeom>
          <a:solidFill>
            <a:srgbClr val="F9B79B"/>
          </a:solidFill>
          <a:ln/>
        </p:spPr>
      </p:sp>
      <p:sp>
        <p:nvSpPr>
          <p:cNvPr id="23" name="Text 20"/>
          <p:cNvSpPr/>
          <p:nvPr/>
        </p:nvSpPr>
        <p:spPr>
          <a:xfrm>
            <a:off x="8851700" y="3915653"/>
            <a:ext cx="3467100" cy="304800"/>
          </a:xfrm>
          <a:prstGeom prst="rect">
            <a:avLst/>
          </a:prstGeom>
          <a:noFill/>
          <a:ln/>
        </p:spPr>
        <p:txBody>
          <a:bodyPr wrap="square" lIns="0" tIns="0" rIns="0" bIns="0" rtlCol="0" anchor="ctr"/>
          <a:lstStyle/>
          <a:p>
            <a:pPr indent="0" marL="0">
              <a:lnSpc>
                <a:spcPct val="130000"/>
              </a:lnSpc>
              <a:buNone/>
            </a:pPr>
            <a:r>
              <a:rPr lang="en-US" sz="1600" b="1" dirty="0">
                <a:solidFill>
                  <a:srgbClr val="333333"/>
                </a:solidFill>
                <a:latin typeface="Noto Sans SC" pitchFamily="34" charset="0"/>
                <a:ea typeface="Noto Sans SC" pitchFamily="34" charset="-122"/>
                <a:cs typeface="Noto Sans SC" pitchFamily="34" charset="-120"/>
              </a:rPr>
              <a:t>Hệ Thống Build Gradle</a:t>
            </a:r>
            <a:endParaRPr lang="en-US" sz="1600" dirty="0"/>
          </a:p>
        </p:txBody>
      </p:sp>
      <p:sp>
        <p:nvSpPr>
          <p:cNvPr id="24" name="Text 21"/>
          <p:cNvSpPr/>
          <p:nvPr/>
        </p:nvSpPr>
        <p:spPr>
          <a:xfrm>
            <a:off x="8851700" y="4220453"/>
            <a:ext cx="2959100" cy="406400"/>
          </a:xfrm>
          <a:prstGeom prst="rect">
            <a:avLst/>
          </a:prstGeom>
          <a:noFill/>
          <a:ln/>
        </p:spPr>
        <p:txBody>
          <a:bodyPr wrap="square" lIns="0" tIns="0" rIns="0" bIns="0" rtlCol="0" anchor="ctr"/>
          <a:lstStyle/>
          <a:p>
            <a:pPr indent="0" marL="0">
              <a:lnSpc>
                <a:spcPct val="110000"/>
              </a:lnSpc>
              <a:buNone/>
            </a:pPr>
            <a:r>
              <a:rPr lang="en-US" sz="1200" dirty="0">
                <a:solidFill>
                  <a:srgbClr val="333333"/>
                </a:solidFill>
                <a:latin typeface="Noto Sans SC" pitchFamily="34" charset="0"/>
                <a:ea typeface="Noto Sans SC" pitchFamily="34" charset="-122"/>
                <a:cs typeface="Noto Sans SC" pitchFamily="34" charset="-120"/>
              </a:rPr>
              <a:t>Tự động hóa quá trình build, test và phân phối ứng dụng.</a:t>
            </a:r>
            <a:endParaRPr lang="en-US" sz="1600" dirty="0"/>
          </a:p>
        </p:txBody>
      </p:sp>
      <p:sp>
        <p:nvSpPr>
          <p:cNvPr id="25" name="Shape 22"/>
          <p:cNvSpPr/>
          <p:nvPr/>
        </p:nvSpPr>
        <p:spPr>
          <a:xfrm>
            <a:off x="1396999" y="5025147"/>
            <a:ext cx="3759200" cy="1016000"/>
          </a:xfrm>
          <a:custGeom>
            <a:avLst/>
            <a:gdLst/>
            <a:ahLst/>
            <a:cxnLst/>
            <a:rect l="l" t="t" r="r" b="b"/>
            <a:pathLst>
              <a:path w="3759200" h="1016000">
                <a:moveTo>
                  <a:pt x="101600" y="0"/>
                </a:moveTo>
                <a:lnTo>
                  <a:pt x="3657600" y="0"/>
                </a:lnTo>
                <a:cubicBezTo>
                  <a:pt x="3713675" y="0"/>
                  <a:pt x="3759200" y="45525"/>
                  <a:pt x="3759200" y="101600"/>
                </a:cubicBezTo>
                <a:lnTo>
                  <a:pt x="3759200" y="914400"/>
                </a:lnTo>
                <a:cubicBezTo>
                  <a:pt x="3759200" y="970475"/>
                  <a:pt x="3713675" y="1016000"/>
                  <a:pt x="36576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BACBD3"/>
          </a:solidFill>
          <a:ln/>
        </p:spPr>
      </p:sp>
      <p:sp>
        <p:nvSpPr>
          <p:cNvPr id="26" name="Shape 23"/>
          <p:cNvSpPr/>
          <p:nvPr/>
        </p:nvSpPr>
        <p:spPr>
          <a:xfrm>
            <a:off x="6375399" y="5025147"/>
            <a:ext cx="3759200" cy="1016000"/>
          </a:xfrm>
          <a:custGeom>
            <a:avLst/>
            <a:gdLst/>
            <a:ahLst/>
            <a:cxnLst/>
            <a:rect l="l" t="t" r="r" b="b"/>
            <a:pathLst>
              <a:path w="3759200" h="1016000">
                <a:moveTo>
                  <a:pt x="101600" y="0"/>
                </a:moveTo>
                <a:lnTo>
                  <a:pt x="3657600" y="0"/>
                </a:lnTo>
                <a:cubicBezTo>
                  <a:pt x="3713675" y="0"/>
                  <a:pt x="3759200" y="45525"/>
                  <a:pt x="3759200" y="101600"/>
                </a:cubicBezTo>
                <a:lnTo>
                  <a:pt x="3759200" y="914400"/>
                </a:lnTo>
                <a:cubicBezTo>
                  <a:pt x="3759200" y="970475"/>
                  <a:pt x="3713675" y="1016000"/>
                  <a:pt x="36576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BACBD3"/>
          </a:solidFill>
          <a:ln/>
        </p:spPr>
      </p:sp>
      <p:sp>
        <p:nvSpPr>
          <p:cNvPr id="27" name="Shape 24"/>
          <p:cNvSpPr/>
          <p:nvPr/>
        </p:nvSpPr>
        <p:spPr>
          <a:xfrm>
            <a:off x="1459905" y="5253157"/>
            <a:ext cx="636187" cy="559980"/>
          </a:xfrm>
          <a:custGeom>
            <a:avLst/>
            <a:gdLst/>
            <a:ahLst/>
            <a:cxnLst/>
            <a:rect l="l" t="t" r="r" b="b"/>
            <a:pathLst>
              <a:path w="636187" h="559980">
                <a:moveTo>
                  <a:pt x="212062" y="104996"/>
                </a:moveTo>
                <a:cubicBezTo>
                  <a:pt x="212062" y="47030"/>
                  <a:pt x="259555" y="0"/>
                  <a:pt x="318093" y="0"/>
                </a:cubicBezTo>
                <a:cubicBezTo>
                  <a:pt x="376631" y="0"/>
                  <a:pt x="424124" y="47030"/>
                  <a:pt x="424124" y="104996"/>
                </a:cubicBezTo>
                <a:lnTo>
                  <a:pt x="424124" y="108934"/>
                </a:lnTo>
                <a:cubicBezTo>
                  <a:pt x="424124" y="126105"/>
                  <a:pt x="410097" y="139995"/>
                  <a:pt x="392757" y="139995"/>
                </a:cubicBezTo>
                <a:lnTo>
                  <a:pt x="243540" y="139995"/>
                </a:lnTo>
                <a:cubicBezTo>
                  <a:pt x="226200" y="139995"/>
                  <a:pt x="212173" y="126105"/>
                  <a:pt x="212173" y="108934"/>
                </a:cubicBezTo>
                <a:lnTo>
                  <a:pt x="212173" y="104996"/>
                </a:lnTo>
                <a:close/>
                <a:moveTo>
                  <a:pt x="593774" y="118996"/>
                </a:moveTo>
                <a:cubicBezTo>
                  <a:pt x="605482" y="134417"/>
                  <a:pt x="602279" y="156401"/>
                  <a:pt x="586705" y="167994"/>
                </a:cubicBezTo>
                <a:lnTo>
                  <a:pt x="478686" y="248163"/>
                </a:lnTo>
                <a:cubicBezTo>
                  <a:pt x="484540" y="257897"/>
                  <a:pt x="488958" y="268616"/>
                  <a:pt x="491719" y="279990"/>
                </a:cubicBezTo>
                <a:lnTo>
                  <a:pt x="600843" y="279990"/>
                </a:lnTo>
                <a:cubicBezTo>
                  <a:pt x="620392" y="279990"/>
                  <a:pt x="636187" y="295630"/>
                  <a:pt x="636187" y="314989"/>
                </a:cubicBezTo>
                <a:cubicBezTo>
                  <a:pt x="636187" y="334348"/>
                  <a:pt x="620392" y="349988"/>
                  <a:pt x="600843" y="349988"/>
                </a:cubicBezTo>
                <a:lnTo>
                  <a:pt x="494812" y="349988"/>
                </a:lnTo>
                <a:lnTo>
                  <a:pt x="494812" y="384987"/>
                </a:lnTo>
                <a:cubicBezTo>
                  <a:pt x="494812" y="387830"/>
                  <a:pt x="494701" y="390783"/>
                  <a:pt x="494591" y="393627"/>
                </a:cubicBezTo>
                <a:lnTo>
                  <a:pt x="586705" y="461984"/>
                </a:lnTo>
                <a:cubicBezTo>
                  <a:pt x="602279" y="473577"/>
                  <a:pt x="605482" y="495561"/>
                  <a:pt x="593774" y="510982"/>
                </a:cubicBezTo>
                <a:cubicBezTo>
                  <a:pt x="582067" y="526403"/>
                  <a:pt x="559866" y="529575"/>
                  <a:pt x="544293" y="517982"/>
                </a:cubicBezTo>
                <a:lnTo>
                  <a:pt x="474600" y="466249"/>
                </a:lnTo>
                <a:cubicBezTo>
                  <a:pt x="448975" y="514591"/>
                  <a:pt x="401151" y="549590"/>
                  <a:pt x="344601" y="558012"/>
                </a:cubicBezTo>
                <a:lnTo>
                  <a:pt x="344601" y="306239"/>
                </a:lnTo>
                <a:cubicBezTo>
                  <a:pt x="344601" y="291693"/>
                  <a:pt x="332783" y="279990"/>
                  <a:pt x="318093" y="279990"/>
                </a:cubicBezTo>
                <a:cubicBezTo>
                  <a:pt x="303404" y="279990"/>
                  <a:pt x="291586" y="291693"/>
                  <a:pt x="291586" y="306239"/>
                </a:cubicBezTo>
                <a:lnTo>
                  <a:pt x="291586" y="558012"/>
                </a:lnTo>
                <a:cubicBezTo>
                  <a:pt x="235036" y="549590"/>
                  <a:pt x="187211" y="514591"/>
                  <a:pt x="161587" y="466249"/>
                </a:cubicBezTo>
                <a:lnTo>
                  <a:pt x="91894" y="517982"/>
                </a:lnTo>
                <a:cubicBezTo>
                  <a:pt x="76320" y="529575"/>
                  <a:pt x="54120" y="526403"/>
                  <a:pt x="42412" y="510982"/>
                </a:cubicBezTo>
                <a:cubicBezTo>
                  <a:pt x="30705" y="495561"/>
                  <a:pt x="33908" y="473577"/>
                  <a:pt x="49481" y="461984"/>
                </a:cubicBezTo>
                <a:lnTo>
                  <a:pt x="141596" y="393627"/>
                </a:lnTo>
                <a:cubicBezTo>
                  <a:pt x="141485" y="390783"/>
                  <a:pt x="141375" y="387940"/>
                  <a:pt x="141375" y="384987"/>
                </a:cubicBezTo>
                <a:lnTo>
                  <a:pt x="141375" y="349988"/>
                </a:lnTo>
                <a:lnTo>
                  <a:pt x="35344" y="349988"/>
                </a:lnTo>
                <a:cubicBezTo>
                  <a:pt x="15794" y="349988"/>
                  <a:pt x="0" y="334348"/>
                  <a:pt x="0" y="314989"/>
                </a:cubicBezTo>
                <a:cubicBezTo>
                  <a:pt x="0" y="295630"/>
                  <a:pt x="15794" y="279990"/>
                  <a:pt x="35344" y="279990"/>
                </a:cubicBezTo>
                <a:lnTo>
                  <a:pt x="144467" y="279990"/>
                </a:lnTo>
                <a:cubicBezTo>
                  <a:pt x="147229" y="268616"/>
                  <a:pt x="151647" y="257897"/>
                  <a:pt x="157500" y="248163"/>
                </a:cubicBezTo>
                <a:lnTo>
                  <a:pt x="49481" y="167994"/>
                </a:lnTo>
                <a:cubicBezTo>
                  <a:pt x="33908" y="156401"/>
                  <a:pt x="30705" y="134417"/>
                  <a:pt x="42412" y="118996"/>
                </a:cubicBezTo>
                <a:cubicBezTo>
                  <a:pt x="54120" y="103575"/>
                  <a:pt x="76320" y="100403"/>
                  <a:pt x="91894" y="111996"/>
                </a:cubicBezTo>
                <a:lnTo>
                  <a:pt x="212062" y="201243"/>
                </a:lnTo>
                <a:cubicBezTo>
                  <a:pt x="225647" y="195665"/>
                  <a:pt x="240558" y="192493"/>
                  <a:pt x="256242" y="192493"/>
                </a:cubicBezTo>
                <a:lnTo>
                  <a:pt x="379945" y="192493"/>
                </a:lnTo>
                <a:cubicBezTo>
                  <a:pt x="395629" y="192493"/>
                  <a:pt x="410539" y="195556"/>
                  <a:pt x="424124" y="201243"/>
                </a:cubicBezTo>
                <a:lnTo>
                  <a:pt x="544293" y="111996"/>
                </a:lnTo>
                <a:cubicBezTo>
                  <a:pt x="559866" y="100403"/>
                  <a:pt x="582067" y="103575"/>
                  <a:pt x="593774" y="118996"/>
                </a:cubicBezTo>
                <a:close/>
              </a:path>
            </a:pathLst>
          </a:custGeom>
          <a:solidFill>
            <a:srgbClr val="F9B79B"/>
          </a:solidFill>
          <a:ln/>
        </p:spPr>
      </p:sp>
      <p:sp>
        <p:nvSpPr>
          <p:cNvPr id="28" name="Shape 25"/>
          <p:cNvSpPr/>
          <p:nvPr/>
        </p:nvSpPr>
        <p:spPr>
          <a:xfrm>
            <a:off x="4600574" y="2988553"/>
            <a:ext cx="285750" cy="381000"/>
          </a:xfrm>
          <a:custGeom>
            <a:avLst/>
            <a:gdLst/>
            <a:ahLst/>
            <a:cxnLst/>
            <a:rect l="l" t="t" r="r" b="b"/>
            <a:pathLst>
              <a:path w="285750" h="381000">
                <a:moveTo>
                  <a:pt x="0" y="47625"/>
                </a:moveTo>
                <a:cubicBezTo>
                  <a:pt x="0" y="21357"/>
                  <a:pt x="21357" y="0"/>
                  <a:pt x="47625" y="0"/>
                </a:cubicBezTo>
                <a:lnTo>
                  <a:pt x="158874" y="0"/>
                </a:lnTo>
                <a:cubicBezTo>
                  <a:pt x="171524" y="0"/>
                  <a:pt x="183654" y="4986"/>
                  <a:pt x="192584" y="13915"/>
                </a:cubicBezTo>
                <a:lnTo>
                  <a:pt x="271835" y="93241"/>
                </a:lnTo>
                <a:cubicBezTo>
                  <a:pt x="280764" y="102171"/>
                  <a:pt x="285750" y="114300"/>
                  <a:pt x="285750" y="126950"/>
                </a:cubicBezTo>
                <a:lnTo>
                  <a:pt x="285750" y="333375"/>
                </a:lnTo>
                <a:cubicBezTo>
                  <a:pt x="285750" y="359643"/>
                  <a:pt x="264393" y="381000"/>
                  <a:pt x="238125" y="381000"/>
                </a:cubicBezTo>
                <a:lnTo>
                  <a:pt x="47625" y="381000"/>
                </a:lnTo>
                <a:cubicBezTo>
                  <a:pt x="21357" y="381000"/>
                  <a:pt x="0" y="359643"/>
                  <a:pt x="0" y="333375"/>
                </a:cubicBezTo>
                <a:lnTo>
                  <a:pt x="0" y="47625"/>
                </a:lnTo>
                <a:close/>
                <a:moveTo>
                  <a:pt x="154781" y="43532"/>
                </a:moveTo>
                <a:lnTo>
                  <a:pt x="154781" y="113109"/>
                </a:lnTo>
                <a:cubicBezTo>
                  <a:pt x="154781" y="123006"/>
                  <a:pt x="162744" y="130969"/>
                  <a:pt x="172641" y="130969"/>
                </a:cubicBezTo>
                <a:lnTo>
                  <a:pt x="242218" y="130969"/>
                </a:lnTo>
                <a:lnTo>
                  <a:pt x="154781" y="43532"/>
                </a:lnTo>
                <a:close/>
                <a:moveTo>
                  <a:pt x="114746" y="219968"/>
                </a:moveTo>
                <a:cubicBezTo>
                  <a:pt x="121146" y="212452"/>
                  <a:pt x="120328" y="201216"/>
                  <a:pt x="112812" y="194816"/>
                </a:cubicBezTo>
                <a:cubicBezTo>
                  <a:pt x="105296" y="188416"/>
                  <a:pt x="94059" y="189235"/>
                  <a:pt x="87660" y="196751"/>
                </a:cubicBezTo>
                <a:lnTo>
                  <a:pt x="51941" y="238423"/>
                </a:lnTo>
                <a:cubicBezTo>
                  <a:pt x="46211" y="245120"/>
                  <a:pt x="46211" y="254943"/>
                  <a:pt x="51941" y="261640"/>
                </a:cubicBezTo>
                <a:lnTo>
                  <a:pt x="87660" y="303312"/>
                </a:lnTo>
                <a:cubicBezTo>
                  <a:pt x="94059" y="310828"/>
                  <a:pt x="105370" y="311646"/>
                  <a:pt x="112812" y="305246"/>
                </a:cubicBezTo>
                <a:cubicBezTo>
                  <a:pt x="120253" y="298847"/>
                  <a:pt x="121146" y="287536"/>
                  <a:pt x="114746" y="280095"/>
                </a:cubicBezTo>
                <a:lnTo>
                  <a:pt x="88999" y="250031"/>
                </a:lnTo>
                <a:lnTo>
                  <a:pt x="114746" y="219968"/>
                </a:lnTo>
                <a:close/>
                <a:moveTo>
                  <a:pt x="198090" y="196751"/>
                </a:moveTo>
                <a:cubicBezTo>
                  <a:pt x="191691" y="189235"/>
                  <a:pt x="180380" y="188416"/>
                  <a:pt x="172938" y="194816"/>
                </a:cubicBezTo>
                <a:cubicBezTo>
                  <a:pt x="165497" y="201216"/>
                  <a:pt x="164604" y="212527"/>
                  <a:pt x="171004" y="219968"/>
                </a:cubicBezTo>
                <a:lnTo>
                  <a:pt x="196751" y="250031"/>
                </a:lnTo>
                <a:lnTo>
                  <a:pt x="171004" y="280095"/>
                </a:lnTo>
                <a:cubicBezTo>
                  <a:pt x="164604" y="287610"/>
                  <a:pt x="165422" y="298847"/>
                  <a:pt x="172938" y="305246"/>
                </a:cubicBezTo>
                <a:cubicBezTo>
                  <a:pt x="180454" y="311646"/>
                  <a:pt x="191691" y="310828"/>
                  <a:pt x="198090" y="303312"/>
                </a:cubicBezTo>
                <a:lnTo>
                  <a:pt x="233809" y="261640"/>
                </a:lnTo>
                <a:cubicBezTo>
                  <a:pt x="239539" y="254943"/>
                  <a:pt x="239539" y="245120"/>
                  <a:pt x="233809" y="238423"/>
                </a:cubicBezTo>
                <a:lnTo>
                  <a:pt x="198090" y="196751"/>
                </a:lnTo>
                <a:close/>
              </a:path>
            </a:pathLst>
          </a:custGeom>
          <a:solidFill>
            <a:srgbClr val="F9B79B"/>
          </a:solidFill>
          <a:ln/>
        </p:spPr>
      </p:sp>
      <p:sp>
        <p:nvSpPr>
          <p:cNvPr id="29" name="Text 26"/>
          <p:cNvSpPr/>
          <p:nvPr/>
        </p:nvSpPr>
        <p:spPr>
          <a:xfrm>
            <a:off x="2233339" y="5177547"/>
            <a:ext cx="3429000" cy="304800"/>
          </a:xfrm>
          <a:prstGeom prst="rect">
            <a:avLst/>
          </a:prstGeom>
          <a:noFill/>
          <a:ln/>
        </p:spPr>
        <p:txBody>
          <a:bodyPr wrap="square" lIns="0" tIns="0" rIns="0" bIns="0" rtlCol="0" anchor="ctr"/>
          <a:lstStyle/>
          <a:p>
            <a:pPr indent="0" marL="0">
              <a:lnSpc>
                <a:spcPct val="130000"/>
              </a:lnSpc>
              <a:buNone/>
            </a:pPr>
            <a:r>
              <a:rPr lang="en-US" sz="1600" b="1" dirty="0">
                <a:solidFill>
                  <a:srgbClr val="333333"/>
                </a:solidFill>
                <a:latin typeface="Noto Sans SC" pitchFamily="34" charset="0"/>
                <a:ea typeface="Noto Sans SC" pitchFamily="34" charset="-122"/>
                <a:cs typeface="Noto Sans SC" pitchFamily="34" charset="-120"/>
              </a:rPr>
              <a:t>Log console and debugger</a:t>
            </a:r>
            <a:endParaRPr lang="en-US" sz="1600" dirty="0"/>
          </a:p>
        </p:txBody>
      </p:sp>
      <p:sp>
        <p:nvSpPr>
          <p:cNvPr id="30" name="Text 27"/>
          <p:cNvSpPr/>
          <p:nvPr/>
        </p:nvSpPr>
        <p:spPr>
          <a:xfrm>
            <a:off x="2233339" y="5482347"/>
            <a:ext cx="2761133" cy="508000"/>
          </a:xfrm>
          <a:prstGeom prst="rect">
            <a:avLst/>
          </a:prstGeom>
          <a:noFill/>
          <a:ln/>
        </p:spPr>
        <p:txBody>
          <a:bodyPr wrap="square" lIns="0" tIns="0" rIns="0" bIns="0" rtlCol="0" anchor="ctr"/>
          <a:lstStyle/>
          <a:p>
            <a:pPr indent="0" marL="0">
              <a:lnSpc>
                <a:spcPct val="100000"/>
              </a:lnSpc>
              <a:buNone/>
            </a:pPr>
            <a:r>
              <a:rPr lang="en-US" sz="1200" dirty="0">
                <a:solidFill>
                  <a:srgbClr val="333333"/>
                </a:solidFill>
                <a:latin typeface="Noto Sans SC" pitchFamily="34" charset="0"/>
                <a:ea typeface="Noto Sans SC" pitchFamily="34" charset="-122"/>
                <a:cs typeface="Noto Sans SC" pitchFamily="34" charset="-120"/>
              </a:rPr>
              <a:t>Theo dõi log và gỡ lỗi ứng dụng dễ dàng, trực quan.</a:t>
            </a:r>
            <a:endParaRPr lang="en-US" sz="1600" dirty="0"/>
          </a:p>
        </p:txBody>
      </p:sp>
      <p:sp>
        <p:nvSpPr>
          <p:cNvPr id="31" name="Text 28"/>
          <p:cNvSpPr/>
          <p:nvPr/>
        </p:nvSpPr>
        <p:spPr>
          <a:xfrm>
            <a:off x="7187405" y="5177547"/>
            <a:ext cx="3467100" cy="304800"/>
          </a:xfrm>
          <a:prstGeom prst="rect">
            <a:avLst/>
          </a:prstGeom>
          <a:noFill/>
          <a:ln/>
        </p:spPr>
        <p:txBody>
          <a:bodyPr wrap="square" lIns="0" tIns="0" rIns="0" bIns="0" rtlCol="0" anchor="ctr"/>
          <a:lstStyle/>
          <a:p>
            <a:pPr indent="0" marL="0">
              <a:lnSpc>
                <a:spcPct val="130000"/>
              </a:lnSpc>
              <a:buNone/>
            </a:pPr>
            <a:r>
              <a:rPr lang="en-US" sz="1600" b="1" dirty="0">
                <a:solidFill>
                  <a:srgbClr val="333333"/>
                </a:solidFill>
                <a:latin typeface="Noto Sans SC" pitchFamily="34" charset="0"/>
                <a:ea typeface="Noto Sans SC" pitchFamily="34" charset="-122"/>
                <a:cs typeface="Noto Sans SC" pitchFamily="34" charset="-120"/>
              </a:rPr>
              <a:t>Emulators</a:t>
            </a:r>
            <a:endParaRPr lang="en-US" sz="1600" dirty="0"/>
          </a:p>
        </p:txBody>
      </p:sp>
      <p:sp>
        <p:nvSpPr>
          <p:cNvPr id="32" name="Text 29"/>
          <p:cNvSpPr/>
          <p:nvPr/>
        </p:nvSpPr>
        <p:spPr>
          <a:xfrm>
            <a:off x="7187405" y="5482347"/>
            <a:ext cx="2959100" cy="406400"/>
          </a:xfrm>
          <a:prstGeom prst="rect">
            <a:avLst/>
          </a:prstGeom>
          <a:noFill/>
          <a:ln/>
        </p:spPr>
        <p:txBody>
          <a:bodyPr wrap="square" lIns="0" tIns="0" rIns="0" bIns="0" rtlCol="0" anchor="ctr"/>
          <a:lstStyle/>
          <a:p>
            <a:pPr indent="0" marL="0">
              <a:lnSpc>
                <a:spcPct val="110000"/>
              </a:lnSpc>
              <a:buNone/>
            </a:pPr>
            <a:r>
              <a:rPr lang="en-US" sz="1200" dirty="0">
                <a:solidFill>
                  <a:srgbClr val="333333"/>
                </a:solidFill>
                <a:latin typeface="Noto Sans SC" pitchFamily="34" charset="0"/>
                <a:ea typeface="Noto Sans SC" pitchFamily="34" charset="-122"/>
                <a:cs typeface="Noto Sans SC" pitchFamily="34" charset="-120"/>
              </a:rPr>
              <a:t>Giả lập nhiều thiết bị để kiểm thử ứng dụng nhanh chóng.</a:t>
            </a:r>
            <a:endParaRPr lang="en-US" sz="1600" dirty="0"/>
          </a:p>
        </p:txBody>
      </p:sp>
      <p:sp>
        <p:nvSpPr>
          <p:cNvPr id="33" name="Shape 30"/>
          <p:cNvSpPr/>
          <p:nvPr/>
        </p:nvSpPr>
        <p:spPr>
          <a:xfrm>
            <a:off x="6503394" y="5262881"/>
            <a:ext cx="548180" cy="540532"/>
          </a:xfrm>
          <a:custGeom>
            <a:avLst/>
            <a:gdLst/>
            <a:ahLst/>
            <a:cxnLst/>
            <a:rect l="l" t="t" r="r" b="b"/>
            <a:pathLst>
              <a:path w="548180" h="540532">
                <a:moveTo>
                  <a:pt x="400191" y="268049"/>
                </a:moveTo>
                <a:cubicBezTo>
                  <a:pt x="408351" y="268049"/>
                  <a:pt x="415891" y="272878"/>
                  <a:pt x="419971" y="280718"/>
                </a:cubicBezTo>
                <a:cubicBezTo>
                  <a:pt x="424052" y="288557"/>
                  <a:pt x="424052" y="298216"/>
                  <a:pt x="419971" y="306055"/>
                </a:cubicBezTo>
                <a:cubicBezTo>
                  <a:pt x="415891" y="313895"/>
                  <a:pt x="408351" y="318724"/>
                  <a:pt x="400191" y="318724"/>
                </a:cubicBezTo>
                <a:cubicBezTo>
                  <a:pt x="387584" y="318724"/>
                  <a:pt x="377350" y="307371"/>
                  <a:pt x="377350" y="293387"/>
                </a:cubicBezTo>
                <a:cubicBezTo>
                  <a:pt x="377350" y="279402"/>
                  <a:pt x="387584" y="268049"/>
                  <a:pt x="400191" y="268049"/>
                </a:cubicBezTo>
                <a:close/>
                <a:moveTo>
                  <a:pt x="147894" y="268049"/>
                </a:moveTo>
                <a:cubicBezTo>
                  <a:pt x="156055" y="268049"/>
                  <a:pt x="163595" y="272878"/>
                  <a:pt x="167675" y="280718"/>
                </a:cubicBezTo>
                <a:cubicBezTo>
                  <a:pt x="171755" y="288557"/>
                  <a:pt x="171755" y="298216"/>
                  <a:pt x="167675" y="306055"/>
                </a:cubicBezTo>
                <a:cubicBezTo>
                  <a:pt x="163595" y="313895"/>
                  <a:pt x="156055" y="318724"/>
                  <a:pt x="147894" y="318724"/>
                </a:cubicBezTo>
                <a:cubicBezTo>
                  <a:pt x="135288" y="318724"/>
                  <a:pt x="125054" y="307371"/>
                  <a:pt x="125054" y="293387"/>
                </a:cubicBezTo>
                <a:cubicBezTo>
                  <a:pt x="125054" y="279402"/>
                  <a:pt x="135288" y="268049"/>
                  <a:pt x="147894" y="268049"/>
                </a:cubicBezTo>
                <a:close/>
                <a:moveTo>
                  <a:pt x="408375" y="166171"/>
                </a:moveTo>
                <a:lnTo>
                  <a:pt x="453962" y="78546"/>
                </a:lnTo>
                <a:cubicBezTo>
                  <a:pt x="454723" y="77385"/>
                  <a:pt x="455199" y="76012"/>
                  <a:pt x="455389" y="74534"/>
                </a:cubicBezTo>
                <a:cubicBezTo>
                  <a:pt x="455580" y="73056"/>
                  <a:pt x="455580" y="71684"/>
                  <a:pt x="455294" y="70206"/>
                </a:cubicBezTo>
                <a:cubicBezTo>
                  <a:pt x="455009" y="68728"/>
                  <a:pt x="454438" y="67461"/>
                  <a:pt x="453676" y="66300"/>
                </a:cubicBezTo>
                <a:cubicBezTo>
                  <a:pt x="452915" y="65138"/>
                  <a:pt x="451963" y="64188"/>
                  <a:pt x="450821" y="63449"/>
                </a:cubicBezTo>
                <a:cubicBezTo>
                  <a:pt x="449679" y="62710"/>
                  <a:pt x="448442" y="62288"/>
                  <a:pt x="447110" y="62077"/>
                </a:cubicBezTo>
                <a:cubicBezTo>
                  <a:pt x="445777" y="61866"/>
                  <a:pt x="444540" y="62077"/>
                  <a:pt x="443303" y="62499"/>
                </a:cubicBezTo>
                <a:cubicBezTo>
                  <a:pt x="442066" y="62921"/>
                  <a:pt x="440923" y="63660"/>
                  <a:pt x="439877" y="64505"/>
                </a:cubicBezTo>
                <a:cubicBezTo>
                  <a:pt x="438830" y="65349"/>
                  <a:pt x="438068" y="66616"/>
                  <a:pt x="437497" y="67883"/>
                </a:cubicBezTo>
                <a:lnTo>
                  <a:pt x="391340" y="156670"/>
                </a:lnTo>
                <a:cubicBezTo>
                  <a:pt x="354414" y="138300"/>
                  <a:pt x="314442" y="128799"/>
                  <a:pt x="273995" y="128799"/>
                </a:cubicBezTo>
                <a:cubicBezTo>
                  <a:pt x="233548" y="128799"/>
                  <a:pt x="193576" y="138300"/>
                  <a:pt x="156650" y="156670"/>
                </a:cubicBezTo>
                <a:lnTo>
                  <a:pt x="110588" y="67989"/>
                </a:lnTo>
                <a:cubicBezTo>
                  <a:pt x="110017" y="66722"/>
                  <a:pt x="109160" y="65561"/>
                  <a:pt x="108208" y="64610"/>
                </a:cubicBezTo>
                <a:cubicBezTo>
                  <a:pt x="107257" y="63660"/>
                  <a:pt x="106020" y="63027"/>
                  <a:pt x="104782" y="62605"/>
                </a:cubicBezTo>
                <a:cubicBezTo>
                  <a:pt x="103545" y="62182"/>
                  <a:pt x="102213" y="62077"/>
                  <a:pt x="100976" y="62182"/>
                </a:cubicBezTo>
                <a:cubicBezTo>
                  <a:pt x="99738" y="62288"/>
                  <a:pt x="98406" y="62816"/>
                  <a:pt x="97264" y="63555"/>
                </a:cubicBezTo>
                <a:cubicBezTo>
                  <a:pt x="96122" y="64294"/>
                  <a:pt x="95170" y="65244"/>
                  <a:pt x="94409" y="66405"/>
                </a:cubicBezTo>
                <a:cubicBezTo>
                  <a:pt x="93647" y="67567"/>
                  <a:pt x="93076" y="68939"/>
                  <a:pt x="92791" y="70311"/>
                </a:cubicBezTo>
                <a:cubicBezTo>
                  <a:pt x="92505" y="71684"/>
                  <a:pt x="92505" y="73162"/>
                  <a:pt x="92696" y="74640"/>
                </a:cubicBezTo>
                <a:cubicBezTo>
                  <a:pt x="92886" y="76118"/>
                  <a:pt x="93457" y="77385"/>
                  <a:pt x="94123" y="78652"/>
                </a:cubicBezTo>
                <a:lnTo>
                  <a:pt x="139710" y="166277"/>
                </a:lnTo>
                <a:cubicBezTo>
                  <a:pt x="61385" y="213468"/>
                  <a:pt x="7804" y="301410"/>
                  <a:pt x="0" y="405399"/>
                </a:cubicBezTo>
                <a:lnTo>
                  <a:pt x="548180" y="405399"/>
                </a:lnTo>
                <a:cubicBezTo>
                  <a:pt x="540376" y="301410"/>
                  <a:pt x="486795" y="213468"/>
                  <a:pt x="408375" y="166171"/>
                </a:cubicBezTo>
                <a:close/>
              </a:path>
            </a:pathLst>
          </a:custGeom>
          <a:solidFill>
            <a:srgbClr val="F9B79B"/>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4F6"/>
        </a:solidFill>
      </p:bgPr>
    </p:bg>
    <p:spTree>
      <p:nvGrpSpPr>
        <p:cNvPr id="1" name=""/>
        <p:cNvGrpSpPr/>
        <p:nvPr/>
      </p:nvGrpSpPr>
      <p:grpSpPr>
        <a:xfrm>
          <a:off x="0" y="0"/>
          <a:ext cx="0" cy="0"/>
          <a:chOff x="0" y="0"/>
          <a:chExt cx="0" cy="0"/>
        </a:xfrm>
      </p:grpSpPr>
      <p:pic>
        <p:nvPicPr>
          <p:cNvPr id="2" name="Image 0" descr="https://kimi-img.moonshot.cn/pub/slides/slides_tmpl/image/25-09-04-14:58:41-d2sjh8e1bb2p4onbq9f0.jpg">    </p:cNvPr>
          <p:cNvPicPr>
            <a:picLocks noChangeAspect="1"/>
          </p:cNvPicPr>
          <p:nvPr/>
        </p:nvPicPr>
        <p:blipFill>
          <a:blip r:embed="rId1"/>
          <a:stretch>
            <a:fillRect/>
          </a:stretch>
        </p:blipFill>
        <p:spPr>
          <a:xfrm>
            <a:off x="-29845" y="-15875"/>
            <a:ext cx="12300585" cy="6921500"/>
          </a:xfrm>
          <a:prstGeom prst="rect">
            <a:avLst/>
          </a:prstGeom>
        </p:spPr>
      </p:pic>
      <p:sp>
        <p:nvSpPr>
          <p:cNvPr id="3" name="Text 0"/>
          <p:cNvSpPr/>
          <p:nvPr/>
        </p:nvSpPr>
        <p:spPr>
          <a:xfrm>
            <a:off x="254000" y="1041400"/>
            <a:ext cx="6045200" cy="508000"/>
          </a:xfrm>
          <a:prstGeom prst="rect">
            <a:avLst/>
          </a:prstGeom>
          <a:noFill/>
          <a:ln/>
        </p:spPr>
        <p:txBody>
          <a:bodyPr wrap="square" lIns="0" tIns="0" rIns="0" bIns="0" rtlCol="0" anchor="ctr"/>
          <a:lstStyle/>
          <a:p>
            <a:pPr indent="0" marL="0">
              <a:lnSpc>
                <a:spcPct val="90000"/>
              </a:lnSpc>
              <a:buNone/>
            </a:pPr>
            <a:r>
              <a:rPr lang="en-US" sz="3600" dirty="0">
                <a:solidFill>
                  <a:srgbClr val="333333"/>
                </a:solidFill>
                <a:latin typeface="Noto Sans SC" pitchFamily="34" charset="0"/>
                <a:ea typeface="Noto Sans SC" pitchFamily="34" charset="-122"/>
                <a:cs typeface="Noto Sans SC" pitchFamily="34" charset="-120"/>
              </a:rPr>
              <a:t>Giao Diện &amp; Cài Đặt</a:t>
            </a:r>
            <a:endParaRPr lang="en-US" sz="1600" dirty="0"/>
          </a:p>
        </p:txBody>
      </p:sp>
      <p:sp>
        <p:nvSpPr>
          <p:cNvPr id="4" name="Shape 1"/>
          <p:cNvSpPr/>
          <p:nvPr/>
        </p:nvSpPr>
        <p:spPr>
          <a:xfrm>
            <a:off x="254000" y="1854200"/>
            <a:ext cx="5537200" cy="2032000"/>
          </a:xfrm>
          <a:custGeom>
            <a:avLst/>
            <a:gdLst/>
            <a:ahLst/>
            <a:cxnLst/>
            <a:rect l="l" t="t" r="r" b="b"/>
            <a:pathLst>
              <a:path w="5537200" h="2032000">
                <a:moveTo>
                  <a:pt x="101600" y="0"/>
                </a:moveTo>
                <a:lnTo>
                  <a:pt x="5435600" y="0"/>
                </a:lnTo>
                <a:cubicBezTo>
                  <a:pt x="5491675" y="0"/>
                  <a:pt x="5537200" y="45525"/>
                  <a:pt x="5537200" y="101600"/>
                </a:cubicBezTo>
                <a:lnTo>
                  <a:pt x="5537200" y="1930400"/>
                </a:lnTo>
                <a:cubicBezTo>
                  <a:pt x="5537200" y="1986475"/>
                  <a:pt x="5491675" y="2032000"/>
                  <a:pt x="5435600" y="2032000"/>
                </a:cubicBezTo>
                <a:lnTo>
                  <a:pt x="101600" y="2032000"/>
                </a:lnTo>
                <a:cubicBezTo>
                  <a:pt x="45525" y="2032000"/>
                  <a:pt x="0" y="1986475"/>
                  <a:pt x="0" y="1930400"/>
                </a:cubicBezTo>
                <a:lnTo>
                  <a:pt x="0" y="101600"/>
                </a:lnTo>
                <a:cubicBezTo>
                  <a:pt x="0" y="45525"/>
                  <a:pt x="45525" y="0"/>
                  <a:pt x="101600" y="0"/>
                </a:cubicBezTo>
                <a:close/>
              </a:path>
            </a:pathLst>
          </a:custGeom>
          <a:solidFill>
            <a:srgbClr val="D7E3E9">
              <a:alpha val="66667"/>
            </a:srgbClr>
          </a:solidFill>
          <a:ln/>
        </p:spPr>
      </p:sp>
      <p:sp>
        <p:nvSpPr>
          <p:cNvPr id="5" name="Shape 2"/>
          <p:cNvSpPr/>
          <p:nvPr/>
        </p:nvSpPr>
        <p:spPr>
          <a:xfrm>
            <a:off x="503238" y="2120900"/>
            <a:ext cx="200025" cy="228600"/>
          </a:xfrm>
          <a:custGeom>
            <a:avLst/>
            <a:gdLst/>
            <a:ahLst/>
            <a:cxnLst/>
            <a:rect l="l" t="t" r="r" b="b"/>
            <a:pathLst>
              <a:path w="200025" h="228600">
                <a:moveTo>
                  <a:pt x="171450" y="42863"/>
                </a:moveTo>
                <a:lnTo>
                  <a:pt x="114300" y="42863"/>
                </a:lnTo>
                <a:lnTo>
                  <a:pt x="114300" y="100013"/>
                </a:lnTo>
                <a:lnTo>
                  <a:pt x="171450" y="100013"/>
                </a:lnTo>
                <a:lnTo>
                  <a:pt x="171450" y="42863"/>
                </a:lnTo>
                <a:close/>
                <a:moveTo>
                  <a:pt x="200025" y="100013"/>
                </a:moveTo>
                <a:lnTo>
                  <a:pt x="200025" y="185738"/>
                </a:lnTo>
                <a:cubicBezTo>
                  <a:pt x="200025" y="201498"/>
                  <a:pt x="187211" y="214313"/>
                  <a:pt x="171450" y="214313"/>
                </a:cubicBezTo>
                <a:lnTo>
                  <a:pt x="28575" y="214313"/>
                </a:lnTo>
                <a:cubicBezTo>
                  <a:pt x="12814" y="214313"/>
                  <a:pt x="0" y="201498"/>
                  <a:pt x="0" y="185738"/>
                </a:cubicBezTo>
                <a:lnTo>
                  <a:pt x="0" y="42863"/>
                </a:lnTo>
                <a:cubicBezTo>
                  <a:pt x="0" y="27102"/>
                  <a:pt x="12814" y="14288"/>
                  <a:pt x="28575" y="14288"/>
                </a:cubicBezTo>
                <a:lnTo>
                  <a:pt x="171450" y="14288"/>
                </a:lnTo>
                <a:cubicBezTo>
                  <a:pt x="187211" y="14288"/>
                  <a:pt x="200025" y="27102"/>
                  <a:pt x="200025" y="42863"/>
                </a:cubicBezTo>
                <a:lnTo>
                  <a:pt x="200025" y="100013"/>
                </a:lnTo>
                <a:close/>
                <a:moveTo>
                  <a:pt x="28575" y="128588"/>
                </a:moveTo>
                <a:lnTo>
                  <a:pt x="28575" y="185738"/>
                </a:lnTo>
                <a:lnTo>
                  <a:pt x="85725" y="185738"/>
                </a:lnTo>
                <a:lnTo>
                  <a:pt x="85725" y="128588"/>
                </a:lnTo>
                <a:lnTo>
                  <a:pt x="28575" y="128588"/>
                </a:lnTo>
                <a:close/>
                <a:moveTo>
                  <a:pt x="85725" y="100013"/>
                </a:moveTo>
                <a:lnTo>
                  <a:pt x="85725" y="42863"/>
                </a:lnTo>
                <a:lnTo>
                  <a:pt x="28575" y="42863"/>
                </a:lnTo>
                <a:lnTo>
                  <a:pt x="28575" y="100013"/>
                </a:lnTo>
                <a:lnTo>
                  <a:pt x="85725" y="100013"/>
                </a:lnTo>
                <a:close/>
                <a:moveTo>
                  <a:pt x="114300" y="128588"/>
                </a:moveTo>
                <a:lnTo>
                  <a:pt x="114300" y="185738"/>
                </a:lnTo>
                <a:lnTo>
                  <a:pt x="171450" y="185738"/>
                </a:lnTo>
                <a:lnTo>
                  <a:pt x="171450" y="128588"/>
                </a:lnTo>
                <a:lnTo>
                  <a:pt x="114300" y="128588"/>
                </a:lnTo>
                <a:close/>
              </a:path>
            </a:pathLst>
          </a:custGeom>
          <a:solidFill>
            <a:srgbClr val="F9B79B"/>
          </a:solidFill>
          <a:ln/>
        </p:spPr>
      </p:sp>
      <p:sp>
        <p:nvSpPr>
          <p:cNvPr id="6" name="Text 3"/>
          <p:cNvSpPr/>
          <p:nvPr/>
        </p:nvSpPr>
        <p:spPr>
          <a:xfrm>
            <a:off x="901700" y="2057400"/>
            <a:ext cx="4686300" cy="355600"/>
          </a:xfrm>
          <a:prstGeom prst="rect">
            <a:avLst/>
          </a:prstGeom>
          <a:noFill/>
          <a:ln/>
        </p:spPr>
        <p:txBody>
          <a:bodyPr wrap="square" lIns="0" tIns="0" rIns="0" bIns="0" rtlCol="0" anchor="ctr"/>
          <a:lstStyle/>
          <a:p>
            <a:pPr algn="l" indent="0" marL="0">
              <a:lnSpc>
                <a:spcPct val="130000"/>
              </a:lnSpc>
              <a:buNone/>
            </a:pPr>
            <a:r>
              <a:rPr lang="en-US" sz="1800" dirty="0">
                <a:solidFill>
                  <a:srgbClr val="333333"/>
                </a:solidFill>
                <a:latin typeface="Noto Sans SC" pitchFamily="34" charset="0"/>
                <a:ea typeface="Noto Sans SC" pitchFamily="34" charset="-122"/>
                <a:cs typeface="Noto Sans SC" pitchFamily="34" charset="-120"/>
              </a:rPr>
              <a:t>Bố Cục Giao Diện</a:t>
            </a:r>
            <a:endParaRPr lang="en-US" sz="1600" dirty="0"/>
          </a:p>
        </p:txBody>
      </p:sp>
      <p:sp>
        <p:nvSpPr>
          <p:cNvPr id="7" name="Text 4"/>
          <p:cNvSpPr/>
          <p:nvPr/>
        </p:nvSpPr>
        <p:spPr>
          <a:xfrm>
            <a:off x="457200" y="2514600"/>
            <a:ext cx="5130800" cy="1168400"/>
          </a:xfrm>
          <a:prstGeom prst="rect">
            <a:avLst/>
          </a:prstGeom>
          <a:noFill/>
          <a:ln/>
        </p:spPr>
        <p:txBody>
          <a:bodyPr wrap="square" lIns="101600" tIns="0" rIns="0" bIns="0" rtlCol="0" anchor="ctr"/>
          <a:lstStyle/>
          <a:p>
            <a:pPr algn="l" marL="222250" indent="-222250">
              <a:lnSpc>
                <a:spcPct val="120000"/>
              </a:lnSpc>
              <a:spcBef>
                <a:spcPts val="10"/>
              </a:spcBef>
              <a:buSzPct val="100000"/>
              <a:buChar char="•"/>
            </a:pPr>
            <a:r>
              <a:rPr lang="en-US" sz="1400" dirty="0">
                <a:solidFill>
                  <a:srgbClr val="333333"/>
                </a:solidFill>
                <a:latin typeface="Noto Sans SC" pitchFamily="34" charset="0"/>
                <a:ea typeface="Noto Sans SC" pitchFamily="34" charset="-122"/>
                <a:cs typeface="Noto Sans SC" pitchFamily="34" charset="-120"/>
              </a:rPr>
              <a:t>Thanh Công Cụ:</a:t>
            </a:r>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 Chứa các tác vụ thường dùng.</a:t>
            </a:r>
            <a:pPr indent="0" marL="0">
              <a:lnSpc>
                <a:spcPct val="120000"/>
              </a:lnSpc>
              <a:buNone/>
            </a:pPr>
            <a:endParaRPr lang="en-US" sz="1600" dirty="0"/>
          </a:p>
          <a:p>
            <a:pPr algn="l" marL="222250" indent="-222250">
              <a:lnSpc>
                <a:spcPct val="120000"/>
              </a:lnSpc>
              <a:spcBef>
                <a:spcPts val="10"/>
              </a:spcBef>
              <a:buSzPct val="100000"/>
              <a:buChar char="•"/>
            </a:pPr>
            <a:r>
              <a:rPr lang="en-US" sz="1400" dirty="0">
                <a:solidFill>
                  <a:srgbClr val="333333"/>
                </a:solidFill>
                <a:latin typeface="Noto Sans SC" pitchFamily="34" charset="0"/>
                <a:ea typeface="Noto Sans SC" pitchFamily="34" charset="-122"/>
                <a:cs typeface="Noto Sans SC" pitchFamily="34" charset="-120"/>
              </a:rPr>
              <a:t>Khung Project:</a:t>
            </a:r>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 Hiển thị cấu trúc thư mục.</a:t>
            </a:r>
            <a:pPr indent="0" marL="0">
              <a:lnSpc>
                <a:spcPct val="120000"/>
              </a:lnSpc>
              <a:buNone/>
            </a:pPr>
            <a:endParaRPr lang="en-US" sz="1600" dirty="0"/>
          </a:p>
          <a:p>
            <a:pPr algn="l" marL="222250" indent="-222250">
              <a:lnSpc>
                <a:spcPct val="120000"/>
              </a:lnSpc>
              <a:spcBef>
                <a:spcPts val="10"/>
              </a:spcBef>
              <a:buSzPct val="100000"/>
              <a:buChar char="•"/>
            </a:pPr>
            <a:r>
              <a:rPr lang="en-US" sz="1400" dirty="0">
                <a:solidFill>
                  <a:srgbClr val="333333"/>
                </a:solidFill>
                <a:latin typeface="Noto Sans SC" pitchFamily="34" charset="0"/>
                <a:ea typeface="Noto Sans SC" pitchFamily="34" charset="-122"/>
                <a:cs typeface="Noto Sans SC" pitchFamily="34" charset="-120"/>
              </a:rPr>
              <a:t>Trình Biên Tập:</a:t>
            </a:r>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 Nơi viết và chỉnh sửa code.</a:t>
            </a:r>
            <a:pPr indent="0" marL="0">
              <a:lnSpc>
                <a:spcPct val="120000"/>
              </a:lnSpc>
              <a:buNone/>
            </a:pPr>
            <a:endParaRPr lang="en-US" sz="1600" dirty="0"/>
          </a:p>
          <a:p>
            <a:pPr algn="l" marL="222250" indent="-222250">
              <a:lnSpc>
                <a:spcPct val="120000"/>
              </a:lnSpc>
              <a:spcBef>
                <a:spcPts val="10"/>
              </a:spcBef>
              <a:buSzPct val="100000"/>
              <a:buChar char="•"/>
            </a:pPr>
            <a:r>
              <a:rPr lang="en-US" sz="1400" dirty="0">
                <a:solidFill>
                  <a:srgbClr val="333333"/>
                </a:solidFill>
                <a:latin typeface="Noto Sans SC" pitchFamily="34" charset="0"/>
                <a:ea typeface="Noto Sans SC" pitchFamily="34" charset="-122"/>
                <a:cs typeface="Noto Sans SC" pitchFamily="34" charset="-120"/>
              </a:rPr>
              <a:t>Các Tab Phụ:</a:t>
            </a:r>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 Logcat, Debug, Terminal...</a:t>
            </a:r>
            <a:endParaRPr lang="en-US" sz="1600" dirty="0"/>
          </a:p>
        </p:txBody>
      </p:sp>
      <p:sp>
        <p:nvSpPr>
          <p:cNvPr id="8" name="Shape 5"/>
          <p:cNvSpPr/>
          <p:nvPr/>
        </p:nvSpPr>
        <p:spPr>
          <a:xfrm>
            <a:off x="254000" y="4089400"/>
            <a:ext cx="5537200" cy="2077054"/>
          </a:xfrm>
          <a:custGeom>
            <a:avLst/>
            <a:gdLst/>
            <a:ahLst/>
            <a:cxnLst/>
            <a:rect l="l" t="t" r="r" b="b"/>
            <a:pathLst>
              <a:path w="5537200" h="2077054">
                <a:moveTo>
                  <a:pt x="101594" y="0"/>
                </a:moveTo>
                <a:lnTo>
                  <a:pt x="5435606" y="0"/>
                </a:lnTo>
                <a:cubicBezTo>
                  <a:pt x="5491715" y="0"/>
                  <a:pt x="5537200" y="54698"/>
                  <a:pt x="5537200" y="122172"/>
                </a:cubicBezTo>
                <a:lnTo>
                  <a:pt x="5537200" y="1954882"/>
                </a:lnTo>
                <a:cubicBezTo>
                  <a:pt x="5537200" y="2022356"/>
                  <a:pt x="5491715" y="2077054"/>
                  <a:pt x="5435606" y="2077054"/>
                </a:cubicBezTo>
                <a:lnTo>
                  <a:pt x="101594" y="2077054"/>
                </a:lnTo>
                <a:cubicBezTo>
                  <a:pt x="45485" y="2077054"/>
                  <a:pt x="0" y="2022356"/>
                  <a:pt x="0" y="1954882"/>
                </a:cubicBezTo>
                <a:lnTo>
                  <a:pt x="0" y="122172"/>
                </a:lnTo>
                <a:cubicBezTo>
                  <a:pt x="0" y="54744"/>
                  <a:pt x="45523" y="0"/>
                  <a:pt x="101594" y="0"/>
                </a:cubicBezTo>
                <a:close/>
              </a:path>
            </a:pathLst>
          </a:custGeom>
          <a:solidFill>
            <a:srgbClr val="BACBD3"/>
          </a:solidFill>
          <a:ln/>
        </p:spPr>
      </p:sp>
      <p:sp>
        <p:nvSpPr>
          <p:cNvPr id="9" name="Shape 6"/>
          <p:cNvSpPr/>
          <p:nvPr/>
        </p:nvSpPr>
        <p:spPr>
          <a:xfrm>
            <a:off x="503238" y="4356100"/>
            <a:ext cx="200025" cy="228600"/>
          </a:xfrm>
          <a:custGeom>
            <a:avLst/>
            <a:gdLst/>
            <a:ahLst/>
            <a:cxnLst/>
            <a:rect l="l" t="t" r="r" b="b"/>
            <a:pathLst>
              <a:path w="200025" h="228600">
                <a:moveTo>
                  <a:pt x="114300" y="14288"/>
                </a:moveTo>
                <a:cubicBezTo>
                  <a:pt x="114300" y="6385"/>
                  <a:pt x="107915" y="0"/>
                  <a:pt x="100013" y="0"/>
                </a:cubicBezTo>
                <a:cubicBezTo>
                  <a:pt x="92110" y="0"/>
                  <a:pt x="85725" y="6385"/>
                  <a:pt x="85725" y="14288"/>
                </a:cubicBezTo>
                <a:lnTo>
                  <a:pt x="85725" y="108362"/>
                </a:lnTo>
                <a:lnTo>
                  <a:pt x="67241" y="89877"/>
                </a:lnTo>
                <a:cubicBezTo>
                  <a:pt x="61659" y="84296"/>
                  <a:pt x="52596" y="84296"/>
                  <a:pt x="47015" y="89877"/>
                </a:cubicBezTo>
                <a:cubicBezTo>
                  <a:pt x="41434" y="95458"/>
                  <a:pt x="41434" y="104522"/>
                  <a:pt x="47015" y="110103"/>
                </a:cubicBezTo>
                <a:lnTo>
                  <a:pt x="89877" y="152966"/>
                </a:lnTo>
                <a:cubicBezTo>
                  <a:pt x="95458" y="158547"/>
                  <a:pt x="104522" y="158547"/>
                  <a:pt x="110103" y="152966"/>
                </a:cubicBezTo>
                <a:lnTo>
                  <a:pt x="152966" y="110103"/>
                </a:lnTo>
                <a:cubicBezTo>
                  <a:pt x="158547" y="104522"/>
                  <a:pt x="158547" y="95458"/>
                  <a:pt x="152966" y="89877"/>
                </a:cubicBezTo>
                <a:cubicBezTo>
                  <a:pt x="147384" y="84296"/>
                  <a:pt x="138321" y="84296"/>
                  <a:pt x="132740" y="89877"/>
                </a:cubicBezTo>
                <a:lnTo>
                  <a:pt x="114300" y="108362"/>
                </a:lnTo>
                <a:lnTo>
                  <a:pt x="114300" y="14288"/>
                </a:lnTo>
                <a:close/>
                <a:moveTo>
                  <a:pt x="28575" y="142875"/>
                </a:moveTo>
                <a:cubicBezTo>
                  <a:pt x="12814" y="142875"/>
                  <a:pt x="0" y="155689"/>
                  <a:pt x="0" y="171450"/>
                </a:cubicBezTo>
                <a:lnTo>
                  <a:pt x="0" y="185738"/>
                </a:lnTo>
                <a:cubicBezTo>
                  <a:pt x="0" y="201498"/>
                  <a:pt x="12814" y="214313"/>
                  <a:pt x="28575" y="214313"/>
                </a:cubicBezTo>
                <a:lnTo>
                  <a:pt x="171450" y="214313"/>
                </a:lnTo>
                <a:cubicBezTo>
                  <a:pt x="187211" y="214313"/>
                  <a:pt x="200025" y="201498"/>
                  <a:pt x="200025" y="185738"/>
                </a:cubicBezTo>
                <a:lnTo>
                  <a:pt x="200025" y="171450"/>
                </a:lnTo>
                <a:cubicBezTo>
                  <a:pt x="200025" y="155689"/>
                  <a:pt x="187211" y="142875"/>
                  <a:pt x="171450" y="142875"/>
                </a:cubicBezTo>
                <a:lnTo>
                  <a:pt x="150510" y="142875"/>
                </a:lnTo>
                <a:lnTo>
                  <a:pt x="125239" y="168146"/>
                </a:lnTo>
                <a:cubicBezTo>
                  <a:pt x="111309" y="182076"/>
                  <a:pt x="88672" y="182076"/>
                  <a:pt x="74741" y="168146"/>
                </a:cubicBezTo>
                <a:lnTo>
                  <a:pt x="49515" y="142875"/>
                </a:lnTo>
                <a:lnTo>
                  <a:pt x="28575" y="142875"/>
                </a:lnTo>
                <a:close/>
                <a:moveTo>
                  <a:pt x="164306" y="167878"/>
                </a:moveTo>
                <a:cubicBezTo>
                  <a:pt x="170220" y="167878"/>
                  <a:pt x="175022" y="172680"/>
                  <a:pt x="175022" y="178594"/>
                </a:cubicBezTo>
                <a:cubicBezTo>
                  <a:pt x="175022" y="184508"/>
                  <a:pt x="170220" y="189309"/>
                  <a:pt x="164306" y="189309"/>
                </a:cubicBezTo>
                <a:cubicBezTo>
                  <a:pt x="158392" y="189309"/>
                  <a:pt x="153591" y="184508"/>
                  <a:pt x="153591" y="178594"/>
                </a:cubicBezTo>
                <a:cubicBezTo>
                  <a:pt x="153591" y="172680"/>
                  <a:pt x="158392" y="167878"/>
                  <a:pt x="164306" y="167878"/>
                </a:cubicBezTo>
                <a:close/>
              </a:path>
            </a:pathLst>
          </a:custGeom>
          <a:solidFill>
            <a:srgbClr val="F9B79B"/>
          </a:solidFill>
          <a:ln/>
        </p:spPr>
      </p:sp>
      <p:sp>
        <p:nvSpPr>
          <p:cNvPr id="10" name="Text 7"/>
          <p:cNvSpPr/>
          <p:nvPr/>
        </p:nvSpPr>
        <p:spPr>
          <a:xfrm>
            <a:off x="901700" y="4292600"/>
            <a:ext cx="4686300" cy="355600"/>
          </a:xfrm>
          <a:prstGeom prst="rect">
            <a:avLst/>
          </a:prstGeom>
          <a:noFill/>
          <a:ln/>
        </p:spPr>
        <p:txBody>
          <a:bodyPr wrap="square" lIns="0" tIns="0" rIns="0" bIns="0" rtlCol="0" anchor="ctr"/>
          <a:lstStyle/>
          <a:p>
            <a:pPr algn="l" indent="0" marL="0">
              <a:lnSpc>
                <a:spcPct val="130000"/>
              </a:lnSpc>
              <a:buNone/>
            </a:pPr>
            <a:r>
              <a:rPr lang="en-US" sz="1800" dirty="0">
                <a:solidFill>
                  <a:srgbClr val="333333"/>
                </a:solidFill>
                <a:latin typeface="Noto Sans SC" pitchFamily="34" charset="0"/>
                <a:ea typeface="Noto Sans SC" pitchFamily="34" charset="-122"/>
                <a:cs typeface="Noto Sans SC" pitchFamily="34" charset="-120"/>
              </a:rPr>
              <a:t>Quy Trình Cài Đặt</a:t>
            </a:r>
            <a:endParaRPr lang="en-US" sz="1600" dirty="0"/>
          </a:p>
        </p:txBody>
      </p:sp>
      <p:sp>
        <p:nvSpPr>
          <p:cNvPr id="11" name="Text 8"/>
          <p:cNvSpPr/>
          <p:nvPr/>
        </p:nvSpPr>
        <p:spPr>
          <a:xfrm>
            <a:off x="457200" y="5080000"/>
            <a:ext cx="5130800" cy="863600"/>
          </a:xfrm>
          <a:prstGeom prst="rect">
            <a:avLst/>
          </a:prstGeom>
          <a:noFill/>
          <a:ln/>
        </p:spPr>
        <p:txBody>
          <a:bodyPr wrap="square" lIns="101600" tIns="0" rIns="0" bIns="0" rtlCol="0" anchor="ctr"/>
          <a:lstStyle/>
          <a:p>
            <a:pPr marL="222250" indent="-222250">
              <a:lnSpc>
                <a:spcPct val="120000"/>
              </a:lnSpc>
              <a:spcBef>
                <a:spcPts val="10"/>
              </a:spcBef>
              <a:buSzPct val="100000"/>
              <a:buFont typeface="+mj-lt"/>
              <a:buAutoNum type="arabicPeriod" startAt="1"/>
            </a:pPr>
            <a:r>
              <a:rPr lang="en-US" sz="1400" dirty="0">
                <a:solidFill>
                  <a:srgbClr val="333333"/>
                </a:solidFill>
                <a:latin typeface="Noto Sans SC" pitchFamily="34" charset="0"/>
                <a:ea typeface="Noto Sans SC" pitchFamily="34" charset="-122"/>
                <a:cs typeface="Noto Sans SC" pitchFamily="34" charset="-120"/>
              </a:rPr>
              <a:t>Tải Android Studio từ </a:t>
            </a:r>
            <a:pPr indent="0" marL="0">
              <a:lnSpc>
                <a:spcPct val="120000"/>
              </a:lnSpc>
              <a:buNone/>
            </a:pPr>
            <a:r>
              <a:rPr lang="en-US" sz="1400" dirty="0">
                <a:solidFill>
                  <a:srgbClr val="333333"/>
                </a:solidFill>
                <a:highlight>
                  <a:srgbClr val="F9B79B">
                    <a:alpha val="66700"/>
                  </a:srgbClr>
                </a:highlight>
                <a:latin typeface="Noto Sans SC" pitchFamily="34" charset="0"/>
                <a:ea typeface="Noto Sans SC" pitchFamily="34" charset="-122"/>
                <a:cs typeface="Noto Sans SC" pitchFamily="34" charset="-120"/>
              </a:rPr>
              <a:t>developer.android.com </a:t>
            </a:r>
            <a:pPr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a:t>
            </a:r>
            <a:endParaRPr lang="en-US" sz="1600" dirty="0"/>
          </a:p>
          <a:p>
            <a:pPr marL="222250" indent="-222250">
              <a:lnSpc>
                <a:spcPct val="120000"/>
              </a:lnSpc>
              <a:spcBef>
                <a:spcPts val="10"/>
              </a:spcBef>
              <a:buSzPct val="100000"/>
              <a:buFont typeface="+mj-lt"/>
              <a:buAutoNum type="arabicPeriod" startAt="1"/>
            </a:pPr>
            <a:r>
              <a:rPr lang="en-US" sz="1400" dirty="0">
                <a:solidFill>
                  <a:srgbClr val="333333"/>
                </a:solidFill>
                <a:latin typeface="Noto Sans SC" pitchFamily="34" charset="0"/>
                <a:ea typeface="Noto Sans SC" pitchFamily="34" charset="-122"/>
                <a:cs typeface="Noto Sans SC" pitchFamily="34" charset="-120"/>
              </a:rPr>
              <a:t>Chạy file cài đặt và làm theo hướng dẫn.</a:t>
            </a:r>
            <a:endParaRPr lang="en-US" sz="1600" dirty="0"/>
          </a:p>
          <a:p>
            <a:pPr marL="222250" indent="-222250">
              <a:lnSpc>
                <a:spcPct val="120000"/>
              </a:lnSpc>
              <a:spcBef>
                <a:spcPts val="10"/>
              </a:spcBef>
              <a:buSzPct val="100000"/>
              <a:buFont typeface="+mj-lt"/>
              <a:buAutoNum type="arabicPeriod" startAt="1"/>
            </a:pPr>
            <a:r>
              <a:rPr lang="en-US" sz="1400" dirty="0">
                <a:solidFill>
                  <a:srgbClr val="333333"/>
                </a:solidFill>
                <a:latin typeface="Noto Sans SC" pitchFamily="34" charset="0"/>
                <a:ea typeface="Noto Sans SC" pitchFamily="34" charset="-122"/>
                <a:cs typeface="Noto Sans SC" pitchFamily="34" charset="-120"/>
              </a:rPr>
              <a:t>Cài đặt SDK và các công cụ cần thiết.</a:t>
            </a:r>
            <a:endParaRPr lang="en-US" sz="1600" dirty="0"/>
          </a:p>
          <a:p>
            <a:pPr marL="222250" indent="-222250">
              <a:lnSpc>
                <a:spcPct val="120000"/>
              </a:lnSpc>
              <a:spcBef>
                <a:spcPts val="10"/>
              </a:spcBef>
              <a:buSzPct val="100000"/>
              <a:buFont typeface="+mj-lt"/>
              <a:buAutoNum type="arabicPeriod" startAt="1"/>
            </a:pPr>
            <a:r>
              <a:rPr lang="en-US" sz="1400" dirty="0">
                <a:solidFill>
                  <a:srgbClr val="333333"/>
                </a:solidFill>
                <a:latin typeface="Noto Sans SC" pitchFamily="34" charset="0"/>
                <a:ea typeface="Noto Sans SC" pitchFamily="34" charset="-122"/>
                <a:cs typeface="Noto Sans SC" pitchFamily="34" charset="-120"/>
              </a:rPr>
              <a:t>Tham khảo 1.1 P: Android Studio and Hello World</a:t>
            </a:r>
            <a:endParaRPr lang="en-US" sz="1600" dirty="0"/>
          </a:p>
          <a:p>
            <a:pPr indent="0" marL="0">
              <a:lnSpc>
                <a:spcPct val="120000"/>
              </a:lnSpc>
              <a:buNone/>
            </a:pPr>
            <a:endParaRPr lang="en-US" sz="1600" dirty="0"/>
          </a:p>
        </p:txBody>
      </p:sp>
      <p:pic>
        <p:nvPicPr>
          <p:cNvPr id="12" name="Image 1" descr="https://kimi-img.moonshot.cn/pub/slides/25-09-17-03:21:56-d34rhl54335f364l9e70.png">    </p:cNvPr>
          <p:cNvPicPr>
            <a:picLocks noChangeAspect="1"/>
          </p:cNvPicPr>
          <p:nvPr/>
        </p:nvPicPr>
        <p:blipFill>
          <a:blip r:embed="rId2"/>
          <a:stretch>
            <a:fillRect/>
          </a:stretch>
        </p:blipFill>
        <p:spPr>
          <a:xfrm>
            <a:off x="6120447" y="1202083"/>
            <a:ext cx="5808451" cy="44855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slides_tmpl/image/25-09-04-14:58:34-d2sjh6m1bb2p4onbq9b0.jpg">    </p:cNvPr>
          <p:cNvPicPr>
            <a:picLocks noChangeAspect="1"/>
          </p:cNvPicPr>
          <p:nvPr/>
        </p:nvPicPr>
        <p:blipFill>
          <a:blip r:embed="rId1"/>
          <a:stretch>
            <a:fillRect/>
          </a:stretch>
        </p:blipFill>
        <p:spPr>
          <a:xfrm>
            <a:off x="0" y="0"/>
            <a:ext cx="12191365" cy="6858000"/>
          </a:xfrm>
          <a:prstGeom prst="rect">
            <a:avLst/>
          </a:prstGeom>
        </p:spPr>
      </p:pic>
      <p:pic>
        <p:nvPicPr>
          <p:cNvPr id="3" name="Image 1" descr="https://kimi-img.moonshot.cn/pub/slides/slides_tmpl/image/25-09-04-14:58:39-d2sjh7u1bb2p4onbq9d0.jpg">    </p:cNvPr>
          <p:cNvPicPr>
            <a:picLocks noChangeAspect="1"/>
          </p:cNvPicPr>
          <p:nvPr/>
        </p:nvPicPr>
        <p:blipFill>
          <a:blip r:embed="rId2">
            <a:alphaModFix amt="90000"/>
          </a:blip>
          <a:srcRect l="0" r="0" t="19005" b="17569"/>
          <a:stretch/>
        </p:blipFill>
        <p:spPr>
          <a:xfrm>
            <a:off x="0" y="1316990"/>
            <a:ext cx="12192000" cy="4321175"/>
          </a:xfrm>
          <a:prstGeom prst="rect">
            <a:avLst/>
          </a:prstGeom>
        </p:spPr>
      </p:pic>
      <p:sp>
        <p:nvSpPr>
          <p:cNvPr id="4" name="Text 0"/>
          <p:cNvSpPr/>
          <p:nvPr/>
        </p:nvSpPr>
        <p:spPr>
          <a:xfrm>
            <a:off x="1367155" y="3056890"/>
            <a:ext cx="9475470" cy="1066800"/>
          </a:xfrm>
          <a:prstGeom prst="rect">
            <a:avLst/>
          </a:prstGeom>
          <a:noFill/>
          <a:ln/>
        </p:spPr>
        <p:txBody>
          <a:bodyPr wrap="square" lIns="91440" tIns="45720" rIns="91440" bIns="45720" rtlCol="0" anchor="t"/>
          <a:lstStyle/>
          <a:p>
            <a:pPr algn="ctr" indent="0" marL="0">
              <a:lnSpc>
                <a:spcPct val="110000"/>
              </a:lnSpc>
              <a:buNone/>
            </a:pPr>
            <a:r>
              <a:rPr lang="en-US" sz="4800" dirty="0">
                <a:solidFill>
                  <a:srgbClr val="333F4F"/>
                </a:solidFill>
                <a:latin typeface="MiSans" pitchFamily="34" charset="0"/>
                <a:ea typeface="MiSans" pitchFamily="34" charset="-122"/>
                <a:cs typeface="MiSans" pitchFamily="34" charset="-120"/>
              </a:rPr>
              <a:t>Tạo dự án đầu tiên</a:t>
            </a:r>
            <a:endParaRPr lang="en-US" sz="1600" dirty="0"/>
          </a:p>
        </p:txBody>
      </p:sp>
      <p:sp>
        <p:nvSpPr>
          <p:cNvPr id="5" name="Text 1"/>
          <p:cNvSpPr/>
          <p:nvPr/>
        </p:nvSpPr>
        <p:spPr>
          <a:xfrm>
            <a:off x="5107305" y="1623060"/>
            <a:ext cx="2824344" cy="1066800"/>
          </a:xfrm>
          <a:prstGeom prst="rect">
            <a:avLst/>
          </a:prstGeom>
          <a:noFill/>
          <a:ln/>
        </p:spPr>
        <p:txBody>
          <a:bodyPr wrap="square" lIns="91440" tIns="45720" rIns="91440" bIns="45720" rtlCol="0" anchor="t"/>
          <a:lstStyle/>
          <a:p>
            <a:pPr algn="l" indent="0" marL="0">
              <a:lnSpc>
                <a:spcPct val="100000"/>
              </a:lnSpc>
              <a:buNone/>
            </a:pPr>
            <a:r>
              <a:rPr lang="en-US" sz="9600" dirty="0">
                <a:solidFill>
                  <a:srgbClr val="44546A"/>
                </a:solidFill>
                <a:latin typeface="MiSans" pitchFamily="34" charset="0"/>
                <a:ea typeface="MiSans" pitchFamily="34" charset="-122"/>
                <a:cs typeface="MiSans" pitchFamily="34" charset="-120"/>
              </a:rPr>
              <a:t>02</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4F6"/>
        </a:solidFill>
      </p:bgPr>
    </p:bg>
    <p:spTree>
      <p:nvGrpSpPr>
        <p:cNvPr id="1" name=""/>
        <p:cNvGrpSpPr/>
        <p:nvPr/>
      </p:nvGrpSpPr>
      <p:grpSpPr>
        <a:xfrm>
          <a:off x="0" y="0"/>
          <a:ext cx="0" cy="0"/>
          <a:chOff x="0" y="0"/>
          <a:chExt cx="0" cy="0"/>
        </a:xfrm>
      </p:grpSpPr>
      <p:pic>
        <p:nvPicPr>
          <p:cNvPr id="2" name="Image 0" descr="https://kimi-img.moonshot.cn/pub/slides/slides_tmpl/image/25-09-04-14:58:41-d2sjh8e1bb2p4onbq9f0.jpg">    </p:cNvPr>
          <p:cNvPicPr>
            <a:picLocks noChangeAspect="1"/>
          </p:cNvPicPr>
          <p:nvPr/>
        </p:nvPicPr>
        <p:blipFill>
          <a:blip r:embed="rId1"/>
          <a:stretch>
            <a:fillRect/>
          </a:stretch>
        </p:blipFill>
        <p:spPr>
          <a:xfrm>
            <a:off x="-29845" y="-15875"/>
            <a:ext cx="12300585" cy="6921500"/>
          </a:xfrm>
          <a:prstGeom prst="rect">
            <a:avLst/>
          </a:prstGeom>
        </p:spPr>
      </p:pic>
      <p:sp>
        <p:nvSpPr>
          <p:cNvPr id="3" name="Text 0"/>
          <p:cNvSpPr/>
          <p:nvPr/>
        </p:nvSpPr>
        <p:spPr>
          <a:xfrm>
            <a:off x="0" y="660400"/>
            <a:ext cx="12192000" cy="508000"/>
          </a:xfrm>
          <a:prstGeom prst="rect">
            <a:avLst/>
          </a:prstGeom>
          <a:noFill/>
          <a:ln/>
        </p:spPr>
        <p:txBody>
          <a:bodyPr wrap="square" lIns="0" tIns="0" rIns="0" bIns="0" rtlCol="0" anchor="ctr"/>
          <a:lstStyle/>
          <a:p>
            <a:pPr algn="ctr" indent="0" marL="0">
              <a:lnSpc>
                <a:spcPct val="90000"/>
              </a:lnSpc>
              <a:buNone/>
            </a:pPr>
            <a:r>
              <a:rPr lang="en-US" sz="3600" dirty="0">
                <a:solidFill>
                  <a:srgbClr val="333333"/>
                </a:solidFill>
                <a:latin typeface="Noto Sans SC" pitchFamily="34" charset="0"/>
                <a:ea typeface="Noto Sans SC" pitchFamily="34" charset="-122"/>
                <a:cs typeface="Noto Sans SC" pitchFamily="34" charset="-120"/>
              </a:rPr>
              <a:t>Khởi Tạo Project &amp; Chọn Mẫu</a:t>
            </a:r>
            <a:endParaRPr lang="en-US" sz="1600" dirty="0"/>
          </a:p>
        </p:txBody>
      </p:sp>
      <p:sp>
        <p:nvSpPr>
          <p:cNvPr id="4" name="Shape 1"/>
          <p:cNvSpPr/>
          <p:nvPr/>
        </p:nvSpPr>
        <p:spPr>
          <a:xfrm>
            <a:off x="254000" y="1574800"/>
            <a:ext cx="4719849" cy="4622800"/>
          </a:xfrm>
          <a:custGeom>
            <a:avLst/>
            <a:gdLst/>
            <a:ahLst/>
            <a:cxnLst/>
            <a:rect l="l" t="t" r="r" b="b"/>
            <a:pathLst>
              <a:path w="4719849" h="4622800">
                <a:moveTo>
                  <a:pt x="113720" y="0"/>
                </a:moveTo>
                <a:lnTo>
                  <a:pt x="4606129" y="0"/>
                </a:lnTo>
                <a:cubicBezTo>
                  <a:pt x="4668935" y="0"/>
                  <a:pt x="4719849" y="75254"/>
                  <a:pt x="4719849" y="168085"/>
                </a:cubicBezTo>
                <a:lnTo>
                  <a:pt x="4719849" y="4454715"/>
                </a:lnTo>
                <a:cubicBezTo>
                  <a:pt x="4719849" y="4547546"/>
                  <a:pt x="4668935" y="4622800"/>
                  <a:pt x="4606129" y="4622800"/>
                </a:cubicBezTo>
                <a:lnTo>
                  <a:pt x="113720" y="4622800"/>
                </a:lnTo>
                <a:cubicBezTo>
                  <a:pt x="50914" y="4622800"/>
                  <a:pt x="0" y="4547546"/>
                  <a:pt x="0" y="4454715"/>
                </a:cubicBezTo>
                <a:lnTo>
                  <a:pt x="0" y="168085"/>
                </a:lnTo>
                <a:cubicBezTo>
                  <a:pt x="0" y="75316"/>
                  <a:pt x="50956" y="0"/>
                  <a:pt x="113720" y="0"/>
                </a:cubicBezTo>
                <a:close/>
              </a:path>
            </a:pathLst>
          </a:custGeom>
          <a:solidFill>
            <a:srgbClr val="D7E3E9">
              <a:alpha val="66667"/>
            </a:srgbClr>
          </a:solidFill>
          <a:ln/>
          <a:effectLst>
            <a:outerShdw sx="100000" sy="100000" kx="0" ky="0" algn="bl" rotWithShape="0" blurRad="76200" dist="50800" dir="5400000">
              <a:srgbClr val="000000">
                <a:alpha val="10196"/>
              </a:srgbClr>
            </a:outerShdw>
          </a:effectLst>
        </p:spPr>
      </p:sp>
      <p:sp>
        <p:nvSpPr>
          <p:cNvPr id="5" name="Shape 2"/>
          <p:cNvSpPr/>
          <p:nvPr/>
        </p:nvSpPr>
        <p:spPr>
          <a:xfrm>
            <a:off x="1955403" y="18796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F9B79B"/>
          </a:solidFill>
          <a:ln/>
        </p:spPr>
      </p:sp>
      <p:sp>
        <p:nvSpPr>
          <p:cNvPr id="6" name="Text 3"/>
          <p:cNvSpPr/>
          <p:nvPr/>
        </p:nvSpPr>
        <p:spPr>
          <a:xfrm>
            <a:off x="1701403" y="1879600"/>
            <a:ext cx="1320800" cy="812800"/>
          </a:xfrm>
          <a:prstGeom prst="rect">
            <a:avLst/>
          </a:prstGeom>
          <a:noFill/>
          <a:ln/>
        </p:spPr>
        <p:txBody>
          <a:bodyPr wrap="square" lIns="0" tIns="0" rIns="0" bIns="0" rtlCol="0" anchor="ctr"/>
          <a:lstStyle/>
          <a:p>
            <a:pPr algn="ctr" indent="0" marL="0">
              <a:lnSpc>
                <a:spcPct val="110000"/>
              </a:lnSpc>
              <a:buNone/>
            </a:pPr>
            <a:r>
              <a:rPr lang="en-US" sz="2400" b="1" dirty="0">
                <a:solidFill>
                  <a:srgbClr val="FFFFFF"/>
                </a:solidFill>
                <a:latin typeface="Noto Sans SC" pitchFamily="34" charset="0"/>
                <a:ea typeface="Noto Sans SC" pitchFamily="34" charset="-122"/>
                <a:cs typeface="Noto Sans SC" pitchFamily="34" charset="-120"/>
              </a:rPr>
              <a:t>1</a:t>
            </a:r>
            <a:endParaRPr lang="en-US" sz="1600" dirty="0"/>
          </a:p>
        </p:txBody>
      </p:sp>
      <p:sp>
        <p:nvSpPr>
          <p:cNvPr id="7" name="Text 4"/>
          <p:cNvSpPr/>
          <p:nvPr/>
        </p:nvSpPr>
        <p:spPr>
          <a:xfrm>
            <a:off x="1116806" y="2835275"/>
            <a:ext cx="2489200" cy="355600"/>
          </a:xfrm>
          <a:prstGeom prst="rect">
            <a:avLst/>
          </a:prstGeom>
          <a:noFill/>
          <a:ln/>
        </p:spPr>
        <p:txBody>
          <a:bodyPr wrap="square" lIns="0" tIns="0" rIns="0" bIns="0" rtlCol="0" anchor="ctr"/>
          <a:lstStyle/>
          <a:p>
            <a:pPr algn="ctr" indent="0" marL="0">
              <a:lnSpc>
                <a:spcPct val="120000"/>
              </a:lnSpc>
              <a:buNone/>
            </a:pPr>
            <a:r>
              <a:rPr lang="en-US" sz="2000" b="1" dirty="0">
                <a:solidFill>
                  <a:srgbClr val="333333"/>
                </a:solidFill>
                <a:latin typeface="Noto Sans SC" pitchFamily="34" charset="0"/>
                <a:ea typeface="Noto Sans SC" pitchFamily="34" charset="-122"/>
                <a:cs typeface="Noto Sans SC" pitchFamily="34" charset="-120"/>
              </a:rPr>
              <a:t>Tạo Project Mới</a:t>
            </a:r>
            <a:endParaRPr lang="en-US" sz="1600" dirty="0"/>
          </a:p>
        </p:txBody>
      </p:sp>
      <p:sp>
        <p:nvSpPr>
          <p:cNvPr id="8" name="Text 5"/>
          <p:cNvSpPr/>
          <p:nvPr/>
        </p:nvSpPr>
        <p:spPr>
          <a:xfrm>
            <a:off x="558403" y="3292475"/>
            <a:ext cx="3606800" cy="762000"/>
          </a:xfrm>
          <a:prstGeom prst="rect">
            <a:avLst/>
          </a:prstGeom>
          <a:noFill/>
          <a:ln/>
        </p:spPr>
        <p:txBody>
          <a:bodyPr wrap="square" lIns="0" tIns="0" rIns="0" bIns="0" rtlCol="0" anchor="ctr"/>
          <a:lstStyle/>
          <a:p>
            <a:pPr algn="ctr"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Chọn </a:t>
            </a:r>
            <a:pPr algn="ctr" indent="0" marL="0">
              <a:lnSpc>
                <a:spcPct val="120000"/>
              </a:lnSpc>
              <a:buNone/>
            </a:pPr>
            <a:r>
              <a:rPr lang="en-US" sz="1400" b="1" dirty="0">
                <a:solidFill>
                  <a:srgbClr val="333333"/>
                </a:solidFill>
                <a:latin typeface="Noto Sans SC" pitchFamily="34" charset="0"/>
                <a:ea typeface="Noto Sans SC" pitchFamily="34" charset="-122"/>
                <a:cs typeface="Noto Sans SC" pitchFamily="34" charset="-120"/>
              </a:rPr>
              <a:t>File &gt; New &gt; New Project</a:t>
            </a:r>
            <a:pPr algn="ctr"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 Điền thông tin cơ bản: tên ứng dụng, package name, vị trí lưu, và ngôn ngữ (Java/Kotlin).</a:t>
            </a:r>
            <a:endParaRPr lang="en-US" sz="1600" dirty="0"/>
          </a:p>
        </p:txBody>
      </p:sp>
      <p:sp>
        <p:nvSpPr>
          <p:cNvPr id="9" name="Text 6"/>
          <p:cNvSpPr/>
          <p:nvPr/>
        </p:nvSpPr>
        <p:spPr>
          <a:xfrm>
            <a:off x="5056577" y="3581400"/>
            <a:ext cx="508000" cy="609600"/>
          </a:xfrm>
          <a:prstGeom prst="rect">
            <a:avLst/>
          </a:prstGeom>
          <a:noFill/>
          <a:ln/>
        </p:spPr>
        <p:txBody>
          <a:bodyPr wrap="square" lIns="0" tIns="0" rIns="0" bIns="0" rtlCol="0" anchor="ctr"/>
          <a:lstStyle/>
          <a:p>
            <a:pPr indent="0" marL="0">
              <a:lnSpc>
                <a:spcPct val="80000"/>
              </a:lnSpc>
              <a:buNone/>
            </a:pPr>
            <a:r>
              <a:rPr lang="en-US" sz="3400" dirty="0">
                <a:solidFill>
                  <a:srgbClr val="BACBD3"/>
                </a:solidFill>
                <a:latin typeface="Noto Sans SC" pitchFamily="34" charset="0"/>
                <a:ea typeface="Noto Sans SC" pitchFamily="34" charset="-122"/>
                <a:cs typeface="Noto Sans SC" pitchFamily="34" charset="-120"/>
              </a:rPr>
              <a:t>→</a:t>
            </a:r>
            <a:endParaRPr lang="en-US" sz="1600" dirty="0"/>
          </a:p>
        </p:txBody>
      </p:sp>
      <p:sp>
        <p:nvSpPr>
          <p:cNvPr id="10" name="Shape 7"/>
          <p:cNvSpPr/>
          <p:nvPr/>
        </p:nvSpPr>
        <p:spPr>
          <a:xfrm>
            <a:off x="5647928" y="1574800"/>
            <a:ext cx="6286500" cy="4622800"/>
          </a:xfrm>
          <a:custGeom>
            <a:avLst/>
            <a:gdLst/>
            <a:ahLst/>
            <a:cxnLst/>
            <a:rect l="l" t="t" r="r" b="b"/>
            <a:pathLst>
              <a:path w="6286500" h="4622800">
                <a:moveTo>
                  <a:pt x="101609" y="0"/>
                </a:moveTo>
                <a:lnTo>
                  <a:pt x="6184891" y="0"/>
                </a:lnTo>
                <a:cubicBezTo>
                  <a:pt x="6241008" y="0"/>
                  <a:pt x="6286500" y="45492"/>
                  <a:pt x="6286500" y="101609"/>
                </a:cubicBezTo>
                <a:lnTo>
                  <a:pt x="6286500" y="4521191"/>
                </a:lnTo>
                <a:cubicBezTo>
                  <a:pt x="6286500" y="4577308"/>
                  <a:pt x="6241008" y="4622800"/>
                  <a:pt x="6184891" y="4622800"/>
                </a:cubicBezTo>
                <a:lnTo>
                  <a:pt x="101609" y="4622800"/>
                </a:lnTo>
                <a:cubicBezTo>
                  <a:pt x="45492" y="4622800"/>
                  <a:pt x="0" y="4577308"/>
                  <a:pt x="0" y="4521191"/>
                </a:cubicBezTo>
                <a:lnTo>
                  <a:pt x="0" y="101609"/>
                </a:lnTo>
                <a:cubicBezTo>
                  <a:pt x="0" y="45492"/>
                  <a:pt x="45492" y="0"/>
                  <a:pt x="101609" y="0"/>
                </a:cubicBezTo>
                <a:close/>
              </a:path>
            </a:pathLst>
          </a:custGeom>
          <a:solidFill>
            <a:srgbClr val="BACBD3"/>
          </a:solidFill>
          <a:ln/>
          <a:effectLst>
            <a:outerShdw sx="100000" sy="100000" kx="0" ky="0" algn="bl" rotWithShape="0" blurRad="76200" dist="50800" dir="5400000">
              <a:srgbClr val="000000">
                <a:alpha val="10196"/>
              </a:srgbClr>
            </a:outerShdw>
          </a:effectLst>
        </p:spPr>
      </p:sp>
      <p:sp>
        <p:nvSpPr>
          <p:cNvPr id="11" name="Shape 8"/>
          <p:cNvSpPr/>
          <p:nvPr/>
        </p:nvSpPr>
        <p:spPr>
          <a:xfrm>
            <a:off x="8386564" y="18796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F9B79B"/>
          </a:solidFill>
          <a:ln/>
        </p:spPr>
      </p:sp>
      <p:sp>
        <p:nvSpPr>
          <p:cNvPr id="12" name="Text 9"/>
          <p:cNvSpPr/>
          <p:nvPr/>
        </p:nvSpPr>
        <p:spPr>
          <a:xfrm>
            <a:off x="8132564" y="1879600"/>
            <a:ext cx="1320800" cy="812800"/>
          </a:xfrm>
          <a:prstGeom prst="rect">
            <a:avLst/>
          </a:prstGeom>
          <a:noFill/>
          <a:ln/>
        </p:spPr>
        <p:txBody>
          <a:bodyPr wrap="square" lIns="0" tIns="0" rIns="0" bIns="0" rtlCol="0" anchor="ctr"/>
          <a:lstStyle/>
          <a:p>
            <a:pPr algn="ctr" indent="0" marL="0">
              <a:lnSpc>
                <a:spcPct val="110000"/>
              </a:lnSpc>
              <a:buNone/>
            </a:pPr>
            <a:r>
              <a:rPr lang="en-US" sz="2400" dirty="0">
                <a:solidFill>
                  <a:srgbClr val="FFFFFF"/>
                </a:solidFill>
                <a:latin typeface="Noto Sans SC" pitchFamily="34" charset="0"/>
                <a:ea typeface="Noto Sans SC" pitchFamily="34" charset="-122"/>
                <a:cs typeface="Noto Sans SC" pitchFamily="34" charset="-120"/>
              </a:rPr>
              <a:t>2</a:t>
            </a:r>
            <a:endParaRPr lang="en-US" sz="1600" dirty="0"/>
          </a:p>
        </p:txBody>
      </p:sp>
      <p:sp>
        <p:nvSpPr>
          <p:cNvPr id="13" name="Text 10"/>
          <p:cNvSpPr/>
          <p:nvPr/>
        </p:nvSpPr>
        <p:spPr>
          <a:xfrm>
            <a:off x="7385844" y="2844800"/>
            <a:ext cx="2819400" cy="355600"/>
          </a:xfrm>
          <a:prstGeom prst="rect">
            <a:avLst/>
          </a:prstGeom>
          <a:noFill/>
          <a:ln/>
        </p:spPr>
        <p:txBody>
          <a:bodyPr wrap="square" lIns="0" tIns="0" rIns="0" bIns="0" rtlCol="0" anchor="ctr"/>
          <a:lstStyle/>
          <a:p>
            <a:pPr algn="ctr" indent="0" marL="0">
              <a:lnSpc>
                <a:spcPct val="120000"/>
              </a:lnSpc>
              <a:buNone/>
            </a:pPr>
            <a:r>
              <a:rPr lang="en-US" sz="2000" dirty="0">
                <a:solidFill>
                  <a:srgbClr val="333333"/>
                </a:solidFill>
                <a:latin typeface="Noto Sans SC" pitchFamily="34" charset="0"/>
                <a:ea typeface="Noto Sans SC" pitchFamily="34" charset="-122"/>
                <a:cs typeface="Noto Sans SC" pitchFamily="34" charset="-120"/>
              </a:rPr>
              <a:t>Chọn Mẫu Activity</a:t>
            </a:r>
            <a:endParaRPr lang="en-US" sz="1600" dirty="0"/>
          </a:p>
        </p:txBody>
      </p:sp>
      <p:sp>
        <p:nvSpPr>
          <p:cNvPr id="14" name="Text 11"/>
          <p:cNvSpPr/>
          <p:nvPr/>
        </p:nvSpPr>
        <p:spPr>
          <a:xfrm>
            <a:off x="5952728" y="3302000"/>
            <a:ext cx="5676900" cy="762000"/>
          </a:xfrm>
          <a:prstGeom prst="rect">
            <a:avLst/>
          </a:prstGeom>
          <a:noFill/>
          <a:ln/>
        </p:spPr>
        <p:txBody>
          <a:bodyPr wrap="square" lIns="0" tIns="0" rIns="0" bIns="0" rtlCol="0" anchor="ctr"/>
          <a:lstStyle/>
          <a:p>
            <a:pPr algn="ctr"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Android Studio cung cấp nhiều mẫu (template) để bắt đầu. Đối với người mới, </a:t>
            </a:r>
            <a:pPr algn="ctr" indent="0" marL="0">
              <a:lnSpc>
                <a:spcPct val="120000"/>
              </a:lnSpc>
              <a:buNone/>
            </a:pPr>
            <a:r>
              <a:rPr lang="en-US" sz="1400" dirty="0">
                <a:solidFill>
                  <a:srgbClr val="333333"/>
                </a:solidFill>
                <a:highlight>
                  <a:srgbClr val="F9B79B">
                    <a:alpha val="66667"/>
                  </a:srgbClr>
                </a:highlight>
                <a:latin typeface="Noto Sans SC" pitchFamily="34" charset="0"/>
                <a:ea typeface="Noto Sans SC" pitchFamily="34" charset="-122"/>
                <a:cs typeface="Noto Sans SC" pitchFamily="34" charset="-120"/>
              </a:rPr>
              <a:t> Empty Activity </a:t>
            </a:r>
            <a:pPr algn="ctr"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 là lựa chọn tốt nhất để dễ dàng kiểm soát và học cách thức hoạt động từ đầu.</a:t>
            </a:r>
            <a:endParaRPr lang="en-US" sz="1600" dirty="0"/>
          </a:p>
        </p:txBody>
      </p:sp>
      <p:pic>
        <p:nvPicPr>
          <p:cNvPr id="15" name="Image 1" descr="https://kimi-web-img.moonshot.cn/img/img2023.cnblogs.com/c2acb01b4e5fb317c0f85c99d6e9bc91546a51cc.png">    </p:cNvPr>
          <p:cNvPicPr>
            <a:picLocks noChangeAspect="1"/>
          </p:cNvPicPr>
          <p:nvPr/>
        </p:nvPicPr>
        <p:blipFill>
          <a:blip r:embed="rId2"/>
          <a:srcRect l="0" r="0" t="28835" b="28835"/>
          <a:stretch/>
        </p:blipFill>
        <p:spPr>
          <a:xfrm>
            <a:off x="5952728" y="4267200"/>
            <a:ext cx="5676900" cy="1625600"/>
          </a:xfrm>
          <a:prstGeom prst="roundRect">
            <a:avLst>
              <a:gd name="adj" fmla="val 4688"/>
            </a:avLst>
          </a:prstGeom>
        </p:spPr>
      </p:pic>
      <p:pic>
        <p:nvPicPr>
          <p:cNvPr id="16" name="Image 2" descr="https://kimi-img.moonshot.cn/pub/slides/25-09-17-02:54:34-d34r4qk7fff3vr2cesl0.png">    </p:cNvPr>
          <p:cNvPicPr>
            <a:picLocks noChangeAspect="1"/>
          </p:cNvPicPr>
          <p:nvPr/>
        </p:nvPicPr>
        <p:blipFill>
          <a:blip r:embed="rId3"/>
          <a:stretch>
            <a:fillRect/>
          </a:stretch>
        </p:blipFill>
        <p:spPr>
          <a:xfrm>
            <a:off x="427880" y="4267200"/>
            <a:ext cx="4396894" cy="1625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4F6"/>
        </a:solidFill>
      </p:bgPr>
    </p:bg>
    <p:spTree>
      <p:nvGrpSpPr>
        <p:cNvPr id="1" name=""/>
        <p:cNvGrpSpPr/>
        <p:nvPr/>
      </p:nvGrpSpPr>
      <p:grpSpPr>
        <a:xfrm>
          <a:off x="0" y="0"/>
          <a:ext cx="0" cy="0"/>
          <a:chOff x="0" y="0"/>
          <a:chExt cx="0" cy="0"/>
        </a:xfrm>
      </p:grpSpPr>
      <p:pic>
        <p:nvPicPr>
          <p:cNvPr id="2" name="Image 0" descr="https://kimi-img.moonshot.cn/pub/slides/slides_tmpl/image/25-09-04-14:58:41-d2sjh8e1bb2p4onbq9f0.jpg">    </p:cNvPr>
          <p:cNvPicPr>
            <a:picLocks noChangeAspect="1"/>
          </p:cNvPicPr>
          <p:nvPr/>
        </p:nvPicPr>
        <p:blipFill>
          <a:blip r:embed="rId1"/>
          <a:stretch>
            <a:fillRect/>
          </a:stretch>
        </p:blipFill>
        <p:spPr>
          <a:xfrm>
            <a:off x="-29845" y="-15875"/>
            <a:ext cx="12300585" cy="6921500"/>
          </a:xfrm>
          <a:prstGeom prst="rect">
            <a:avLst/>
          </a:prstGeom>
        </p:spPr>
      </p:pic>
      <p:sp>
        <p:nvSpPr>
          <p:cNvPr id="3" name="Text 0"/>
          <p:cNvSpPr/>
          <p:nvPr/>
        </p:nvSpPr>
        <p:spPr>
          <a:xfrm>
            <a:off x="0" y="641350"/>
            <a:ext cx="12192000" cy="508000"/>
          </a:xfrm>
          <a:prstGeom prst="rect">
            <a:avLst/>
          </a:prstGeom>
          <a:noFill/>
          <a:ln/>
        </p:spPr>
        <p:txBody>
          <a:bodyPr wrap="square" lIns="0" tIns="0" rIns="0" bIns="0" rtlCol="0" anchor="ctr"/>
          <a:lstStyle/>
          <a:p>
            <a:pPr algn="ctr" indent="0" marL="0">
              <a:lnSpc>
                <a:spcPct val="90000"/>
              </a:lnSpc>
              <a:buNone/>
            </a:pPr>
            <a:r>
              <a:rPr lang="en-US" sz="3600" dirty="0">
                <a:solidFill>
                  <a:srgbClr val="333333"/>
                </a:solidFill>
                <a:latin typeface="Noto Sans SC" pitchFamily="34" charset="0"/>
                <a:ea typeface="Noto Sans SC" pitchFamily="34" charset="-122"/>
                <a:cs typeface="Noto Sans SC" pitchFamily="34" charset="-120"/>
              </a:rPr>
              <a:t>Cấu Trúc Thư Mục &amp; Hệ Thống Gradle</a:t>
            </a:r>
            <a:endParaRPr lang="en-US" sz="1600" dirty="0"/>
          </a:p>
        </p:txBody>
      </p:sp>
      <p:sp>
        <p:nvSpPr>
          <p:cNvPr id="4" name="Shape 1"/>
          <p:cNvSpPr/>
          <p:nvPr/>
        </p:nvSpPr>
        <p:spPr>
          <a:xfrm>
            <a:off x="254000" y="1454150"/>
            <a:ext cx="3797300" cy="4762500"/>
          </a:xfrm>
          <a:custGeom>
            <a:avLst/>
            <a:gdLst/>
            <a:ahLst/>
            <a:cxnLst/>
            <a:rect l="l" t="t" r="r" b="b"/>
            <a:pathLst>
              <a:path w="3797300" h="4762500">
                <a:moveTo>
                  <a:pt x="101616" y="0"/>
                </a:moveTo>
                <a:lnTo>
                  <a:pt x="3695684" y="0"/>
                </a:lnTo>
                <a:cubicBezTo>
                  <a:pt x="3751805" y="0"/>
                  <a:pt x="3797300" y="45495"/>
                  <a:pt x="3797300" y="101616"/>
                </a:cubicBezTo>
                <a:lnTo>
                  <a:pt x="3797300" y="4660884"/>
                </a:lnTo>
                <a:cubicBezTo>
                  <a:pt x="3797300" y="4717005"/>
                  <a:pt x="3751805" y="4762500"/>
                  <a:pt x="3695684" y="4762500"/>
                </a:cubicBezTo>
                <a:lnTo>
                  <a:pt x="101616" y="4762500"/>
                </a:lnTo>
                <a:cubicBezTo>
                  <a:pt x="45495" y="4762500"/>
                  <a:pt x="0" y="4717005"/>
                  <a:pt x="0" y="4660884"/>
                </a:cubicBezTo>
                <a:lnTo>
                  <a:pt x="0" y="101616"/>
                </a:lnTo>
                <a:cubicBezTo>
                  <a:pt x="0" y="45532"/>
                  <a:pt x="45532" y="0"/>
                  <a:pt x="101616" y="0"/>
                </a:cubicBezTo>
                <a:close/>
              </a:path>
            </a:pathLst>
          </a:custGeom>
          <a:solidFill>
            <a:srgbClr val="D7E3E9">
              <a:alpha val="66667"/>
            </a:srgbClr>
          </a:solidFill>
          <a:ln/>
        </p:spPr>
      </p:sp>
      <p:sp>
        <p:nvSpPr>
          <p:cNvPr id="5" name="Text 2"/>
          <p:cNvSpPr/>
          <p:nvPr/>
        </p:nvSpPr>
        <p:spPr>
          <a:xfrm>
            <a:off x="203200" y="1657350"/>
            <a:ext cx="3898900" cy="355600"/>
          </a:xfrm>
          <a:prstGeom prst="rect">
            <a:avLst/>
          </a:prstGeom>
          <a:noFill/>
          <a:ln/>
        </p:spPr>
        <p:txBody>
          <a:bodyPr wrap="square" lIns="0" tIns="0" rIns="0" bIns="0" rtlCol="0" anchor="ctr"/>
          <a:lstStyle/>
          <a:p>
            <a:pPr algn="ctr" indent="0" marL="0">
              <a:lnSpc>
                <a:spcPct val="120000"/>
              </a:lnSpc>
              <a:buNone/>
            </a:pPr>
            <a:r>
              <a:rPr lang="en-US" sz="2000" dirty="0">
                <a:solidFill>
                  <a:srgbClr val="333333"/>
                </a:solidFill>
                <a:latin typeface="Noto Sans SC" pitchFamily="34" charset="0"/>
                <a:ea typeface="Noto Sans SC" pitchFamily="34" charset="-122"/>
                <a:cs typeface="Noto Sans SC" pitchFamily="34" charset="-120"/>
              </a:rPr>
              <a:t>Cấu Trúc Project</a:t>
            </a:r>
            <a:endParaRPr lang="en-US" sz="1600" dirty="0"/>
          </a:p>
        </p:txBody>
      </p:sp>
      <p:sp>
        <p:nvSpPr>
          <p:cNvPr id="6" name="Shape 3"/>
          <p:cNvSpPr/>
          <p:nvPr/>
        </p:nvSpPr>
        <p:spPr>
          <a:xfrm>
            <a:off x="482600" y="2203450"/>
            <a:ext cx="177800" cy="177800"/>
          </a:xfrm>
          <a:custGeom>
            <a:avLst/>
            <a:gdLst/>
            <a:ahLst/>
            <a:cxnLst/>
            <a:rect l="l" t="t" r="r" b="b"/>
            <a:pathLst>
              <a:path w="177800" h="177800">
                <a:moveTo>
                  <a:pt x="22225" y="155575"/>
                </a:moveTo>
                <a:lnTo>
                  <a:pt x="155575" y="155575"/>
                </a:lnTo>
                <a:cubicBezTo>
                  <a:pt x="167833" y="155575"/>
                  <a:pt x="177800" y="145608"/>
                  <a:pt x="177800" y="133350"/>
                </a:cubicBezTo>
                <a:lnTo>
                  <a:pt x="177800" y="50006"/>
                </a:lnTo>
                <a:cubicBezTo>
                  <a:pt x="177800" y="37748"/>
                  <a:pt x="167833" y="27781"/>
                  <a:pt x="155575" y="27781"/>
                </a:cubicBezTo>
                <a:lnTo>
                  <a:pt x="103728" y="27781"/>
                </a:lnTo>
                <a:cubicBezTo>
                  <a:pt x="101332" y="27781"/>
                  <a:pt x="98971" y="27017"/>
                  <a:pt x="97061" y="25559"/>
                </a:cubicBezTo>
                <a:lnTo>
                  <a:pt x="83726" y="15558"/>
                </a:lnTo>
                <a:cubicBezTo>
                  <a:pt x="79871" y="12675"/>
                  <a:pt x="75183" y="11112"/>
                  <a:pt x="70391" y="11112"/>
                </a:cubicBezTo>
                <a:lnTo>
                  <a:pt x="22225" y="11112"/>
                </a:lnTo>
                <a:cubicBezTo>
                  <a:pt x="9967" y="11112"/>
                  <a:pt x="0" y="21079"/>
                  <a:pt x="0" y="33337"/>
                </a:cubicBezTo>
                <a:lnTo>
                  <a:pt x="0" y="133350"/>
                </a:lnTo>
                <a:cubicBezTo>
                  <a:pt x="0" y="145608"/>
                  <a:pt x="9967" y="155575"/>
                  <a:pt x="22225" y="155575"/>
                </a:cubicBezTo>
                <a:close/>
              </a:path>
            </a:pathLst>
          </a:custGeom>
          <a:solidFill>
            <a:srgbClr val="F9B79B"/>
          </a:solidFill>
          <a:ln/>
        </p:spPr>
      </p:sp>
      <p:sp>
        <p:nvSpPr>
          <p:cNvPr id="7" name="Text 4"/>
          <p:cNvSpPr/>
          <p:nvPr/>
        </p:nvSpPr>
        <p:spPr>
          <a:xfrm>
            <a:off x="787400" y="2165350"/>
            <a:ext cx="3060700" cy="508000"/>
          </a:xfrm>
          <a:prstGeom prst="rect">
            <a:avLst/>
          </a:prstGeom>
          <a:noFill/>
          <a:ln/>
        </p:spPr>
        <p:txBody>
          <a:bodyPr wrap="square" lIns="0" tIns="0" rIns="0" bIns="0" rtlCol="0" anchor="ctr"/>
          <a:lstStyle/>
          <a:p>
            <a:pPr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manifests:</a:t>
            </a:r>
            <a:pPr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 Chứa file `AndroidManifest.xml`.</a:t>
            </a:r>
            <a:endParaRPr lang="en-US" sz="1600" dirty="0"/>
          </a:p>
        </p:txBody>
      </p:sp>
      <p:sp>
        <p:nvSpPr>
          <p:cNvPr id="8" name="Shape 5"/>
          <p:cNvSpPr/>
          <p:nvPr/>
        </p:nvSpPr>
        <p:spPr>
          <a:xfrm>
            <a:off x="482600" y="2813050"/>
            <a:ext cx="177800" cy="177800"/>
          </a:xfrm>
          <a:custGeom>
            <a:avLst/>
            <a:gdLst/>
            <a:ahLst/>
            <a:cxnLst/>
            <a:rect l="l" t="t" r="r" b="b"/>
            <a:pathLst>
              <a:path w="177800" h="177800">
                <a:moveTo>
                  <a:pt x="22225" y="155575"/>
                </a:moveTo>
                <a:lnTo>
                  <a:pt x="155575" y="155575"/>
                </a:lnTo>
                <a:cubicBezTo>
                  <a:pt x="167833" y="155575"/>
                  <a:pt x="177800" y="145608"/>
                  <a:pt x="177800" y="133350"/>
                </a:cubicBezTo>
                <a:lnTo>
                  <a:pt x="177800" y="50006"/>
                </a:lnTo>
                <a:cubicBezTo>
                  <a:pt x="177800" y="37748"/>
                  <a:pt x="167833" y="27781"/>
                  <a:pt x="155575" y="27781"/>
                </a:cubicBezTo>
                <a:lnTo>
                  <a:pt x="103728" y="27781"/>
                </a:lnTo>
                <a:cubicBezTo>
                  <a:pt x="101332" y="27781"/>
                  <a:pt x="98971" y="27017"/>
                  <a:pt x="97061" y="25559"/>
                </a:cubicBezTo>
                <a:lnTo>
                  <a:pt x="83726" y="15558"/>
                </a:lnTo>
                <a:cubicBezTo>
                  <a:pt x="79871" y="12675"/>
                  <a:pt x="75183" y="11112"/>
                  <a:pt x="70391" y="11112"/>
                </a:cubicBezTo>
                <a:lnTo>
                  <a:pt x="22225" y="11112"/>
                </a:lnTo>
                <a:cubicBezTo>
                  <a:pt x="9967" y="11112"/>
                  <a:pt x="0" y="21079"/>
                  <a:pt x="0" y="33337"/>
                </a:cubicBezTo>
                <a:lnTo>
                  <a:pt x="0" y="133350"/>
                </a:lnTo>
                <a:cubicBezTo>
                  <a:pt x="0" y="145608"/>
                  <a:pt x="9967" y="155575"/>
                  <a:pt x="22225" y="155575"/>
                </a:cubicBezTo>
                <a:close/>
              </a:path>
            </a:pathLst>
          </a:custGeom>
          <a:solidFill>
            <a:srgbClr val="F9B79B"/>
          </a:solidFill>
          <a:ln/>
        </p:spPr>
      </p:sp>
      <p:sp>
        <p:nvSpPr>
          <p:cNvPr id="9" name="Text 6"/>
          <p:cNvSpPr/>
          <p:nvPr/>
        </p:nvSpPr>
        <p:spPr>
          <a:xfrm>
            <a:off x="787400" y="2774950"/>
            <a:ext cx="3060700" cy="254000"/>
          </a:xfrm>
          <a:prstGeom prst="rect">
            <a:avLst/>
          </a:prstGeom>
          <a:noFill/>
          <a:ln/>
        </p:spPr>
        <p:txBody>
          <a:bodyPr wrap="square" lIns="0" tIns="0" rIns="0" bIns="0" rtlCol="0" anchor="ctr"/>
          <a:lstStyle/>
          <a:p>
            <a:pPr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java:</a:t>
            </a:r>
            <a:pPr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 Chứa mã nguồn Java/Kotlin.</a:t>
            </a:r>
            <a:endParaRPr lang="en-US" sz="1600" dirty="0"/>
          </a:p>
        </p:txBody>
      </p:sp>
      <p:sp>
        <p:nvSpPr>
          <p:cNvPr id="10" name="Shape 7"/>
          <p:cNvSpPr/>
          <p:nvPr/>
        </p:nvSpPr>
        <p:spPr>
          <a:xfrm>
            <a:off x="482600" y="3168650"/>
            <a:ext cx="177800" cy="177800"/>
          </a:xfrm>
          <a:custGeom>
            <a:avLst/>
            <a:gdLst/>
            <a:ahLst/>
            <a:cxnLst/>
            <a:rect l="l" t="t" r="r" b="b"/>
            <a:pathLst>
              <a:path w="177800" h="177800">
                <a:moveTo>
                  <a:pt x="22225" y="155575"/>
                </a:moveTo>
                <a:lnTo>
                  <a:pt x="155575" y="155575"/>
                </a:lnTo>
                <a:cubicBezTo>
                  <a:pt x="167833" y="155575"/>
                  <a:pt x="177800" y="145608"/>
                  <a:pt x="177800" y="133350"/>
                </a:cubicBezTo>
                <a:lnTo>
                  <a:pt x="177800" y="50006"/>
                </a:lnTo>
                <a:cubicBezTo>
                  <a:pt x="177800" y="37748"/>
                  <a:pt x="167833" y="27781"/>
                  <a:pt x="155575" y="27781"/>
                </a:cubicBezTo>
                <a:lnTo>
                  <a:pt x="103728" y="27781"/>
                </a:lnTo>
                <a:cubicBezTo>
                  <a:pt x="101332" y="27781"/>
                  <a:pt x="98971" y="27017"/>
                  <a:pt x="97061" y="25559"/>
                </a:cubicBezTo>
                <a:lnTo>
                  <a:pt x="83726" y="15558"/>
                </a:lnTo>
                <a:cubicBezTo>
                  <a:pt x="79871" y="12675"/>
                  <a:pt x="75183" y="11112"/>
                  <a:pt x="70391" y="11112"/>
                </a:cubicBezTo>
                <a:lnTo>
                  <a:pt x="22225" y="11112"/>
                </a:lnTo>
                <a:cubicBezTo>
                  <a:pt x="9967" y="11112"/>
                  <a:pt x="0" y="21079"/>
                  <a:pt x="0" y="33337"/>
                </a:cubicBezTo>
                <a:lnTo>
                  <a:pt x="0" y="133350"/>
                </a:lnTo>
                <a:cubicBezTo>
                  <a:pt x="0" y="145608"/>
                  <a:pt x="9967" y="155575"/>
                  <a:pt x="22225" y="155575"/>
                </a:cubicBezTo>
                <a:close/>
              </a:path>
            </a:pathLst>
          </a:custGeom>
          <a:solidFill>
            <a:srgbClr val="F9B79B"/>
          </a:solidFill>
          <a:ln/>
        </p:spPr>
      </p:sp>
      <p:sp>
        <p:nvSpPr>
          <p:cNvPr id="11" name="Text 8"/>
          <p:cNvSpPr/>
          <p:nvPr/>
        </p:nvSpPr>
        <p:spPr>
          <a:xfrm>
            <a:off x="787400" y="3130550"/>
            <a:ext cx="3060700" cy="508000"/>
          </a:xfrm>
          <a:prstGeom prst="rect">
            <a:avLst/>
          </a:prstGeom>
          <a:noFill/>
          <a:ln/>
        </p:spPr>
        <p:txBody>
          <a:bodyPr wrap="square" lIns="0" tIns="0" rIns="0" bIns="0" rtlCol="0" anchor="ctr"/>
          <a:lstStyle/>
          <a:p>
            <a:pPr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res:</a:t>
            </a:r>
            <a:pPr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 Chứa tài nguyên (layout, strings, images).</a:t>
            </a:r>
            <a:endParaRPr lang="en-US" sz="1600" dirty="0"/>
          </a:p>
        </p:txBody>
      </p:sp>
      <p:pic>
        <p:nvPicPr>
          <p:cNvPr id="12" name="Image 1" descr="https://kimi-web-img.moonshot.cn/img/img-bbs.csdn.net/9f4ba4783f3bd418cb5f58ce0db2d8c2ee1c8268.jpg">    </p:cNvPr>
          <p:cNvPicPr>
            <a:picLocks noChangeAspect="1"/>
          </p:cNvPicPr>
          <p:nvPr/>
        </p:nvPicPr>
        <p:blipFill>
          <a:blip r:embed="rId2"/>
          <a:srcRect l="0" r="0" t="13178" b="13177"/>
          <a:stretch/>
        </p:blipFill>
        <p:spPr>
          <a:xfrm>
            <a:off x="457200" y="4387850"/>
            <a:ext cx="3390900" cy="1625600"/>
          </a:xfrm>
          <a:prstGeom prst="roundRect">
            <a:avLst>
              <a:gd name="adj" fmla="val 4688"/>
            </a:avLst>
          </a:prstGeom>
        </p:spPr>
      </p:pic>
      <p:sp>
        <p:nvSpPr>
          <p:cNvPr id="13" name="Shape 9"/>
          <p:cNvSpPr/>
          <p:nvPr/>
        </p:nvSpPr>
        <p:spPr>
          <a:xfrm>
            <a:off x="4355505" y="1454150"/>
            <a:ext cx="7581900" cy="4762500"/>
          </a:xfrm>
          <a:custGeom>
            <a:avLst/>
            <a:gdLst/>
            <a:ahLst/>
            <a:cxnLst/>
            <a:rect l="l" t="t" r="r" b="b"/>
            <a:pathLst>
              <a:path w="7581900" h="4762500">
                <a:moveTo>
                  <a:pt x="101584" y="0"/>
                </a:moveTo>
                <a:lnTo>
                  <a:pt x="7480316" y="0"/>
                </a:lnTo>
                <a:cubicBezTo>
                  <a:pt x="7536419" y="0"/>
                  <a:pt x="7581900" y="45481"/>
                  <a:pt x="7581900" y="101584"/>
                </a:cubicBezTo>
                <a:lnTo>
                  <a:pt x="7581900" y="4660916"/>
                </a:lnTo>
                <a:cubicBezTo>
                  <a:pt x="7581900" y="4717019"/>
                  <a:pt x="7536419" y="4762500"/>
                  <a:pt x="7480316" y="4762500"/>
                </a:cubicBezTo>
                <a:lnTo>
                  <a:pt x="101584" y="4762500"/>
                </a:lnTo>
                <a:cubicBezTo>
                  <a:pt x="45481" y="4762500"/>
                  <a:pt x="0" y="4717019"/>
                  <a:pt x="0" y="4660916"/>
                </a:cubicBezTo>
                <a:lnTo>
                  <a:pt x="0" y="101584"/>
                </a:lnTo>
                <a:cubicBezTo>
                  <a:pt x="0" y="45518"/>
                  <a:pt x="45518" y="0"/>
                  <a:pt x="101584" y="0"/>
                </a:cubicBezTo>
                <a:close/>
              </a:path>
            </a:pathLst>
          </a:custGeom>
          <a:solidFill>
            <a:srgbClr val="BACBD3"/>
          </a:solidFill>
          <a:ln/>
        </p:spPr>
      </p:sp>
      <p:sp>
        <p:nvSpPr>
          <p:cNvPr id="14" name="Text 10"/>
          <p:cNvSpPr/>
          <p:nvPr/>
        </p:nvSpPr>
        <p:spPr>
          <a:xfrm>
            <a:off x="4304705" y="1657350"/>
            <a:ext cx="7683500" cy="355600"/>
          </a:xfrm>
          <a:prstGeom prst="rect">
            <a:avLst/>
          </a:prstGeom>
          <a:noFill/>
          <a:ln/>
        </p:spPr>
        <p:txBody>
          <a:bodyPr wrap="square" lIns="0" tIns="0" rIns="0" bIns="0" rtlCol="0" anchor="ctr"/>
          <a:lstStyle/>
          <a:p>
            <a:pPr algn="ctr" indent="0" marL="0">
              <a:lnSpc>
                <a:spcPct val="120000"/>
              </a:lnSpc>
              <a:buNone/>
            </a:pPr>
            <a:r>
              <a:rPr lang="en-US" sz="2000" dirty="0">
                <a:solidFill>
                  <a:srgbClr val="333333"/>
                </a:solidFill>
                <a:latin typeface="Noto Sans SC" pitchFamily="34" charset="0"/>
                <a:ea typeface="Noto Sans SC" pitchFamily="34" charset="-122"/>
                <a:cs typeface="Noto Sans SC" pitchFamily="34" charset="-120"/>
              </a:rPr>
              <a:t>Hệ Thống Gradle</a:t>
            </a:r>
            <a:endParaRPr lang="en-US" sz="1600" dirty="0"/>
          </a:p>
        </p:txBody>
      </p:sp>
      <p:sp>
        <p:nvSpPr>
          <p:cNvPr id="15" name="Text 11"/>
          <p:cNvSpPr/>
          <p:nvPr/>
        </p:nvSpPr>
        <p:spPr>
          <a:xfrm>
            <a:off x="4558705" y="2165350"/>
            <a:ext cx="7175500" cy="508000"/>
          </a:xfrm>
          <a:prstGeom prst="rect">
            <a:avLst/>
          </a:prstGeom>
          <a:noFill/>
          <a:ln/>
        </p:spPr>
        <p:txBody>
          <a:bodyPr wrap="square" lIns="0" tIns="0" rIns="0" bIns="0" rtlCol="0" anchor="ctr"/>
          <a:lstStyle/>
          <a:p>
            <a:pPr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Gradle là hệ thống build tự động, giúp quản lý thư viện, phụ thuộc và quá trình biên dịch ứng dụng.</a:t>
            </a:r>
            <a:endParaRPr lang="en-US" sz="1600" dirty="0"/>
          </a:p>
        </p:txBody>
      </p:sp>
      <p:pic>
        <p:nvPicPr>
          <p:cNvPr id="16" name="Image 2" descr="https://kimi-web-img.moonshot.cn/img/imgs.yssmx.com/79eed7aff79678d16e6efd8a119551d75841cb09.png">    </p:cNvPr>
          <p:cNvPicPr>
            <a:picLocks noChangeAspect="1"/>
          </p:cNvPicPr>
          <p:nvPr/>
        </p:nvPicPr>
        <p:blipFill>
          <a:blip r:embed="rId3"/>
          <a:srcRect l="7906" r="7906" t="0" b="0"/>
          <a:stretch/>
        </p:blipFill>
        <p:spPr>
          <a:xfrm>
            <a:off x="4558705" y="2825750"/>
            <a:ext cx="7175500" cy="3187700"/>
          </a:xfrm>
          <a:prstGeom prst="roundRect">
            <a:avLst>
              <a:gd name="adj" fmla="val 2390"/>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slides_tmpl/image/25-09-04-14:58:34-d2sjh6m1bb2p4onbq9b0.jpg">    </p:cNvPr>
          <p:cNvPicPr>
            <a:picLocks noChangeAspect="1"/>
          </p:cNvPicPr>
          <p:nvPr/>
        </p:nvPicPr>
        <p:blipFill>
          <a:blip r:embed="rId1"/>
          <a:stretch>
            <a:fillRect/>
          </a:stretch>
        </p:blipFill>
        <p:spPr>
          <a:xfrm>
            <a:off x="0" y="0"/>
            <a:ext cx="12191365" cy="6858000"/>
          </a:xfrm>
          <a:prstGeom prst="rect">
            <a:avLst/>
          </a:prstGeom>
        </p:spPr>
      </p:pic>
      <p:pic>
        <p:nvPicPr>
          <p:cNvPr id="3" name="Image 1" descr="https://kimi-img.moonshot.cn/pub/slides/slides_tmpl/image/25-09-04-14:58:39-d2sjh7u1bb2p4onbq9d0.jpg">    </p:cNvPr>
          <p:cNvPicPr>
            <a:picLocks noChangeAspect="1"/>
          </p:cNvPicPr>
          <p:nvPr/>
        </p:nvPicPr>
        <p:blipFill>
          <a:blip r:embed="rId2">
            <a:alphaModFix amt="90000"/>
          </a:blip>
          <a:srcRect l="0" r="0" t="19005" b="17569"/>
          <a:stretch/>
        </p:blipFill>
        <p:spPr>
          <a:xfrm>
            <a:off x="0" y="1316990"/>
            <a:ext cx="12192000" cy="4321175"/>
          </a:xfrm>
          <a:prstGeom prst="rect">
            <a:avLst/>
          </a:prstGeom>
        </p:spPr>
      </p:pic>
      <p:sp>
        <p:nvSpPr>
          <p:cNvPr id="4" name="Text 0"/>
          <p:cNvSpPr/>
          <p:nvPr/>
        </p:nvSpPr>
        <p:spPr>
          <a:xfrm>
            <a:off x="1367155" y="3056890"/>
            <a:ext cx="9475470" cy="1066800"/>
          </a:xfrm>
          <a:prstGeom prst="rect">
            <a:avLst/>
          </a:prstGeom>
          <a:noFill/>
          <a:ln/>
        </p:spPr>
        <p:txBody>
          <a:bodyPr wrap="square" lIns="91440" tIns="45720" rIns="91440" bIns="45720" rtlCol="0" anchor="t"/>
          <a:lstStyle/>
          <a:p>
            <a:pPr algn="ctr" indent="0" marL="0">
              <a:lnSpc>
                <a:spcPct val="110000"/>
              </a:lnSpc>
              <a:buNone/>
            </a:pPr>
            <a:r>
              <a:rPr lang="en-US" sz="4800" dirty="0">
                <a:solidFill>
                  <a:srgbClr val="333F4F"/>
                </a:solidFill>
                <a:latin typeface="MiSans" pitchFamily="34" charset="0"/>
                <a:ea typeface="MiSans" pitchFamily="34" charset="-122"/>
                <a:cs typeface="MiSans" pitchFamily="34" charset="-120"/>
              </a:rPr>
              <a:t>Chạy và kiểm thử</a:t>
            </a:r>
            <a:endParaRPr lang="en-US" sz="1600" dirty="0"/>
          </a:p>
        </p:txBody>
      </p:sp>
      <p:sp>
        <p:nvSpPr>
          <p:cNvPr id="5" name="Text 1"/>
          <p:cNvSpPr/>
          <p:nvPr/>
        </p:nvSpPr>
        <p:spPr>
          <a:xfrm>
            <a:off x="5107305" y="1623060"/>
            <a:ext cx="2824344" cy="1066800"/>
          </a:xfrm>
          <a:prstGeom prst="rect">
            <a:avLst/>
          </a:prstGeom>
          <a:noFill/>
          <a:ln/>
        </p:spPr>
        <p:txBody>
          <a:bodyPr wrap="square" lIns="91440" tIns="45720" rIns="91440" bIns="45720" rtlCol="0" anchor="t"/>
          <a:lstStyle/>
          <a:p>
            <a:pPr algn="l" indent="0" marL="0">
              <a:lnSpc>
                <a:spcPct val="100000"/>
              </a:lnSpc>
              <a:buNone/>
            </a:pPr>
            <a:r>
              <a:rPr lang="en-US" sz="9600" dirty="0">
                <a:solidFill>
                  <a:srgbClr val="44546A"/>
                </a:solidFill>
                <a:latin typeface="MiSans" pitchFamily="34" charset="0"/>
                <a:ea typeface="MiSans" pitchFamily="34" charset="-122"/>
                <a:cs typeface="MiSans" pitchFamily="34" charset="-120"/>
              </a:rPr>
              <a:t>03</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slides_tmpl/image/25-09-04-14:58:54-d2sjhbm1bb2p4onbq9o0.jpg">    </p:cNvPr>
          <p:cNvPicPr>
            <a:picLocks noChangeAspect="1"/>
          </p:cNvPicPr>
          <p:nvPr/>
        </p:nvPicPr>
        <p:blipFill>
          <a:blip r:embed="rId1">
            <a:alphaModFix amt="30000"/>
          </a:blip>
          <a:stretch>
            <a:fillRect/>
          </a:stretch>
        </p:blipFill>
        <p:spPr>
          <a:xfrm>
            <a:off x="-25400" y="0"/>
            <a:ext cx="7974965" cy="6858635"/>
          </a:xfrm>
          <a:prstGeom prst="rect">
            <a:avLst/>
          </a:prstGeom>
        </p:spPr>
      </p:pic>
      <p:sp>
        <p:nvSpPr>
          <p:cNvPr id="3" name="Shape 0"/>
          <p:cNvSpPr/>
          <p:nvPr/>
        </p:nvSpPr>
        <p:spPr>
          <a:xfrm>
            <a:off x="371475" y="429260"/>
            <a:ext cx="410845" cy="410845"/>
          </a:xfrm>
          <a:prstGeom prst="rect">
            <a:avLst/>
          </a:prstGeom>
          <a:solidFill>
            <a:srgbClr val="44546A"/>
          </a:solidFill>
          <a:ln/>
        </p:spPr>
      </p:sp>
      <p:sp>
        <p:nvSpPr>
          <p:cNvPr id="4" name="Text 1"/>
          <p:cNvSpPr/>
          <p:nvPr/>
        </p:nvSpPr>
        <p:spPr>
          <a:xfrm>
            <a:off x="371475" y="429260"/>
            <a:ext cx="410845" cy="410845"/>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5" name="Text 2"/>
          <p:cNvSpPr/>
          <p:nvPr/>
        </p:nvSpPr>
        <p:spPr>
          <a:xfrm>
            <a:off x="974939" y="201894"/>
            <a:ext cx="6604635" cy="673497"/>
          </a:xfrm>
          <a:prstGeom prst="rect">
            <a:avLst/>
          </a:prstGeom>
          <a:noFill/>
          <a:ln/>
        </p:spPr>
        <p:txBody>
          <a:bodyPr wrap="square" lIns="91440" tIns="45720" rIns="91440" bIns="45720" rtlCol="0" anchor="t">
            <a:spAutoFit/>
          </a:bodyPr>
          <a:lstStyle/>
          <a:p>
            <a:pPr indent="0" marL="0">
              <a:lnSpc>
                <a:spcPct val="130000"/>
              </a:lnSpc>
              <a:buNone/>
            </a:pPr>
            <a:r>
              <a:rPr lang="en-US" sz="3400" b="1" dirty="0">
                <a:solidFill>
                  <a:srgbClr val="333F4F"/>
                </a:solidFill>
                <a:latin typeface="Noto Sans SC" pitchFamily="34" charset="0"/>
                <a:ea typeface="Noto Sans SC" pitchFamily="34" charset="-122"/>
                <a:cs typeface="Noto Sans SC" pitchFamily="34" charset="-120"/>
              </a:rPr>
              <a:t>Chạy Ứng Dụng</a:t>
            </a:r>
            <a:endParaRPr lang="en-US" sz="1600" dirty="0"/>
          </a:p>
        </p:txBody>
      </p:sp>
      <p:sp>
        <p:nvSpPr>
          <p:cNvPr id="6" name="Text 3"/>
          <p:cNvSpPr/>
          <p:nvPr/>
        </p:nvSpPr>
        <p:spPr>
          <a:xfrm>
            <a:off x="386715" y="1541780"/>
            <a:ext cx="5953125" cy="298648"/>
          </a:xfrm>
          <a:prstGeom prst="rect">
            <a:avLst/>
          </a:prstGeom>
          <a:noFill/>
          <a:ln/>
        </p:spPr>
        <p:txBody>
          <a:bodyPr wrap="square" lIns="91440" tIns="45720" rIns="91440" bIns="45720" rtlCol="0" anchor="t">
            <a:spAutoFit/>
          </a:bodyPr>
          <a:lstStyle/>
          <a:p>
            <a:pPr algn="just" indent="0" marL="0">
              <a:lnSpc>
                <a:spcPct val="140000"/>
              </a:lnSpc>
              <a:buNone/>
            </a:pPr>
            <a:r>
              <a:rPr lang="en-US" sz="1400" dirty="0">
                <a:solidFill>
                  <a:srgbClr val="333F4F"/>
                </a:solidFill>
                <a:latin typeface="MiSans" pitchFamily="34" charset="0"/>
                <a:ea typeface="MiSans" pitchFamily="34" charset="-122"/>
                <a:cs typeface="MiSans" pitchFamily="34" charset="-120"/>
              </a:rPr>
              <a:t>Chạy</a:t>
            </a:r>
            <a:endParaRPr lang="en-US" sz="1600" dirty="0"/>
          </a:p>
        </p:txBody>
      </p:sp>
      <p:sp>
        <p:nvSpPr>
          <p:cNvPr id="7" name="Text 4"/>
          <p:cNvSpPr/>
          <p:nvPr/>
        </p:nvSpPr>
        <p:spPr>
          <a:xfrm>
            <a:off x="384810" y="1089025"/>
            <a:ext cx="5176520" cy="329208"/>
          </a:xfrm>
          <a:prstGeom prst="rect">
            <a:avLst/>
          </a:prstGeom>
          <a:noFill/>
          <a:ln/>
        </p:spPr>
        <p:txBody>
          <a:bodyPr wrap="square" lIns="91440" tIns="45720" rIns="91440" bIns="45720" rtlCol="0" anchor="t">
            <a:spAutoFit/>
          </a:bodyPr>
          <a:lstStyle/>
          <a:p>
            <a:pPr indent="0" marL="0">
              <a:lnSpc>
                <a:spcPct val="120000"/>
              </a:lnSpc>
              <a:buNone/>
            </a:pPr>
            <a:r>
              <a:rPr lang="en-US" sz="1800" b="1" dirty="0">
                <a:solidFill>
                  <a:srgbClr val="333F4F"/>
                </a:solidFill>
                <a:latin typeface="MiSans" pitchFamily="34" charset="0"/>
                <a:ea typeface="MiSans" pitchFamily="34" charset="-122"/>
                <a:cs typeface="MiSans" pitchFamily="34" charset="-120"/>
              </a:rPr>
              <a:t>Bước 1.</a:t>
            </a:r>
            <a:endParaRPr lang="en-US" sz="1600" dirty="0"/>
          </a:p>
        </p:txBody>
      </p:sp>
      <p:pic>
        <p:nvPicPr>
          <p:cNvPr id="8" name="Image 1" descr="https://kimi-img.moonshot.cn/pub/slides/slides_tmpl/image/25-09-04-14:58:57-d2sjhce1bb2p4onbq9r0.png">    </p:cNvPr>
          <p:cNvPicPr>
            <a:picLocks noChangeAspect="1"/>
          </p:cNvPicPr>
          <p:nvPr/>
        </p:nvPicPr>
        <p:blipFill>
          <a:blip r:embed="rId2"/>
          <a:stretch>
            <a:fillRect/>
          </a:stretch>
        </p:blipFill>
        <p:spPr>
          <a:xfrm>
            <a:off x="6687820" y="0"/>
            <a:ext cx="5485130" cy="6858000"/>
          </a:xfrm>
          <a:prstGeom prst="rect">
            <a:avLst/>
          </a:prstGeom>
        </p:spPr>
      </p:pic>
      <p:sp>
        <p:nvSpPr>
          <p:cNvPr id="9" name="Text 5"/>
          <p:cNvSpPr/>
          <p:nvPr/>
        </p:nvSpPr>
        <p:spPr>
          <a:xfrm>
            <a:off x="371475" y="2416493"/>
            <a:ext cx="5953125" cy="298648"/>
          </a:xfrm>
          <a:prstGeom prst="rect">
            <a:avLst/>
          </a:prstGeom>
          <a:noFill/>
          <a:ln/>
        </p:spPr>
        <p:txBody>
          <a:bodyPr wrap="square" lIns="91440" tIns="45720" rIns="91440" bIns="45720" rtlCol="0" anchor="t">
            <a:spAutoFit/>
          </a:bodyPr>
          <a:lstStyle/>
          <a:p>
            <a:pPr algn="just" indent="0" marL="0">
              <a:lnSpc>
                <a:spcPct val="140000"/>
              </a:lnSpc>
              <a:buNone/>
            </a:pPr>
            <a:r>
              <a:rPr lang="en-US" sz="1400" dirty="0">
                <a:solidFill>
                  <a:srgbClr val="333F4F"/>
                </a:solidFill>
                <a:latin typeface="MiSans" pitchFamily="34" charset="0"/>
                <a:ea typeface="MiSans" pitchFamily="34" charset="-122"/>
                <a:cs typeface="MiSans" pitchFamily="34" charset="-120"/>
              </a:rPr>
              <a:t>Chọn thiết bị để chạy(ảo hoặc vật lý)</a:t>
            </a:r>
            <a:endParaRPr lang="en-US" sz="1600" dirty="0"/>
          </a:p>
        </p:txBody>
      </p:sp>
      <p:sp>
        <p:nvSpPr>
          <p:cNvPr id="10" name="Text 6"/>
          <p:cNvSpPr/>
          <p:nvPr/>
        </p:nvSpPr>
        <p:spPr>
          <a:xfrm>
            <a:off x="371475" y="1963738"/>
            <a:ext cx="5176520" cy="329208"/>
          </a:xfrm>
          <a:prstGeom prst="rect">
            <a:avLst/>
          </a:prstGeom>
          <a:noFill/>
          <a:ln/>
        </p:spPr>
        <p:txBody>
          <a:bodyPr wrap="square" lIns="91440" tIns="45720" rIns="91440" bIns="45720" rtlCol="0" anchor="t">
            <a:spAutoFit/>
          </a:bodyPr>
          <a:lstStyle/>
          <a:p>
            <a:pPr indent="0" marL="0">
              <a:lnSpc>
                <a:spcPct val="120000"/>
              </a:lnSpc>
              <a:buNone/>
            </a:pPr>
            <a:r>
              <a:rPr lang="en-US" sz="1800" b="1" dirty="0">
                <a:solidFill>
                  <a:srgbClr val="333F4F"/>
                </a:solidFill>
                <a:latin typeface="MiSans" pitchFamily="34" charset="0"/>
                <a:ea typeface="MiSans" pitchFamily="34" charset="-122"/>
                <a:cs typeface="MiSans" pitchFamily="34" charset="-120"/>
              </a:rPr>
              <a:t>Bước 2.</a:t>
            </a:r>
            <a:endParaRPr lang="en-US" sz="1600" dirty="0"/>
          </a:p>
        </p:txBody>
      </p:sp>
      <p:sp>
        <p:nvSpPr>
          <p:cNvPr id="11" name="Text 7"/>
          <p:cNvSpPr/>
          <p:nvPr/>
        </p:nvSpPr>
        <p:spPr>
          <a:xfrm>
            <a:off x="379095" y="3291205"/>
            <a:ext cx="5953125" cy="298648"/>
          </a:xfrm>
          <a:prstGeom prst="rect">
            <a:avLst/>
          </a:prstGeom>
          <a:noFill/>
          <a:ln/>
        </p:spPr>
        <p:txBody>
          <a:bodyPr wrap="square" lIns="91440" tIns="45720" rIns="91440" bIns="45720" rtlCol="0" anchor="t">
            <a:spAutoFit/>
          </a:bodyPr>
          <a:lstStyle/>
          <a:p>
            <a:pPr algn="just" indent="0" marL="0">
              <a:lnSpc>
                <a:spcPct val="140000"/>
              </a:lnSpc>
              <a:buNone/>
            </a:pPr>
            <a:r>
              <a:rPr lang="en-US" sz="1400" dirty="0">
                <a:solidFill>
                  <a:srgbClr val="333F4F"/>
                </a:solidFill>
                <a:latin typeface="MiSans" pitchFamily="34" charset="0"/>
                <a:ea typeface="MiSans" pitchFamily="34" charset="-122"/>
                <a:cs typeface="MiSans" pitchFamily="34" charset="-120"/>
              </a:rPr>
              <a:t>Ok</a:t>
            </a:r>
            <a:endParaRPr lang="en-US" sz="1600" dirty="0"/>
          </a:p>
        </p:txBody>
      </p:sp>
      <p:sp>
        <p:nvSpPr>
          <p:cNvPr id="12" name="Text 8"/>
          <p:cNvSpPr/>
          <p:nvPr/>
        </p:nvSpPr>
        <p:spPr>
          <a:xfrm>
            <a:off x="371475" y="2838450"/>
            <a:ext cx="5176520" cy="329208"/>
          </a:xfrm>
          <a:prstGeom prst="rect">
            <a:avLst/>
          </a:prstGeom>
          <a:noFill/>
          <a:ln/>
        </p:spPr>
        <p:txBody>
          <a:bodyPr wrap="square" lIns="91440" tIns="45720" rIns="91440" bIns="45720" rtlCol="0" anchor="t">
            <a:spAutoFit/>
          </a:bodyPr>
          <a:lstStyle/>
          <a:p>
            <a:pPr indent="0" marL="0">
              <a:lnSpc>
                <a:spcPct val="120000"/>
              </a:lnSpc>
              <a:buNone/>
            </a:pPr>
            <a:r>
              <a:rPr lang="en-US" sz="1800" b="1" dirty="0">
                <a:solidFill>
                  <a:srgbClr val="333F4F"/>
                </a:solidFill>
                <a:latin typeface="MiSans" pitchFamily="34" charset="0"/>
                <a:ea typeface="MiSans" pitchFamily="34" charset="-122"/>
                <a:cs typeface="MiSans" pitchFamily="34" charset="-120"/>
              </a:rPr>
              <a:t>Bước 3.</a:t>
            </a:r>
            <a:endParaRPr lang="en-US" sz="1600" dirty="0"/>
          </a:p>
        </p:txBody>
      </p:sp>
      <p:pic>
        <p:nvPicPr>
          <p:cNvPr id="13" name="Image 2" descr="https://kimi-img.moonshot.cn/pub/slides/25-09-17-03:06:24-d34rac64t3otgas4tsc0.png">    </p:cNvPr>
          <p:cNvPicPr>
            <a:picLocks noChangeAspect="1"/>
          </p:cNvPicPr>
          <p:nvPr/>
        </p:nvPicPr>
        <p:blipFill>
          <a:blip r:embed="rId3"/>
          <a:stretch>
            <a:fillRect/>
          </a:stretch>
        </p:blipFill>
        <p:spPr>
          <a:xfrm>
            <a:off x="277612" y="3789960"/>
            <a:ext cx="6062228" cy="238078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4F6"/>
        </a:solidFill>
      </p:bgPr>
    </p:bg>
    <p:spTree>
      <p:nvGrpSpPr>
        <p:cNvPr id="1" name=""/>
        <p:cNvGrpSpPr/>
        <p:nvPr/>
      </p:nvGrpSpPr>
      <p:grpSpPr>
        <a:xfrm>
          <a:off x="0" y="0"/>
          <a:ext cx="0" cy="0"/>
          <a:chOff x="0" y="0"/>
          <a:chExt cx="0" cy="0"/>
        </a:xfrm>
      </p:grpSpPr>
      <p:pic>
        <p:nvPicPr>
          <p:cNvPr id="2" name="Image 0" descr="https://kimi-img.moonshot.cn/pub/slides/slides_tmpl/image/25-09-04-14:58:41-d2sjh8e1bb2p4onbq9f0.jpg">    </p:cNvPr>
          <p:cNvPicPr>
            <a:picLocks noChangeAspect="1"/>
          </p:cNvPicPr>
          <p:nvPr/>
        </p:nvPicPr>
        <p:blipFill>
          <a:blip r:embed="rId1"/>
          <a:stretch>
            <a:fillRect/>
          </a:stretch>
        </p:blipFill>
        <p:spPr>
          <a:xfrm>
            <a:off x="-29845" y="-15875"/>
            <a:ext cx="12300585" cy="6921500"/>
          </a:xfrm>
          <a:prstGeom prst="rect">
            <a:avLst/>
          </a:prstGeom>
        </p:spPr>
      </p:pic>
      <p:sp>
        <p:nvSpPr>
          <p:cNvPr id="3" name="Text 0"/>
          <p:cNvSpPr/>
          <p:nvPr/>
        </p:nvSpPr>
        <p:spPr>
          <a:xfrm>
            <a:off x="254000" y="863600"/>
            <a:ext cx="5435600" cy="1016000"/>
          </a:xfrm>
          <a:prstGeom prst="rect">
            <a:avLst/>
          </a:prstGeom>
          <a:noFill/>
          <a:ln/>
        </p:spPr>
        <p:txBody>
          <a:bodyPr wrap="square" lIns="0" tIns="0" rIns="0" bIns="0" rtlCol="0" anchor="ctr"/>
          <a:lstStyle/>
          <a:p>
            <a:pPr indent="0" marL="0">
              <a:lnSpc>
                <a:spcPct val="90000"/>
              </a:lnSpc>
              <a:buNone/>
            </a:pPr>
            <a:r>
              <a:rPr lang="en-US" sz="3600" dirty="0">
                <a:solidFill>
                  <a:srgbClr val="333333"/>
                </a:solidFill>
                <a:latin typeface="Noto Sans SC" pitchFamily="34" charset="0"/>
                <a:ea typeface="Noto Sans SC" pitchFamily="34" charset="-122"/>
                <a:cs typeface="Noto Sans SC" pitchFamily="34" charset="-120"/>
              </a:rPr>
              <a:t>Tạo Máy Ảo Android (AVD)</a:t>
            </a:r>
            <a:endParaRPr lang="en-US" sz="1600" dirty="0"/>
          </a:p>
        </p:txBody>
      </p:sp>
      <p:sp>
        <p:nvSpPr>
          <p:cNvPr id="4" name="Text 1"/>
          <p:cNvSpPr/>
          <p:nvPr/>
        </p:nvSpPr>
        <p:spPr>
          <a:xfrm>
            <a:off x="254000" y="2082800"/>
            <a:ext cx="5435600" cy="1219200"/>
          </a:xfrm>
          <a:prstGeom prst="rect">
            <a:avLst/>
          </a:prstGeom>
          <a:noFill/>
          <a:ln/>
        </p:spPr>
        <p:txBody>
          <a:bodyPr wrap="square" lIns="0" tIns="0" rIns="0" bIns="0" rtlCol="0" anchor="ctr"/>
          <a:lstStyle/>
          <a:p>
            <a:pPr indent="0" marL="0">
              <a:lnSpc>
                <a:spcPct val="130000"/>
              </a:lnSpc>
              <a:buNone/>
            </a:pPr>
            <a:r>
              <a:rPr lang="en-US" sz="1600" dirty="0">
                <a:solidFill>
                  <a:srgbClr val="333333"/>
                </a:solidFill>
                <a:latin typeface="Noto Sans SC" pitchFamily="34" charset="0"/>
                <a:ea typeface="Noto Sans SC" pitchFamily="34" charset="-122"/>
                <a:cs typeface="Noto Sans SC" pitchFamily="34" charset="-120"/>
              </a:rPr>
              <a:t>Android Virtual Device (AVD) là công cụ mô phỏng thiết bị Android trên máy tính, giúp bạn kiểm thử ứng dụng trên nhiều cấu hình và phiên bản Android khác nhau mà không cần điện thoại thật.</a:t>
            </a:r>
            <a:endParaRPr lang="en-US" sz="1600" dirty="0"/>
          </a:p>
        </p:txBody>
      </p:sp>
      <p:sp>
        <p:nvSpPr>
          <p:cNvPr id="5" name="Shape 2"/>
          <p:cNvSpPr/>
          <p:nvPr/>
        </p:nvSpPr>
        <p:spPr>
          <a:xfrm>
            <a:off x="254000" y="3606800"/>
            <a:ext cx="5435600" cy="1117600"/>
          </a:xfrm>
          <a:custGeom>
            <a:avLst/>
            <a:gdLst/>
            <a:ahLst/>
            <a:cxnLst/>
            <a:rect l="l" t="t" r="r" b="b"/>
            <a:pathLst>
              <a:path w="5435600" h="1117600">
                <a:moveTo>
                  <a:pt x="101601" y="0"/>
                </a:moveTo>
                <a:lnTo>
                  <a:pt x="5333999" y="0"/>
                </a:lnTo>
                <a:cubicBezTo>
                  <a:pt x="5390112" y="0"/>
                  <a:pt x="5435600" y="45488"/>
                  <a:pt x="5435600" y="101601"/>
                </a:cubicBezTo>
                <a:lnTo>
                  <a:pt x="5435600" y="1015999"/>
                </a:lnTo>
                <a:cubicBezTo>
                  <a:pt x="5435600" y="1072112"/>
                  <a:pt x="5390112" y="1117600"/>
                  <a:pt x="5333999" y="1117600"/>
                </a:cubicBezTo>
                <a:lnTo>
                  <a:pt x="101601" y="1117600"/>
                </a:lnTo>
                <a:cubicBezTo>
                  <a:pt x="45488" y="1117600"/>
                  <a:pt x="0" y="1072112"/>
                  <a:pt x="0" y="1015999"/>
                </a:cubicBezTo>
                <a:lnTo>
                  <a:pt x="0" y="101601"/>
                </a:lnTo>
                <a:cubicBezTo>
                  <a:pt x="0" y="45526"/>
                  <a:pt x="45526" y="0"/>
                  <a:pt x="101601" y="0"/>
                </a:cubicBezTo>
                <a:close/>
              </a:path>
            </a:pathLst>
          </a:custGeom>
          <a:solidFill>
            <a:srgbClr val="D7E3E9">
              <a:alpha val="66667"/>
            </a:srgbClr>
          </a:solidFill>
          <a:ln/>
        </p:spPr>
      </p:sp>
      <p:sp>
        <p:nvSpPr>
          <p:cNvPr id="6" name="Shape 3"/>
          <p:cNvSpPr/>
          <p:nvPr/>
        </p:nvSpPr>
        <p:spPr>
          <a:xfrm>
            <a:off x="330200" y="3759200"/>
            <a:ext cx="381000" cy="304800"/>
          </a:xfrm>
          <a:custGeom>
            <a:avLst/>
            <a:gdLst/>
            <a:ahLst/>
            <a:cxnLst/>
            <a:rect l="l" t="t" r="r" b="b"/>
            <a:pathLst>
              <a:path w="381000" h="304800">
                <a:moveTo>
                  <a:pt x="247590" y="125313"/>
                </a:moveTo>
                <a:cubicBezTo>
                  <a:pt x="254853" y="123349"/>
                  <a:pt x="262473" y="126802"/>
                  <a:pt x="265747" y="133529"/>
                </a:cubicBezTo>
                <a:lnTo>
                  <a:pt x="276820" y="155912"/>
                </a:lnTo>
                <a:cubicBezTo>
                  <a:pt x="282952" y="156746"/>
                  <a:pt x="288965" y="158413"/>
                  <a:pt x="294620" y="160734"/>
                </a:cubicBezTo>
                <a:lnTo>
                  <a:pt x="315456" y="146864"/>
                </a:lnTo>
                <a:cubicBezTo>
                  <a:pt x="321707" y="142696"/>
                  <a:pt x="329982" y="143530"/>
                  <a:pt x="335280" y="148828"/>
                </a:cubicBezTo>
                <a:lnTo>
                  <a:pt x="346710" y="160258"/>
                </a:lnTo>
                <a:cubicBezTo>
                  <a:pt x="352008" y="165556"/>
                  <a:pt x="352842" y="173891"/>
                  <a:pt x="348675" y="180082"/>
                </a:cubicBezTo>
                <a:lnTo>
                  <a:pt x="334804" y="200858"/>
                </a:lnTo>
                <a:cubicBezTo>
                  <a:pt x="335935" y="203656"/>
                  <a:pt x="336947" y="206573"/>
                  <a:pt x="337780" y="209610"/>
                </a:cubicBezTo>
                <a:cubicBezTo>
                  <a:pt x="338614" y="212646"/>
                  <a:pt x="339150" y="215622"/>
                  <a:pt x="339566" y="218658"/>
                </a:cubicBezTo>
                <a:lnTo>
                  <a:pt x="362010" y="229731"/>
                </a:lnTo>
                <a:cubicBezTo>
                  <a:pt x="368737" y="233065"/>
                  <a:pt x="372189" y="240685"/>
                  <a:pt x="370225" y="247888"/>
                </a:cubicBezTo>
                <a:lnTo>
                  <a:pt x="366058" y="263485"/>
                </a:lnTo>
                <a:cubicBezTo>
                  <a:pt x="364093" y="270689"/>
                  <a:pt x="357366" y="275570"/>
                  <a:pt x="349865" y="275094"/>
                </a:cubicBezTo>
                <a:lnTo>
                  <a:pt x="324862" y="273487"/>
                </a:lnTo>
                <a:cubicBezTo>
                  <a:pt x="321112" y="278309"/>
                  <a:pt x="316766" y="282773"/>
                  <a:pt x="311825" y="286583"/>
                </a:cubicBezTo>
                <a:lnTo>
                  <a:pt x="313432" y="311527"/>
                </a:lnTo>
                <a:cubicBezTo>
                  <a:pt x="313908" y="319028"/>
                  <a:pt x="309027" y="325815"/>
                  <a:pt x="301823" y="327720"/>
                </a:cubicBezTo>
                <a:lnTo>
                  <a:pt x="286226" y="331887"/>
                </a:lnTo>
                <a:cubicBezTo>
                  <a:pt x="278963" y="333851"/>
                  <a:pt x="271403" y="330398"/>
                  <a:pt x="268069" y="323671"/>
                </a:cubicBezTo>
                <a:lnTo>
                  <a:pt x="256996" y="301288"/>
                </a:lnTo>
                <a:cubicBezTo>
                  <a:pt x="250865" y="300454"/>
                  <a:pt x="244852" y="298787"/>
                  <a:pt x="239197" y="296466"/>
                </a:cubicBezTo>
                <a:lnTo>
                  <a:pt x="218361" y="310336"/>
                </a:lnTo>
                <a:cubicBezTo>
                  <a:pt x="212110" y="314504"/>
                  <a:pt x="203835" y="313670"/>
                  <a:pt x="198537" y="308372"/>
                </a:cubicBezTo>
                <a:lnTo>
                  <a:pt x="187107" y="296942"/>
                </a:lnTo>
                <a:cubicBezTo>
                  <a:pt x="181808" y="291644"/>
                  <a:pt x="180975" y="283369"/>
                  <a:pt x="185142" y="277118"/>
                </a:cubicBezTo>
                <a:lnTo>
                  <a:pt x="199013" y="256282"/>
                </a:lnTo>
                <a:cubicBezTo>
                  <a:pt x="197882" y="253484"/>
                  <a:pt x="196870" y="250567"/>
                  <a:pt x="196036" y="247531"/>
                </a:cubicBezTo>
                <a:cubicBezTo>
                  <a:pt x="195203" y="244495"/>
                  <a:pt x="194667" y="241459"/>
                  <a:pt x="194250" y="238482"/>
                </a:cubicBezTo>
                <a:lnTo>
                  <a:pt x="171807" y="227409"/>
                </a:lnTo>
                <a:cubicBezTo>
                  <a:pt x="165080" y="224076"/>
                  <a:pt x="161687" y="216456"/>
                  <a:pt x="163592" y="209252"/>
                </a:cubicBezTo>
                <a:lnTo>
                  <a:pt x="167759" y="193655"/>
                </a:lnTo>
                <a:cubicBezTo>
                  <a:pt x="169724" y="186452"/>
                  <a:pt x="176451" y="181570"/>
                  <a:pt x="183952" y="182047"/>
                </a:cubicBezTo>
                <a:lnTo>
                  <a:pt x="208895" y="183654"/>
                </a:lnTo>
                <a:cubicBezTo>
                  <a:pt x="212646" y="178832"/>
                  <a:pt x="216991" y="174367"/>
                  <a:pt x="221932" y="170557"/>
                </a:cubicBezTo>
                <a:lnTo>
                  <a:pt x="220325" y="145673"/>
                </a:lnTo>
                <a:cubicBezTo>
                  <a:pt x="219849" y="138172"/>
                  <a:pt x="224730" y="131385"/>
                  <a:pt x="231934" y="129480"/>
                </a:cubicBezTo>
                <a:lnTo>
                  <a:pt x="247531" y="125313"/>
                </a:lnTo>
                <a:close/>
                <a:moveTo>
                  <a:pt x="266938" y="202406"/>
                </a:moveTo>
                <a:cubicBezTo>
                  <a:pt x="252481" y="202423"/>
                  <a:pt x="240758" y="214173"/>
                  <a:pt x="240774" y="228630"/>
                </a:cubicBezTo>
                <a:cubicBezTo>
                  <a:pt x="240791" y="243086"/>
                  <a:pt x="252541" y="254810"/>
                  <a:pt x="266998" y="254794"/>
                </a:cubicBezTo>
                <a:cubicBezTo>
                  <a:pt x="281454" y="254777"/>
                  <a:pt x="293178" y="243027"/>
                  <a:pt x="293162" y="228570"/>
                </a:cubicBezTo>
                <a:cubicBezTo>
                  <a:pt x="293145" y="214114"/>
                  <a:pt x="281395" y="202390"/>
                  <a:pt x="266938" y="202406"/>
                </a:cubicBezTo>
                <a:close/>
                <a:moveTo>
                  <a:pt x="133886" y="-27087"/>
                </a:moveTo>
                <a:lnTo>
                  <a:pt x="149483" y="-22920"/>
                </a:lnTo>
                <a:cubicBezTo>
                  <a:pt x="156686" y="-20955"/>
                  <a:pt x="161568" y="-14168"/>
                  <a:pt x="161092" y="-6727"/>
                </a:cubicBezTo>
                <a:lnTo>
                  <a:pt x="159484" y="18157"/>
                </a:lnTo>
                <a:cubicBezTo>
                  <a:pt x="164425" y="21967"/>
                  <a:pt x="168771" y="26372"/>
                  <a:pt x="172522" y="31254"/>
                </a:cubicBezTo>
                <a:lnTo>
                  <a:pt x="197525" y="29647"/>
                </a:lnTo>
                <a:cubicBezTo>
                  <a:pt x="204966" y="29170"/>
                  <a:pt x="211753" y="34052"/>
                  <a:pt x="213717" y="41255"/>
                </a:cubicBezTo>
                <a:lnTo>
                  <a:pt x="217884" y="56852"/>
                </a:lnTo>
                <a:cubicBezTo>
                  <a:pt x="219789" y="64056"/>
                  <a:pt x="216396" y="71676"/>
                  <a:pt x="209669" y="75009"/>
                </a:cubicBezTo>
                <a:lnTo>
                  <a:pt x="187226" y="86082"/>
                </a:lnTo>
                <a:cubicBezTo>
                  <a:pt x="186809" y="89118"/>
                  <a:pt x="186214" y="92154"/>
                  <a:pt x="185440" y="95131"/>
                </a:cubicBezTo>
                <a:cubicBezTo>
                  <a:pt x="184666" y="98108"/>
                  <a:pt x="183594" y="101084"/>
                  <a:pt x="182463" y="103882"/>
                </a:cubicBezTo>
                <a:lnTo>
                  <a:pt x="196334" y="124718"/>
                </a:lnTo>
                <a:cubicBezTo>
                  <a:pt x="200501" y="130969"/>
                  <a:pt x="199668" y="139244"/>
                  <a:pt x="194370" y="144542"/>
                </a:cubicBezTo>
                <a:lnTo>
                  <a:pt x="182940" y="155972"/>
                </a:lnTo>
                <a:cubicBezTo>
                  <a:pt x="177641" y="161270"/>
                  <a:pt x="169366" y="162104"/>
                  <a:pt x="163116" y="157936"/>
                </a:cubicBezTo>
                <a:lnTo>
                  <a:pt x="142280" y="144066"/>
                </a:lnTo>
                <a:cubicBezTo>
                  <a:pt x="136624" y="146387"/>
                  <a:pt x="130612" y="148054"/>
                  <a:pt x="124480" y="148888"/>
                </a:cubicBezTo>
                <a:lnTo>
                  <a:pt x="113407" y="171271"/>
                </a:lnTo>
                <a:cubicBezTo>
                  <a:pt x="110073" y="177998"/>
                  <a:pt x="102453" y="181392"/>
                  <a:pt x="95250" y="179487"/>
                </a:cubicBezTo>
                <a:lnTo>
                  <a:pt x="79653" y="175320"/>
                </a:lnTo>
                <a:cubicBezTo>
                  <a:pt x="72390" y="173355"/>
                  <a:pt x="67568" y="166568"/>
                  <a:pt x="68044" y="159127"/>
                </a:cubicBezTo>
                <a:lnTo>
                  <a:pt x="69652" y="134183"/>
                </a:lnTo>
                <a:cubicBezTo>
                  <a:pt x="64710" y="130373"/>
                  <a:pt x="60365" y="125968"/>
                  <a:pt x="56614" y="121087"/>
                </a:cubicBezTo>
                <a:lnTo>
                  <a:pt x="31611" y="122694"/>
                </a:lnTo>
                <a:cubicBezTo>
                  <a:pt x="24170" y="123170"/>
                  <a:pt x="17383" y="118289"/>
                  <a:pt x="15419" y="111085"/>
                </a:cubicBezTo>
                <a:lnTo>
                  <a:pt x="11251" y="95488"/>
                </a:lnTo>
                <a:cubicBezTo>
                  <a:pt x="9346" y="88285"/>
                  <a:pt x="12740" y="80665"/>
                  <a:pt x="19467" y="77331"/>
                </a:cubicBezTo>
                <a:lnTo>
                  <a:pt x="41910" y="66258"/>
                </a:lnTo>
                <a:cubicBezTo>
                  <a:pt x="42327" y="63222"/>
                  <a:pt x="42922" y="60246"/>
                  <a:pt x="43696" y="57210"/>
                </a:cubicBezTo>
                <a:cubicBezTo>
                  <a:pt x="44529" y="54173"/>
                  <a:pt x="45482" y="51256"/>
                  <a:pt x="46673" y="48458"/>
                </a:cubicBezTo>
                <a:lnTo>
                  <a:pt x="32802" y="27682"/>
                </a:lnTo>
                <a:cubicBezTo>
                  <a:pt x="28635" y="21431"/>
                  <a:pt x="29468" y="13156"/>
                  <a:pt x="34766" y="7858"/>
                </a:cubicBezTo>
                <a:lnTo>
                  <a:pt x="46196" y="-3572"/>
                </a:lnTo>
                <a:cubicBezTo>
                  <a:pt x="51495" y="-8870"/>
                  <a:pt x="59769" y="-9704"/>
                  <a:pt x="66020" y="-5536"/>
                </a:cubicBezTo>
                <a:lnTo>
                  <a:pt x="86856" y="8334"/>
                </a:lnTo>
                <a:cubicBezTo>
                  <a:pt x="92512" y="6013"/>
                  <a:pt x="98524" y="4346"/>
                  <a:pt x="104656" y="3512"/>
                </a:cubicBezTo>
                <a:lnTo>
                  <a:pt x="115729" y="-18871"/>
                </a:lnTo>
                <a:cubicBezTo>
                  <a:pt x="119062" y="-25598"/>
                  <a:pt x="126623" y="-28992"/>
                  <a:pt x="133886" y="-27087"/>
                </a:cubicBezTo>
                <a:close/>
                <a:moveTo>
                  <a:pt x="114538" y="50006"/>
                </a:moveTo>
                <a:cubicBezTo>
                  <a:pt x="100081" y="50006"/>
                  <a:pt x="88344" y="61743"/>
                  <a:pt x="88344" y="76200"/>
                </a:cubicBezTo>
                <a:cubicBezTo>
                  <a:pt x="88344" y="90657"/>
                  <a:pt x="100081" y="102394"/>
                  <a:pt x="114538" y="102394"/>
                </a:cubicBezTo>
                <a:cubicBezTo>
                  <a:pt x="128995" y="102394"/>
                  <a:pt x="140732" y="90657"/>
                  <a:pt x="140732" y="76200"/>
                </a:cubicBezTo>
                <a:cubicBezTo>
                  <a:pt x="140732" y="61743"/>
                  <a:pt x="128995" y="50006"/>
                  <a:pt x="114538" y="50006"/>
                </a:cubicBezTo>
                <a:close/>
              </a:path>
            </a:pathLst>
          </a:custGeom>
          <a:solidFill>
            <a:srgbClr val="F9B79B"/>
          </a:solidFill>
          <a:ln/>
        </p:spPr>
      </p:sp>
      <p:sp>
        <p:nvSpPr>
          <p:cNvPr id="7" name="Text 4"/>
          <p:cNvSpPr/>
          <p:nvPr/>
        </p:nvSpPr>
        <p:spPr>
          <a:xfrm>
            <a:off x="789583" y="3759200"/>
            <a:ext cx="5257800" cy="304800"/>
          </a:xfrm>
          <a:prstGeom prst="rect">
            <a:avLst/>
          </a:prstGeom>
          <a:noFill/>
          <a:ln/>
        </p:spPr>
        <p:txBody>
          <a:bodyPr wrap="square" lIns="0" tIns="0" rIns="0" bIns="0" rtlCol="0" anchor="ctr"/>
          <a:lstStyle/>
          <a:p>
            <a:pPr indent="0" marL="0">
              <a:lnSpc>
                <a:spcPct val="130000"/>
              </a:lnSpc>
              <a:buNone/>
            </a:pPr>
            <a:r>
              <a:rPr lang="en-US" sz="1600" b="1" dirty="0">
                <a:solidFill>
                  <a:srgbClr val="333333"/>
                </a:solidFill>
                <a:latin typeface="Noto Sans SC" pitchFamily="34" charset="0"/>
                <a:ea typeface="Noto Sans SC" pitchFamily="34" charset="-122"/>
                <a:cs typeface="Noto Sans SC" pitchFamily="34" charset="-120"/>
              </a:rPr>
              <a:t>Bước 1: Cấu hình phần cứng</a:t>
            </a:r>
            <a:endParaRPr lang="en-US" sz="1600" dirty="0"/>
          </a:p>
        </p:txBody>
      </p:sp>
      <p:sp>
        <p:nvSpPr>
          <p:cNvPr id="8" name="Text 5"/>
          <p:cNvSpPr/>
          <p:nvPr/>
        </p:nvSpPr>
        <p:spPr>
          <a:xfrm>
            <a:off x="789583" y="4064000"/>
            <a:ext cx="4749800" cy="508000"/>
          </a:xfrm>
          <a:prstGeom prst="rect">
            <a:avLst/>
          </a:prstGeom>
          <a:noFill/>
          <a:ln/>
        </p:spPr>
        <p:txBody>
          <a:bodyPr wrap="square" lIns="0" tIns="0" rIns="0" bIns="0" rtlCol="0" anchor="ctr"/>
          <a:lstStyle/>
          <a:p>
            <a:pPr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Chọn thiết bị, độ phân giải màn hình, RAM, bộ xử lý (khuyên dùng x86 với HAXM để tăng tốc).</a:t>
            </a:r>
            <a:endParaRPr lang="en-US" sz="1600" dirty="0"/>
          </a:p>
        </p:txBody>
      </p:sp>
      <p:sp>
        <p:nvSpPr>
          <p:cNvPr id="9" name="Shape 6"/>
          <p:cNvSpPr/>
          <p:nvPr/>
        </p:nvSpPr>
        <p:spPr>
          <a:xfrm>
            <a:off x="254000" y="4876800"/>
            <a:ext cx="5435600" cy="1117600"/>
          </a:xfrm>
          <a:custGeom>
            <a:avLst/>
            <a:gdLst/>
            <a:ahLst/>
            <a:cxnLst/>
            <a:rect l="l" t="t" r="r" b="b"/>
            <a:pathLst>
              <a:path w="5435600" h="1117600">
                <a:moveTo>
                  <a:pt x="101601" y="0"/>
                </a:moveTo>
                <a:lnTo>
                  <a:pt x="5333999" y="0"/>
                </a:lnTo>
                <a:cubicBezTo>
                  <a:pt x="5390112" y="0"/>
                  <a:pt x="5435600" y="45488"/>
                  <a:pt x="5435600" y="101601"/>
                </a:cubicBezTo>
                <a:lnTo>
                  <a:pt x="5435600" y="1015999"/>
                </a:lnTo>
                <a:cubicBezTo>
                  <a:pt x="5435600" y="1072112"/>
                  <a:pt x="5390112" y="1117600"/>
                  <a:pt x="5333999" y="1117600"/>
                </a:cubicBezTo>
                <a:lnTo>
                  <a:pt x="101601" y="1117600"/>
                </a:lnTo>
                <a:cubicBezTo>
                  <a:pt x="45488" y="1117600"/>
                  <a:pt x="0" y="1072112"/>
                  <a:pt x="0" y="1015999"/>
                </a:cubicBezTo>
                <a:lnTo>
                  <a:pt x="0" y="101601"/>
                </a:lnTo>
                <a:cubicBezTo>
                  <a:pt x="0" y="45526"/>
                  <a:pt x="45526" y="0"/>
                  <a:pt x="101601" y="0"/>
                </a:cubicBezTo>
                <a:close/>
              </a:path>
            </a:pathLst>
          </a:custGeom>
          <a:solidFill>
            <a:srgbClr val="BACBD3"/>
          </a:solidFill>
          <a:ln/>
        </p:spPr>
      </p:sp>
      <p:sp>
        <p:nvSpPr>
          <p:cNvPr id="10" name="Shape 7"/>
          <p:cNvSpPr/>
          <p:nvPr/>
        </p:nvSpPr>
        <p:spPr>
          <a:xfrm>
            <a:off x="406400" y="5029200"/>
            <a:ext cx="292100" cy="304800"/>
          </a:xfrm>
          <a:custGeom>
            <a:avLst/>
            <a:gdLst/>
            <a:ahLst/>
            <a:cxnLst/>
            <a:rect l="l" t="t" r="r" b="b"/>
            <a:pathLst>
              <a:path w="292100" h="304800"/>
            </a:pathLst>
          </a:custGeom>
          <a:solidFill>
            <a:srgbClr val="F9B79B"/>
          </a:solidFill>
          <a:ln/>
        </p:spPr>
      </p:sp>
      <p:sp>
        <p:nvSpPr>
          <p:cNvPr id="11" name="Text 8"/>
          <p:cNvSpPr/>
          <p:nvPr/>
        </p:nvSpPr>
        <p:spPr>
          <a:xfrm>
            <a:off x="856853" y="5029200"/>
            <a:ext cx="5194300" cy="304800"/>
          </a:xfrm>
          <a:prstGeom prst="rect">
            <a:avLst/>
          </a:prstGeom>
          <a:noFill/>
          <a:ln/>
        </p:spPr>
        <p:txBody>
          <a:bodyPr wrap="square" lIns="0" tIns="0" rIns="0" bIns="0" rtlCol="0" anchor="ctr"/>
          <a:lstStyle/>
          <a:p>
            <a:pPr indent="0" marL="0">
              <a:lnSpc>
                <a:spcPct val="130000"/>
              </a:lnSpc>
              <a:buNone/>
            </a:pPr>
            <a:r>
              <a:rPr lang="en-US" sz="1600" dirty="0">
                <a:solidFill>
                  <a:srgbClr val="333333"/>
                </a:solidFill>
                <a:latin typeface="Noto Sans SC" pitchFamily="34" charset="0"/>
                <a:ea typeface="Noto Sans SC" pitchFamily="34" charset="-122"/>
                <a:cs typeface="Noto Sans SC" pitchFamily="34" charset="-120"/>
              </a:rPr>
              <a:t>Bước 2: Chọn hình ảnh hệ thống</a:t>
            </a:r>
            <a:endParaRPr lang="en-US" sz="1600" dirty="0"/>
          </a:p>
        </p:txBody>
      </p:sp>
      <p:sp>
        <p:nvSpPr>
          <p:cNvPr id="12" name="Text 9"/>
          <p:cNvSpPr/>
          <p:nvPr/>
        </p:nvSpPr>
        <p:spPr>
          <a:xfrm>
            <a:off x="856853" y="5334000"/>
            <a:ext cx="4686300" cy="508000"/>
          </a:xfrm>
          <a:prstGeom prst="rect">
            <a:avLst/>
          </a:prstGeom>
          <a:noFill/>
          <a:ln/>
        </p:spPr>
        <p:txBody>
          <a:bodyPr wrap="square" lIns="0" tIns="0" rIns="0" bIns="0" rtlCol="0" anchor="ctr"/>
          <a:lstStyle/>
          <a:p>
            <a:pPr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Tải và chọn phiên bản Android (API level) mà bạn muốn thiết bị ảo chạy.</a:t>
            </a:r>
            <a:endParaRPr lang="en-US" sz="1600" dirty="0"/>
          </a:p>
        </p:txBody>
      </p:sp>
      <p:pic>
        <p:nvPicPr>
          <p:cNvPr id="13" name="Image 1" descr="https://kimi-img.moonshot.cn/pub/slides/25-09-17-03:09:12-d34rbm4n9075s1fugcr0.png">    </p:cNvPr>
          <p:cNvPicPr>
            <a:picLocks noChangeAspect="1"/>
          </p:cNvPicPr>
          <p:nvPr/>
        </p:nvPicPr>
        <p:blipFill>
          <a:blip r:embed="rId2"/>
          <a:stretch>
            <a:fillRect/>
          </a:stretch>
        </p:blipFill>
        <p:spPr>
          <a:xfrm>
            <a:off x="6047383" y="1541239"/>
            <a:ext cx="5740418" cy="35215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slides_tmpl/image/25-09-04-14:58:46-d2sjh9m1bb2p4onbq9i0.png">    </p:cNvPr>
          <p:cNvPicPr>
            <a:picLocks noChangeAspect="1"/>
          </p:cNvPicPr>
          <p:nvPr/>
        </p:nvPicPr>
        <p:blipFill>
          <a:blip r:embed="rId1">
            <a:alphaModFix amt="63000"/>
          </a:blip>
          <a:stretch>
            <a:fillRect/>
          </a:stretch>
        </p:blipFill>
        <p:spPr>
          <a:xfrm>
            <a:off x="0" y="635"/>
            <a:ext cx="12192000" cy="6857365"/>
          </a:xfrm>
          <a:prstGeom prst="rect">
            <a:avLst/>
          </a:prstGeom>
        </p:spPr>
      </p:pic>
      <p:sp>
        <p:nvSpPr>
          <p:cNvPr id="3" name="Shape 0"/>
          <p:cNvSpPr/>
          <p:nvPr/>
        </p:nvSpPr>
        <p:spPr>
          <a:xfrm>
            <a:off x="0" y="2063750"/>
            <a:ext cx="12192000" cy="3797300"/>
          </a:xfrm>
          <a:prstGeom prst="rect">
            <a:avLst/>
          </a:prstGeom>
          <a:solidFill>
            <a:srgbClr val="FFFFFF"/>
          </a:solidFill>
          <a:ln/>
        </p:spPr>
      </p:sp>
      <p:sp>
        <p:nvSpPr>
          <p:cNvPr id="4" name="Text 1"/>
          <p:cNvSpPr/>
          <p:nvPr/>
        </p:nvSpPr>
        <p:spPr>
          <a:xfrm>
            <a:off x="0" y="2063750"/>
            <a:ext cx="12192000" cy="3797300"/>
          </a:xfrm>
          <a:prstGeom prst="rect">
            <a:avLst/>
          </a:prstGeom>
          <a:noFill/>
          <a:ln/>
        </p:spPr>
        <p:txBody>
          <a:bodyPr wrap="square" lIns="45720" tIns="0" rIns="91440" bIns="45720" rtlCol="0" anchor="ctr"/>
          <a:lstStyle/>
          <a:p>
            <a:pPr indent="0" marL="0">
              <a:lnSpc>
                <a:spcPct val="100000"/>
              </a:lnSpc>
              <a:buNone/>
            </a:pPr>
            <a:endParaRPr lang="en-US" sz="1600" dirty="0"/>
          </a:p>
        </p:txBody>
      </p:sp>
      <p:sp>
        <p:nvSpPr>
          <p:cNvPr id="5" name="Text 2"/>
          <p:cNvSpPr/>
          <p:nvPr/>
        </p:nvSpPr>
        <p:spPr>
          <a:xfrm>
            <a:off x="5563235" y="2063750"/>
            <a:ext cx="6148070" cy="987425"/>
          </a:xfrm>
          <a:prstGeom prst="rect">
            <a:avLst/>
          </a:prstGeom>
          <a:noFill/>
          <a:ln/>
        </p:spPr>
        <p:txBody>
          <a:bodyPr wrap="square" lIns="91440" tIns="45720" rIns="91440" bIns="45720" rtlCol="0" anchor="t">
            <a:spAutoFit/>
          </a:bodyPr>
          <a:lstStyle/>
          <a:p>
            <a:pPr indent="0" marL="0">
              <a:lnSpc>
                <a:spcPct val="180000"/>
              </a:lnSpc>
              <a:buNone/>
            </a:pPr>
            <a:r>
              <a:rPr lang="en-US" sz="3600" b="1" dirty="0">
                <a:solidFill>
                  <a:srgbClr val="333F4F"/>
                </a:solidFill>
                <a:latin typeface="Noto Sans SC" pitchFamily="34" charset="0"/>
                <a:ea typeface="Noto Sans SC" pitchFamily="34" charset="-122"/>
                <a:cs typeface="Noto Sans SC" pitchFamily="34" charset="-120"/>
              </a:rPr>
              <a:t>Cấu Hình Thiết Bị Ảo</a:t>
            </a:r>
            <a:endParaRPr lang="en-US" sz="1600" dirty="0"/>
          </a:p>
        </p:txBody>
      </p:sp>
      <p:sp>
        <p:nvSpPr>
          <p:cNvPr id="6" name="Text 3"/>
          <p:cNvSpPr/>
          <p:nvPr/>
        </p:nvSpPr>
        <p:spPr>
          <a:xfrm>
            <a:off x="5563235" y="2989019"/>
            <a:ext cx="6148070" cy="1434703"/>
          </a:xfrm>
          <a:prstGeom prst="rect">
            <a:avLst/>
          </a:prstGeom>
          <a:noFill/>
          <a:ln/>
        </p:spPr>
        <p:txBody>
          <a:bodyPr wrap="square" lIns="91440" tIns="45720" rIns="91440" bIns="45720" rtlCol="0" anchor="t">
            <a:spAutoFit/>
          </a:bodyPr>
          <a:lstStyle/>
          <a:p>
            <a:pPr algn="just" indent="0" marL="0">
              <a:lnSpc>
                <a:spcPct val="160000"/>
              </a:lnSpc>
              <a:buNone/>
            </a:pPr>
            <a:r>
              <a:rPr lang="en-US" sz="1600" dirty="0">
                <a:solidFill>
                  <a:srgbClr val="333F4F"/>
                </a:solidFill>
                <a:latin typeface="MiSans" pitchFamily="34" charset="0"/>
                <a:ea typeface="MiSans" pitchFamily="34" charset="-122"/>
                <a:cs typeface="MiSans" pitchFamily="34" charset="-120"/>
              </a:rPr>
              <a:t>1.Chọn hardware</a:t>
            </a:r>
            <a:endParaRPr lang="en-US" sz="1600" dirty="0"/>
          </a:p>
          <a:p>
            <a:pPr indent="0" marL="0">
              <a:lnSpc>
                <a:spcPct val="160000"/>
              </a:lnSpc>
              <a:buNone/>
            </a:pPr>
            <a:r>
              <a:rPr lang="en-US" sz="1600" dirty="0">
                <a:solidFill>
                  <a:srgbClr val="333F4F"/>
                </a:solidFill>
                <a:latin typeface="MiSans" pitchFamily="34" charset="0"/>
                <a:ea typeface="MiSans" pitchFamily="34" charset="-122"/>
                <a:cs typeface="MiSans" pitchFamily="34" charset="-120"/>
              </a:rPr>
              <a:t>2.Chọn phiên bản Android ve</a:t>
            </a:r>
            <a:endParaRPr lang="en-US" sz="1600" dirty="0"/>
          </a:p>
          <a:p>
            <a:pPr indent="0" marL="0">
              <a:lnSpc>
                <a:spcPct val="160000"/>
              </a:lnSpc>
              <a:buNone/>
            </a:pPr>
            <a:r>
              <a:rPr lang="en-US" sz="1600" dirty="0">
                <a:solidFill>
                  <a:srgbClr val="333F4F"/>
                </a:solidFill>
                <a:latin typeface="MiSans" pitchFamily="34" charset="0"/>
                <a:ea typeface="MiSans" pitchFamily="34" charset="-122"/>
                <a:cs typeface="MiSans" pitchFamily="34" charset="-120"/>
              </a:rPr>
              <a:t>3.Hoàn thành</a:t>
            </a:r>
            <a:endParaRPr lang="en-US" sz="1600" dirty="0"/>
          </a:p>
          <a:p>
            <a:pPr indent="0" marL="0">
              <a:lnSpc>
                <a:spcPct val="160000"/>
              </a:lnSpc>
              <a:buNone/>
            </a:pPr>
            <a:endParaRPr lang="en-US" sz="1600" dirty="0"/>
          </a:p>
        </p:txBody>
      </p:sp>
      <p:pic>
        <p:nvPicPr>
          <p:cNvPr id="7" name="Image 1" descr="https://kimi-img.moonshot.cn/pub/slides/slides_tmpl/image/25-09-04-14:58:46-d2sjh9m1bb2p4onbq9hg.png">    </p:cNvPr>
          <p:cNvPicPr>
            <a:picLocks noChangeAspect="1"/>
          </p:cNvPicPr>
          <p:nvPr/>
        </p:nvPicPr>
        <p:blipFill>
          <a:blip r:embed="rId2"/>
          <a:stretch>
            <a:fillRect/>
          </a:stretch>
        </p:blipFill>
        <p:spPr>
          <a:xfrm>
            <a:off x="880110" y="1122045"/>
            <a:ext cx="4139565" cy="41281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slides_tmpl/image/25-09-04-14:58:42-d2sjh8m1bb2p4onbq9g0.jpg">    </p:cNvPr>
          <p:cNvPicPr>
            <a:picLocks noChangeAspect="1"/>
          </p:cNvPicPr>
          <p:nvPr/>
        </p:nvPicPr>
        <p:blipFill>
          <a:blip r:embed="rId1"/>
          <a:stretch>
            <a:fillRect/>
          </a:stretch>
        </p:blipFill>
        <p:spPr>
          <a:xfrm>
            <a:off x="0" y="11430"/>
            <a:ext cx="12204000" cy="6862050"/>
          </a:xfrm>
          <a:prstGeom prst="rect">
            <a:avLst/>
          </a:prstGeom>
        </p:spPr>
      </p:pic>
      <p:sp>
        <p:nvSpPr>
          <p:cNvPr id="3" name="Shape 0"/>
          <p:cNvSpPr/>
          <p:nvPr/>
        </p:nvSpPr>
        <p:spPr>
          <a:xfrm>
            <a:off x="837565" y="914400"/>
            <a:ext cx="410845" cy="410845"/>
          </a:xfrm>
          <a:prstGeom prst="rect">
            <a:avLst/>
          </a:prstGeom>
          <a:solidFill>
            <a:srgbClr val="44546A"/>
          </a:solidFill>
          <a:ln/>
        </p:spPr>
      </p:sp>
      <p:sp>
        <p:nvSpPr>
          <p:cNvPr id="4" name="Text 1"/>
          <p:cNvSpPr/>
          <p:nvPr/>
        </p:nvSpPr>
        <p:spPr>
          <a:xfrm>
            <a:off x="837565" y="914400"/>
            <a:ext cx="410845" cy="410845"/>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5" name="Text 2"/>
          <p:cNvSpPr/>
          <p:nvPr/>
        </p:nvSpPr>
        <p:spPr>
          <a:xfrm>
            <a:off x="1554904" y="499017"/>
            <a:ext cx="5450205" cy="987425"/>
          </a:xfrm>
          <a:prstGeom prst="rect">
            <a:avLst/>
          </a:prstGeom>
          <a:noFill/>
          <a:ln/>
        </p:spPr>
        <p:txBody>
          <a:bodyPr wrap="square" lIns="91440" tIns="45720" rIns="91440" bIns="45720" rtlCol="0" anchor="t">
            <a:spAutoFit/>
          </a:bodyPr>
          <a:lstStyle/>
          <a:p>
            <a:pPr indent="0" marL="0">
              <a:lnSpc>
                <a:spcPct val="180000"/>
              </a:lnSpc>
              <a:buNone/>
            </a:pPr>
            <a:r>
              <a:rPr lang="en-US" sz="3600" b="1" dirty="0">
                <a:solidFill>
                  <a:srgbClr val="333F4F"/>
                </a:solidFill>
                <a:latin typeface="Noto Sans SC" pitchFamily="34" charset="0"/>
                <a:ea typeface="Noto Sans SC" pitchFamily="34" charset="-122"/>
                <a:cs typeface="Noto Sans SC" pitchFamily="34" charset="-120"/>
              </a:rPr>
              <a:t>Chạy Trên Máy Ảo</a:t>
            </a:r>
            <a:endParaRPr lang="en-US" sz="1600" dirty="0"/>
          </a:p>
        </p:txBody>
      </p:sp>
      <p:pic>
        <p:nvPicPr>
          <p:cNvPr id="6" name="Image 1" descr="https://kimi-img.moonshot.cn/pub/slides/25-09-17-03:15:30-d34rekls8fbcesefkd2g.png">    </p:cNvPr>
          <p:cNvPicPr>
            <a:picLocks noChangeAspect="1"/>
          </p:cNvPicPr>
          <p:nvPr/>
        </p:nvPicPr>
        <p:blipFill>
          <a:blip r:embed="rId2"/>
          <a:stretch>
            <a:fillRect/>
          </a:stretch>
        </p:blipFill>
        <p:spPr>
          <a:xfrm>
            <a:off x="2465444" y="1838941"/>
            <a:ext cx="7273111" cy="391347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4F6"/>
        </a:solidFill>
      </p:bgPr>
    </p:bg>
    <p:spTree>
      <p:nvGrpSpPr>
        <p:cNvPr id="1" name=""/>
        <p:cNvGrpSpPr/>
        <p:nvPr/>
      </p:nvGrpSpPr>
      <p:grpSpPr>
        <a:xfrm>
          <a:off x="0" y="0"/>
          <a:ext cx="0" cy="0"/>
          <a:chOff x="0" y="0"/>
          <a:chExt cx="0" cy="0"/>
        </a:xfrm>
      </p:grpSpPr>
      <p:pic>
        <p:nvPicPr>
          <p:cNvPr id="2" name="Image 0" descr="https://kimi-img.moonshot.cn/pub/slides/slides_tmpl/image/25-09-04-14:58:41-d2sjh8e1bb2p4onbq9f0.jpg">    </p:cNvPr>
          <p:cNvPicPr>
            <a:picLocks noChangeAspect="1"/>
          </p:cNvPicPr>
          <p:nvPr/>
        </p:nvPicPr>
        <p:blipFill>
          <a:blip r:embed="rId1"/>
          <a:stretch>
            <a:fillRect/>
          </a:stretch>
        </p:blipFill>
        <p:spPr>
          <a:xfrm>
            <a:off x="-29845" y="-15875"/>
            <a:ext cx="12300585" cy="6921500"/>
          </a:xfrm>
          <a:prstGeom prst="rect">
            <a:avLst/>
          </a:prstGeom>
        </p:spPr>
      </p:pic>
      <p:sp>
        <p:nvSpPr>
          <p:cNvPr id="3" name="Text 0"/>
          <p:cNvSpPr/>
          <p:nvPr/>
        </p:nvSpPr>
        <p:spPr>
          <a:xfrm>
            <a:off x="0" y="1600200"/>
            <a:ext cx="12192000" cy="508000"/>
          </a:xfrm>
          <a:prstGeom prst="rect">
            <a:avLst/>
          </a:prstGeom>
          <a:noFill/>
          <a:ln/>
        </p:spPr>
        <p:txBody>
          <a:bodyPr wrap="square" lIns="0" tIns="0" rIns="0" bIns="0" rtlCol="0" anchor="ctr"/>
          <a:lstStyle/>
          <a:p>
            <a:pPr algn="ctr" indent="0" marL="0">
              <a:lnSpc>
                <a:spcPct val="90000"/>
              </a:lnSpc>
              <a:buNone/>
            </a:pPr>
            <a:r>
              <a:rPr lang="en-US" sz="3600" dirty="0">
                <a:solidFill>
                  <a:srgbClr val="333333"/>
                </a:solidFill>
                <a:latin typeface="Noto Sans SC" pitchFamily="34" charset="0"/>
                <a:ea typeface="Noto Sans SC" pitchFamily="34" charset="-122"/>
                <a:cs typeface="Noto Sans SC" pitchFamily="34" charset="-120"/>
              </a:rPr>
              <a:t>Chạy Ứng Dụng &amp; Gỡ Lỗi</a:t>
            </a:r>
            <a:endParaRPr lang="en-US" sz="1600" dirty="0"/>
          </a:p>
        </p:txBody>
      </p:sp>
      <p:sp>
        <p:nvSpPr>
          <p:cNvPr id="4" name="Shape 1"/>
          <p:cNvSpPr/>
          <p:nvPr/>
        </p:nvSpPr>
        <p:spPr>
          <a:xfrm>
            <a:off x="254000" y="2514600"/>
            <a:ext cx="5689600" cy="2743200"/>
          </a:xfrm>
          <a:custGeom>
            <a:avLst/>
            <a:gdLst/>
            <a:ahLst/>
            <a:cxnLst/>
            <a:rect l="l" t="t" r="r" b="b"/>
            <a:pathLst>
              <a:path w="5689600" h="2743200">
                <a:moveTo>
                  <a:pt x="101608" y="0"/>
                </a:moveTo>
                <a:lnTo>
                  <a:pt x="5587992" y="0"/>
                </a:lnTo>
                <a:cubicBezTo>
                  <a:pt x="5644108" y="0"/>
                  <a:pt x="5689600" y="45492"/>
                  <a:pt x="5689600" y="101608"/>
                </a:cubicBezTo>
                <a:lnTo>
                  <a:pt x="5689600" y="2641592"/>
                </a:lnTo>
                <a:cubicBezTo>
                  <a:pt x="5689600" y="2697708"/>
                  <a:pt x="5644108" y="2743200"/>
                  <a:pt x="55879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D7E3E9">
              <a:alpha val="66667"/>
            </a:srgbClr>
          </a:solidFill>
          <a:ln/>
          <a:effectLst>
            <a:outerShdw sx="100000" sy="100000" kx="0" ky="0" algn="bl" rotWithShape="0" blurRad="76200" dist="50800" dir="5400000">
              <a:srgbClr val="000000">
                <a:alpha val="10196"/>
              </a:srgbClr>
            </a:outerShdw>
          </a:effectLst>
        </p:spPr>
      </p:sp>
      <p:sp>
        <p:nvSpPr>
          <p:cNvPr id="5" name="Shape 2"/>
          <p:cNvSpPr/>
          <p:nvPr/>
        </p:nvSpPr>
        <p:spPr>
          <a:xfrm>
            <a:off x="657225" y="2832100"/>
            <a:ext cx="285750" cy="381000"/>
          </a:xfrm>
          <a:custGeom>
            <a:avLst/>
            <a:gdLst/>
            <a:ahLst/>
            <a:cxnLst/>
            <a:rect l="l" t="t" r="r" b="b"/>
            <a:pathLst>
              <a:path w="285750" h="381000">
                <a:moveTo>
                  <a:pt x="11906" y="47625"/>
                </a:moveTo>
                <a:cubicBezTo>
                  <a:pt x="11906" y="21357"/>
                  <a:pt x="33263" y="0"/>
                  <a:pt x="59531" y="0"/>
                </a:cubicBezTo>
                <a:lnTo>
                  <a:pt x="226219" y="0"/>
                </a:lnTo>
                <a:cubicBezTo>
                  <a:pt x="252487" y="0"/>
                  <a:pt x="273844" y="21357"/>
                  <a:pt x="273844" y="47625"/>
                </a:cubicBezTo>
                <a:lnTo>
                  <a:pt x="273844" y="333375"/>
                </a:lnTo>
                <a:cubicBezTo>
                  <a:pt x="273844" y="359643"/>
                  <a:pt x="252487" y="381000"/>
                  <a:pt x="226219" y="381000"/>
                </a:cubicBezTo>
                <a:lnTo>
                  <a:pt x="59531" y="381000"/>
                </a:lnTo>
                <a:cubicBezTo>
                  <a:pt x="33263" y="381000"/>
                  <a:pt x="11906" y="359643"/>
                  <a:pt x="11906" y="333375"/>
                </a:cubicBezTo>
                <a:lnTo>
                  <a:pt x="11906" y="47625"/>
                </a:lnTo>
                <a:close/>
                <a:moveTo>
                  <a:pt x="59531" y="47625"/>
                </a:moveTo>
                <a:lnTo>
                  <a:pt x="59531" y="273844"/>
                </a:lnTo>
                <a:lnTo>
                  <a:pt x="226219" y="273844"/>
                </a:lnTo>
                <a:lnTo>
                  <a:pt x="226219" y="47625"/>
                </a:lnTo>
                <a:lnTo>
                  <a:pt x="59531" y="47625"/>
                </a:lnTo>
                <a:close/>
                <a:moveTo>
                  <a:pt x="142875" y="351234"/>
                </a:moveTo>
                <a:cubicBezTo>
                  <a:pt x="156046" y="351234"/>
                  <a:pt x="166688" y="340593"/>
                  <a:pt x="166688" y="327422"/>
                </a:cubicBezTo>
                <a:cubicBezTo>
                  <a:pt x="166688" y="314251"/>
                  <a:pt x="156046" y="303609"/>
                  <a:pt x="142875" y="303609"/>
                </a:cubicBezTo>
                <a:cubicBezTo>
                  <a:pt x="129704" y="303609"/>
                  <a:pt x="119063" y="314251"/>
                  <a:pt x="119063" y="327422"/>
                </a:cubicBezTo>
                <a:cubicBezTo>
                  <a:pt x="119063" y="340593"/>
                  <a:pt x="129704" y="351234"/>
                  <a:pt x="142875" y="351234"/>
                </a:cubicBezTo>
                <a:close/>
              </a:path>
            </a:pathLst>
          </a:custGeom>
          <a:solidFill>
            <a:srgbClr val="F9B79B"/>
          </a:solidFill>
          <a:ln/>
        </p:spPr>
      </p:sp>
      <p:sp>
        <p:nvSpPr>
          <p:cNvPr id="6" name="Text 3"/>
          <p:cNvSpPr/>
          <p:nvPr/>
        </p:nvSpPr>
        <p:spPr>
          <a:xfrm>
            <a:off x="1238250" y="2819400"/>
            <a:ext cx="3962400" cy="406400"/>
          </a:xfrm>
          <a:prstGeom prst="rect">
            <a:avLst/>
          </a:prstGeom>
          <a:noFill/>
          <a:ln/>
        </p:spPr>
        <p:txBody>
          <a:bodyPr wrap="square" lIns="0" tIns="0" rIns="0" bIns="0" rtlCol="0" anchor="ctr"/>
          <a:lstStyle/>
          <a:p>
            <a:pPr indent="0" marL="0">
              <a:lnSpc>
                <a:spcPct val="110000"/>
              </a:lnSpc>
              <a:buNone/>
            </a:pPr>
            <a:r>
              <a:rPr lang="en-US" sz="2400" dirty="0">
                <a:solidFill>
                  <a:srgbClr val="333333"/>
                </a:solidFill>
                <a:latin typeface="Noto Sans SC" pitchFamily="34" charset="0"/>
                <a:ea typeface="Noto Sans SC" pitchFamily="34" charset="-122"/>
                <a:cs typeface="Noto Sans SC" pitchFamily="34" charset="-120"/>
              </a:rPr>
              <a:t>Chạy Trên Thiết Bị Thật</a:t>
            </a:r>
            <a:endParaRPr lang="en-US" sz="1600" dirty="0"/>
          </a:p>
        </p:txBody>
      </p:sp>
      <p:sp>
        <p:nvSpPr>
          <p:cNvPr id="7" name="Text 4"/>
          <p:cNvSpPr/>
          <p:nvPr/>
        </p:nvSpPr>
        <p:spPr>
          <a:xfrm>
            <a:off x="558800" y="3378200"/>
            <a:ext cx="5080000" cy="1574800"/>
          </a:xfrm>
          <a:prstGeom prst="rect">
            <a:avLst/>
          </a:prstGeom>
          <a:noFill/>
          <a:ln/>
        </p:spPr>
        <p:txBody>
          <a:bodyPr wrap="square" lIns="0" tIns="0" rIns="0" bIns="0" rtlCol="0" anchor="ctr"/>
          <a:lstStyle/>
          <a:p>
            <a:pPr algn="l" marL="222250" indent="-222250">
              <a:lnSpc>
                <a:spcPct val="120000"/>
              </a:lnSpc>
              <a:spcBef>
                <a:spcPts val="10"/>
              </a:spcBef>
              <a:buSzPct val="100000"/>
              <a:buChar char="•"/>
            </a:pPr>
            <a:r>
              <a:rPr lang="en-US" sz="1400" dirty="0">
                <a:solidFill>
                  <a:srgbClr val="333333"/>
                </a:solidFill>
                <a:latin typeface="Noto Sans SC" pitchFamily="34" charset="0"/>
                <a:ea typeface="Noto Sans SC" pitchFamily="34" charset="-122"/>
                <a:cs typeface="Noto Sans SC" pitchFamily="34" charset="-120"/>
              </a:rPr>
              <a:t>Bật </a:t>
            </a:r>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Tùy chọn nhà phát triển</a:t>
            </a:r>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 (nhấn 7 lần vào số bản dựng).</a:t>
            </a:r>
            <a:pPr indent="0" marL="0">
              <a:lnSpc>
                <a:spcPct val="120000"/>
              </a:lnSpc>
              <a:buNone/>
            </a:pPr>
            <a:endParaRPr lang="en-US" sz="1600" dirty="0"/>
          </a:p>
          <a:p>
            <a:pPr algn="l" marL="222250" indent="-222250">
              <a:lnSpc>
                <a:spcPct val="120000"/>
              </a:lnSpc>
              <a:spcBef>
                <a:spcPts val="10"/>
              </a:spcBef>
              <a:buSzPct val="100000"/>
              <a:buChar char="•"/>
            </a:pPr>
            <a:r>
              <a:rPr lang="en-US" sz="1400" dirty="0">
                <a:solidFill>
                  <a:srgbClr val="333333"/>
                </a:solidFill>
                <a:latin typeface="Noto Sans SC" pitchFamily="34" charset="0"/>
                <a:ea typeface="Noto Sans SC" pitchFamily="34" charset="-122"/>
                <a:cs typeface="Noto Sans SC" pitchFamily="34" charset="-120"/>
              </a:rPr>
              <a:t>Bật </a:t>
            </a:r>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Gỡ lỗi USB</a:t>
            </a:r>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a:t>
            </a:r>
            <a:pPr indent="0" marL="0">
              <a:lnSpc>
                <a:spcPct val="120000"/>
              </a:lnSpc>
              <a:buNone/>
            </a:pPr>
            <a:endParaRPr lang="en-US" sz="1600" dirty="0"/>
          </a:p>
          <a:p>
            <a:pPr algn="l" marL="222250" indent="-222250">
              <a:lnSpc>
                <a:spcPct val="120000"/>
              </a:lnSpc>
              <a:spcBef>
                <a:spcPts val="10"/>
              </a:spcBef>
              <a:buSzPct val="100000"/>
              <a:buChar char="•"/>
            </a:pPr>
            <a:r>
              <a:rPr lang="en-US" sz="1400" dirty="0">
                <a:solidFill>
                  <a:srgbClr val="333333"/>
                </a:solidFill>
                <a:latin typeface="Noto Sans SC" pitchFamily="34" charset="0"/>
                <a:ea typeface="Noto Sans SC" pitchFamily="34" charset="-122"/>
                <a:cs typeface="Noto Sans SC" pitchFamily="34" charset="-120"/>
              </a:rPr>
              <a:t>Kết nối điện thoại với máy tính qua cáp USB.</a:t>
            </a:r>
            <a:pPr indent="0" marL="0">
              <a:lnSpc>
                <a:spcPct val="120000"/>
              </a:lnSpc>
              <a:buNone/>
            </a:pPr>
            <a:endParaRPr lang="en-US" sz="1600" dirty="0"/>
          </a:p>
          <a:p>
            <a:pPr algn="l" marL="222250" indent="-222250">
              <a:lnSpc>
                <a:spcPct val="120000"/>
              </a:lnSpc>
              <a:spcBef>
                <a:spcPts val="10"/>
              </a:spcBef>
              <a:buSzPct val="100000"/>
              <a:buChar char="•"/>
            </a:pPr>
            <a:r>
              <a:rPr lang="en-US" sz="1400" dirty="0">
                <a:solidFill>
                  <a:srgbClr val="333333"/>
                </a:solidFill>
                <a:latin typeface="Noto Sans SC" pitchFamily="34" charset="0"/>
                <a:ea typeface="Noto Sans SC" pitchFamily="34" charset="-122"/>
                <a:cs typeface="Noto Sans SC" pitchFamily="34" charset="-120"/>
              </a:rPr>
              <a:t>Chọn thiết bị trong menu </a:t>
            </a:r>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Run</a:t>
            </a:r>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 của Android Studio.</a:t>
            </a:r>
            <a:endParaRPr lang="en-US" sz="1600" dirty="0"/>
          </a:p>
        </p:txBody>
      </p:sp>
      <p:sp>
        <p:nvSpPr>
          <p:cNvPr id="8" name="Shape 5"/>
          <p:cNvSpPr/>
          <p:nvPr/>
        </p:nvSpPr>
        <p:spPr>
          <a:xfrm>
            <a:off x="6248400" y="2514600"/>
            <a:ext cx="5689600" cy="2743200"/>
          </a:xfrm>
          <a:custGeom>
            <a:avLst/>
            <a:gdLst/>
            <a:ahLst/>
            <a:cxnLst/>
            <a:rect l="l" t="t" r="r" b="b"/>
            <a:pathLst>
              <a:path w="5689600" h="2743200">
                <a:moveTo>
                  <a:pt x="101611" y="0"/>
                </a:moveTo>
                <a:lnTo>
                  <a:pt x="5587989" y="0"/>
                </a:lnTo>
                <a:cubicBezTo>
                  <a:pt x="5644107" y="0"/>
                  <a:pt x="5689600" y="48169"/>
                  <a:pt x="5689600" y="107588"/>
                </a:cubicBezTo>
                <a:lnTo>
                  <a:pt x="5689600" y="2635612"/>
                </a:lnTo>
                <a:cubicBezTo>
                  <a:pt x="5689600" y="2695031"/>
                  <a:pt x="5644107" y="2743200"/>
                  <a:pt x="5587989" y="2743200"/>
                </a:cubicBezTo>
                <a:lnTo>
                  <a:pt x="101611" y="2743200"/>
                </a:lnTo>
                <a:cubicBezTo>
                  <a:pt x="45493" y="2743200"/>
                  <a:pt x="0" y="2695031"/>
                  <a:pt x="0" y="2635612"/>
                </a:cubicBezTo>
                <a:lnTo>
                  <a:pt x="0" y="107588"/>
                </a:lnTo>
                <a:cubicBezTo>
                  <a:pt x="0" y="48209"/>
                  <a:pt x="45530" y="0"/>
                  <a:pt x="101611" y="0"/>
                </a:cubicBezTo>
                <a:close/>
              </a:path>
            </a:pathLst>
          </a:custGeom>
          <a:solidFill>
            <a:srgbClr val="BACBD3"/>
          </a:solidFill>
          <a:ln/>
          <a:effectLst>
            <a:outerShdw sx="100000" sy="100000" kx="0" ky="0" algn="bl" rotWithShape="0" blurRad="76200" dist="50800" dir="5400000">
              <a:srgbClr val="000000">
                <a:alpha val="10196"/>
              </a:srgbClr>
            </a:outerShdw>
          </a:effectLst>
        </p:spPr>
      </p:sp>
      <p:sp>
        <p:nvSpPr>
          <p:cNvPr id="9" name="Shape 6"/>
          <p:cNvSpPr/>
          <p:nvPr/>
        </p:nvSpPr>
        <p:spPr>
          <a:xfrm>
            <a:off x="6580188" y="2832100"/>
            <a:ext cx="428625" cy="381000"/>
          </a:xfrm>
          <a:custGeom>
            <a:avLst/>
            <a:gdLst/>
            <a:ahLst/>
            <a:cxnLst/>
            <a:rect l="l" t="t" r="r" b="b"/>
            <a:pathLst>
              <a:path w="428625" h="381000">
                <a:moveTo>
                  <a:pt x="142875" y="71438"/>
                </a:moveTo>
                <a:cubicBezTo>
                  <a:pt x="142875" y="31998"/>
                  <a:pt x="174873" y="0"/>
                  <a:pt x="214313" y="0"/>
                </a:cubicBezTo>
                <a:cubicBezTo>
                  <a:pt x="253752" y="0"/>
                  <a:pt x="285750" y="31998"/>
                  <a:pt x="285750" y="71438"/>
                </a:cubicBezTo>
                <a:lnTo>
                  <a:pt x="285750" y="74116"/>
                </a:lnTo>
                <a:cubicBezTo>
                  <a:pt x="285750" y="85799"/>
                  <a:pt x="276299" y="95250"/>
                  <a:pt x="264616" y="95250"/>
                </a:cubicBezTo>
                <a:lnTo>
                  <a:pt x="164083" y="95250"/>
                </a:lnTo>
                <a:cubicBezTo>
                  <a:pt x="152400" y="95250"/>
                  <a:pt x="142949" y="85799"/>
                  <a:pt x="142949" y="74116"/>
                </a:cubicBezTo>
                <a:lnTo>
                  <a:pt x="142949" y="71438"/>
                </a:lnTo>
                <a:close/>
                <a:moveTo>
                  <a:pt x="400050" y="80962"/>
                </a:moveTo>
                <a:cubicBezTo>
                  <a:pt x="407938" y="91455"/>
                  <a:pt x="405780" y="106412"/>
                  <a:pt x="395288" y="114300"/>
                </a:cubicBezTo>
                <a:lnTo>
                  <a:pt x="322511" y="168846"/>
                </a:lnTo>
                <a:cubicBezTo>
                  <a:pt x="326454" y="175468"/>
                  <a:pt x="329431" y="182761"/>
                  <a:pt x="331291" y="190500"/>
                </a:cubicBezTo>
                <a:lnTo>
                  <a:pt x="404813" y="190500"/>
                </a:lnTo>
                <a:cubicBezTo>
                  <a:pt x="417984" y="190500"/>
                  <a:pt x="428625" y="201141"/>
                  <a:pt x="428625" y="214313"/>
                </a:cubicBezTo>
                <a:cubicBezTo>
                  <a:pt x="428625" y="227484"/>
                  <a:pt x="417984" y="238125"/>
                  <a:pt x="404813" y="238125"/>
                </a:cubicBezTo>
                <a:lnTo>
                  <a:pt x="333375" y="238125"/>
                </a:lnTo>
                <a:lnTo>
                  <a:pt x="333375" y="261938"/>
                </a:lnTo>
                <a:cubicBezTo>
                  <a:pt x="333375" y="263872"/>
                  <a:pt x="333301" y="265881"/>
                  <a:pt x="333226" y="267816"/>
                </a:cubicBezTo>
                <a:lnTo>
                  <a:pt x="395288" y="314325"/>
                </a:lnTo>
                <a:cubicBezTo>
                  <a:pt x="405780" y="322213"/>
                  <a:pt x="407938" y="337170"/>
                  <a:pt x="400050" y="347663"/>
                </a:cubicBezTo>
                <a:cubicBezTo>
                  <a:pt x="392162" y="358155"/>
                  <a:pt x="377205" y="360313"/>
                  <a:pt x="366713" y="352425"/>
                </a:cubicBezTo>
                <a:lnTo>
                  <a:pt x="319757" y="317227"/>
                </a:lnTo>
                <a:cubicBezTo>
                  <a:pt x="302493" y="350118"/>
                  <a:pt x="270272" y="373931"/>
                  <a:pt x="232172" y="379661"/>
                </a:cubicBezTo>
                <a:lnTo>
                  <a:pt x="232172" y="208359"/>
                </a:lnTo>
                <a:cubicBezTo>
                  <a:pt x="232172" y="198462"/>
                  <a:pt x="224210" y="190500"/>
                  <a:pt x="214313" y="190500"/>
                </a:cubicBezTo>
                <a:cubicBezTo>
                  <a:pt x="204415" y="190500"/>
                  <a:pt x="196453" y="198462"/>
                  <a:pt x="196453" y="208359"/>
                </a:cubicBezTo>
                <a:lnTo>
                  <a:pt x="196453" y="379661"/>
                </a:lnTo>
                <a:cubicBezTo>
                  <a:pt x="158353" y="373931"/>
                  <a:pt x="126132" y="350118"/>
                  <a:pt x="108868" y="317227"/>
                </a:cubicBezTo>
                <a:lnTo>
                  <a:pt x="61913" y="352425"/>
                </a:lnTo>
                <a:cubicBezTo>
                  <a:pt x="51420" y="360313"/>
                  <a:pt x="36463" y="358155"/>
                  <a:pt x="28575" y="347663"/>
                </a:cubicBezTo>
                <a:cubicBezTo>
                  <a:pt x="20687" y="337170"/>
                  <a:pt x="22845" y="322213"/>
                  <a:pt x="33338" y="314325"/>
                </a:cubicBezTo>
                <a:lnTo>
                  <a:pt x="95399" y="267816"/>
                </a:lnTo>
                <a:cubicBezTo>
                  <a:pt x="95324" y="265881"/>
                  <a:pt x="95250" y="263947"/>
                  <a:pt x="95250" y="261938"/>
                </a:cubicBezTo>
                <a:lnTo>
                  <a:pt x="95250" y="238125"/>
                </a:lnTo>
                <a:lnTo>
                  <a:pt x="23813" y="238125"/>
                </a:lnTo>
                <a:cubicBezTo>
                  <a:pt x="10641" y="238125"/>
                  <a:pt x="0" y="227484"/>
                  <a:pt x="0" y="214313"/>
                </a:cubicBezTo>
                <a:cubicBezTo>
                  <a:pt x="0" y="201141"/>
                  <a:pt x="10641" y="190500"/>
                  <a:pt x="23813" y="190500"/>
                </a:cubicBezTo>
                <a:lnTo>
                  <a:pt x="97334" y="190500"/>
                </a:lnTo>
                <a:cubicBezTo>
                  <a:pt x="99194" y="182761"/>
                  <a:pt x="102171" y="175468"/>
                  <a:pt x="106114" y="168846"/>
                </a:cubicBezTo>
                <a:lnTo>
                  <a:pt x="33338" y="114300"/>
                </a:lnTo>
                <a:cubicBezTo>
                  <a:pt x="22845" y="106412"/>
                  <a:pt x="20687" y="91455"/>
                  <a:pt x="28575" y="80962"/>
                </a:cubicBezTo>
                <a:cubicBezTo>
                  <a:pt x="36463" y="70470"/>
                  <a:pt x="51420" y="68312"/>
                  <a:pt x="61912" y="76200"/>
                </a:cubicBezTo>
                <a:lnTo>
                  <a:pt x="142875" y="136922"/>
                </a:lnTo>
                <a:cubicBezTo>
                  <a:pt x="152028" y="133127"/>
                  <a:pt x="162074" y="130969"/>
                  <a:pt x="172641" y="130969"/>
                </a:cubicBezTo>
                <a:lnTo>
                  <a:pt x="255984" y="130969"/>
                </a:lnTo>
                <a:cubicBezTo>
                  <a:pt x="266551" y="130969"/>
                  <a:pt x="276597" y="133052"/>
                  <a:pt x="285750" y="136922"/>
                </a:cubicBezTo>
                <a:lnTo>
                  <a:pt x="366713" y="76200"/>
                </a:lnTo>
                <a:cubicBezTo>
                  <a:pt x="377205" y="68312"/>
                  <a:pt x="392162" y="70470"/>
                  <a:pt x="400050" y="80963"/>
                </a:cubicBezTo>
                <a:close/>
              </a:path>
            </a:pathLst>
          </a:custGeom>
          <a:solidFill>
            <a:srgbClr val="F9B79B"/>
          </a:solidFill>
          <a:ln/>
        </p:spPr>
      </p:sp>
      <p:sp>
        <p:nvSpPr>
          <p:cNvPr id="10" name="Text 7"/>
          <p:cNvSpPr/>
          <p:nvPr/>
        </p:nvSpPr>
        <p:spPr>
          <a:xfrm>
            <a:off x="7232650" y="2819400"/>
            <a:ext cx="4470400" cy="406400"/>
          </a:xfrm>
          <a:prstGeom prst="rect">
            <a:avLst/>
          </a:prstGeom>
          <a:noFill/>
          <a:ln/>
        </p:spPr>
        <p:txBody>
          <a:bodyPr wrap="square" lIns="0" tIns="0" rIns="0" bIns="0" rtlCol="0" anchor="ctr"/>
          <a:lstStyle/>
          <a:p>
            <a:pPr indent="0" marL="0">
              <a:lnSpc>
                <a:spcPct val="110000"/>
              </a:lnSpc>
              <a:buNone/>
            </a:pPr>
            <a:r>
              <a:rPr lang="en-US" sz="2400" dirty="0">
                <a:solidFill>
                  <a:srgbClr val="333333"/>
                </a:solidFill>
                <a:latin typeface="Noto Sans SC" pitchFamily="34" charset="0"/>
                <a:ea typeface="Noto Sans SC" pitchFamily="34" charset="-122"/>
                <a:cs typeface="Noto Sans SC" pitchFamily="34" charset="-120"/>
              </a:rPr>
              <a:t>Sử Dụng Logcat Để Debug</a:t>
            </a:r>
            <a:endParaRPr lang="en-US" sz="1600" dirty="0"/>
          </a:p>
        </p:txBody>
      </p:sp>
      <p:sp>
        <p:nvSpPr>
          <p:cNvPr id="11" name="Text 8"/>
          <p:cNvSpPr/>
          <p:nvPr/>
        </p:nvSpPr>
        <p:spPr>
          <a:xfrm>
            <a:off x="6553200" y="3378200"/>
            <a:ext cx="5080000" cy="508000"/>
          </a:xfrm>
          <a:prstGeom prst="rect">
            <a:avLst/>
          </a:prstGeom>
          <a:noFill/>
          <a:ln/>
        </p:spPr>
        <p:txBody>
          <a:bodyPr wrap="square" lIns="0" tIns="0" rIns="0" bIns="0" rtlCol="0" anchor="ctr"/>
          <a:lstStyle/>
          <a:p>
            <a:pPr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Logcat là công cụ ghi lại thông tin hệ thống và ứng dụng, cực kỳ hữu ích để theo dõi luồng và tìm lỗi.</a:t>
            </a:r>
            <a:endParaRPr lang="en-US" sz="1600" dirty="0"/>
          </a:p>
        </p:txBody>
      </p:sp>
      <p:sp>
        <p:nvSpPr>
          <p:cNvPr id="12" name="Text 9"/>
          <p:cNvSpPr/>
          <p:nvPr/>
        </p:nvSpPr>
        <p:spPr>
          <a:xfrm>
            <a:off x="6553200" y="3987800"/>
            <a:ext cx="5588000" cy="254000"/>
          </a:xfrm>
          <a:prstGeom prst="rect">
            <a:avLst/>
          </a:prstGeom>
          <a:noFill/>
          <a:ln/>
        </p:spPr>
        <p:txBody>
          <a:bodyPr wrap="square" lIns="0" tIns="0" rIns="0" bIns="0" rtlCol="0" anchor="ctr"/>
          <a:lstStyle/>
          <a:p>
            <a:pPr indent="0" marL="0">
              <a:lnSpc>
                <a:spcPct val="120000"/>
              </a:lnSpc>
              <a:buNone/>
            </a:pPr>
            <a:r>
              <a:rPr lang="en-US" sz="1400" b="1" dirty="0">
                <a:solidFill>
                  <a:srgbClr val="333333"/>
                </a:solidFill>
                <a:latin typeface="Noto Sans SC" pitchFamily="34" charset="0"/>
                <a:ea typeface="Noto Sans SC" pitchFamily="34" charset="-122"/>
                <a:cs typeface="Noto Sans SC" pitchFamily="34" charset="-120"/>
              </a:rPr>
              <a:t>Cách sử dụng:</a:t>
            </a:r>
            <a:endParaRPr lang="en-US" sz="1600" dirty="0"/>
          </a:p>
        </p:txBody>
      </p:sp>
      <p:sp>
        <p:nvSpPr>
          <p:cNvPr id="13" name="Text 10"/>
          <p:cNvSpPr/>
          <p:nvPr/>
        </p:nvSpPr>
        <p:spPr>
          <a:xfrm>
            <a:off x="6553200" y="4241800"/>
            <a:ext cx="5080000" cy="558800"/>
          </a:xfrm>
          <a:prstGeom prst="rect">
            <a:avLst/>
          </a:prstGeom>
          <a:noFill/>
          <a:ln/>
        </p:spPr>
        <p:txBody>
          <a:bodyPr wrap="square" lIns="0" tIns="0" rIns="0" bIns="0" rtlCol="0" anchor="ctr"/>
          <a:lstStyle/>
          <a:p>
            <a:pPr algn="l" marL="222250" indent="-222250">
              <a:lnSpc>
                <a:spcPct val="120000"/>
              </a:lnSpc>
              <a:spcBef>
                <a:spcPts val="10"/>
              </a:spcBef>
              <a:buSzPct val="100000"/>
              <a:buChar char="•"/>
            </a:pPr>
            <a:r>
              <a:rPr lang="en-US" sz="1400" dirty="0">
                <a:solidFill>
                  <a:srgbClr val="333333"/>
                </a:solidFill>
                <a:latin typeface="Noto Sans SC" pitchFamily="34" charset="0"/>
                <a:ea typeface="Noto Sans SC" pitchFamily="34" charset="-122"/>
                <a:cs typeface="Noto Sans SC" pitchFamily="34" charset="-120"/>
              </a:rPr>
              <a:t>Thêm log trong code bằng </a:t>
            </a:r>
            <a:pPr algn="l" indent="0" marL="0">
              <a:lnSpc>
                <a:spcPct val="120000"/>
              </a:lnSpc>
              <a:buNone/>
            </a:pPr>
            <a:r>
              <a:rPr lang="en-US" sz="1400" dirty="0">
                <a:solidFill>
                  <a:srgbClr val="333333"/>
                </a:solidFill>
                <a:highlight>
                  <a:srgbClr val="F9B79B">
                    <a:alpha val="66667"/>
                  </a:srgbClr>
                </a:highlight>
                <a:latin typeface="Noto Sans SC" pitchFamily="34" charset="0"/>
                <a:ea typeface="Noto Sans SC" pitchFamily="34" charset="-122"/>
                <a:cs typeface="Noto Sans SC" pitchFamily="34" charset="-120"/>
              </a:rPr>
              <a:t> Log.d("TAG", "Message") </a:t>
            </a:r>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a:t>
            </a:r>
            <a:pPr indent="0" marL="0">
              <a:lnSpc>
                <a:spcPct val="120000"/>
              </a:lnSpc>
              <a:buNone/>
            </a:pPr>
            <a:endParaRPr lang="en-US" sz="1600" dirty="0"/>
          </a:p>
          <a:p>
            <a:pPr algn="l" marL="222250" indent="-222250">
              <a:lnSpc>
                <a:spcPct val="120000"/>
              </a:lnSpc>
              <a:spcBef>
                <a:spcPts val="10"/>
              </a:spcBef>
              <a:buSzPct val="100000"/>
              <a:buChar char="•"/>
            </a:pPr>
            <a:r>
              <a:rPr lang="en-US" sz="1400" dirty="0">
                <a:solidFill>
                  <a:srgbClr val="333333"/>
                </a:solidFill>
                <a:latin typeface="Noto Sans SC" pitchFamily="34" charset="0"/>
                <a:ea typeface="Noto Sans SC" pitchFamily="34" charset="-122"/>
                <a:cs typeface="Noto Sans SC" pitchFamily="34" charset="-120"/>
              </a:rPr>
              <a:t>Sử dụng bộ lọc trong Logcat để tìm log của bạn.</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slides_tmpl/image/25-09-04-14:58:34-d2sjh6m1bb2p4onbq9b0.jpg">    </p:cNvPr>
          <p:cNvPicPr>
            <a:picLocks noChangeAspect="1"/>
          </p:cNvPicPr>
          <p:nvPr/>
        </p:nvPicPr>
        <p:blipFill>
          <a:blip r:embed="rId1"/>
          <a:stretch>
            <a:fillRect/>
          </a:stretch>
        </p:blipFill>
        <p:spPr>
          <a:xfrm>
            <a:off x="0" y="0"/>
            <a:ext cx="12191365" cy="6858000"/>
          </a:xfrm>
          <a:prstGeom prst="rect">
            <a:avLst/>
          </a:prstGeom>
        </p:spPr>
      </p:pic>
      <p:pic>
        <p:nvPicPr>
          <p:cNvPr id="3" name="Image 1" descr="https://kimi-img.moonshot.cn/pub/slides/slides_tmpl/image/25-09-04-14:58:39-d2sjh7u1bb2p4onbq9d0.jpg">    </p:cNvPr>
          <p:cNvPicPr>
            <a:picLocks noChangeAspect="1"/>
          </p:cNvPicPr>
          <p:nvPr/>
        </p:nvPicPr>
        <p:blipFill>
          <a:blip r:embed="rId2">
            <a:alphaModFix amt="90000"/>
          </a:blip>
          <a:srcRect l="0" r="0" t="19005" b="17569"/>
          <a:stretch/>
        </p:blipFill>
        <p:spPr>
          <a:xfrm>
            <a:off x="0" y="1316990"/>
            <a:ext cx="12192000" cy="4321175"/>
          </a:xfrm>
          <a:prstGeom prst="rect">
            <a:avLst/>
          </a:prstGeom>
        </p:spPr>
      </p:pic>
      <p:sp>
        <p:nvSpPr>
          <p:cNvPr id="4" name="Text 0"/>
          <p:cNvSpPr/>
          <p:nvPr/>
        </p:nvSpPr>
        <p:spPr>
          <a:xfrm>
            <a:off x="1367155" y="3056890"/>
            <a:ext cx="9475470" cy="1066800"/>
          </a:xfrm>
          <a:prstGeom prst="rect">
            <a:avLst/>
          </a:prstGeom>
          <a:noFill/>
          <a:ln/>
        </p:spPr>
        <p:txBody>
          <a:bodyPr wrap="square" lIns="91440" tIns="45720" rIns="91440" bIns="45720" rtlCol="0" anchor="t"/>
          <a:lstStyle/>
          <a:p>
            <a:pPr algn="ctr" indent="0" marL="0">
              <a:lnSpc>
                <a:spcPct val="110000"/>
              </a:lnSpc>
              <a:buNone/>
            </a:pPr>
            <a:r>
              <a:rPr lang="en-US" sz="4800" dirty="0">
                <a:solidFill>
                  <a:srgbClr val="333F4F"/>
                </a:solidFill>
                <a:latin typeface="MiSans" pitchFamily="34" charset="0"/>
                <a:ea typeface="MiSans" pitchFamily="34" charset="-122"/>
                <a:cs typeface="MiSans" pitchFamily="34" charset="-120"/>
              </a:rPr>
              <a:t>Ghi nhật ký và tài nguyên</a:t>
            </a:r>
            <a:endParaRPr lang="en-US" sz="1600" dirty="0"/>
          </a:p>
        </p:txBody>
      </p:sp>
      <p:sp>
        <p:nvSpPr>
          <p:cNvPr id="5" name="Text 1"/>
          <p:cNvSpPr/>
          <p:nvPr/>
        </p:nvSpPr>
        <p:spPr>
          <a:xfrm>
            <a:off x="5107305" y="1623060"/>
            <a:ext cx="2824344" cy="1066800"/>
          </a:xfrm>
          <a:prstGeom prst="rect">
            <a:avLst/>
          </a:prstGeom>
          <a:noFill/>
          <a:ln/>
        </p:spPr>
        <p:txBody>
          <a:bodyPr wrap="square" lIns="91440" tIns="45720" rIns="91440" bIns="45720" rtlCol="0" anchor="t"/>
          <a:lstStyle/>
          <a:p>
            <a:pPr algn="l" indent="0" marL="0">
              <a:lnSpc>
                <a:spcPct val="100000"/>
              </a:lnSpc>
              <a:buNone/>
            </a:pPr>
            <a:r>
              <a:rPr lang="en-US" sz="9600" dirty="0">
                <a:solidFill>
                  <a:srgbClr val="44546A"/>
                </a:solidFill>
                <a:latin typeface="MiSans" pitchFamily="34" charset="0"/>
                <a:ea typeface="MiSans" pitchFamily="34" charset="-122"/>
                <a:cs typeface="MiSans" pitchFamily="34" charset="-120"/>
              </a:rPr>
              <a:t>04</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4F6"/>
        </a:solidFill>
      </p:bgPr>
    </p:bg>
    <p:spTree>
      <p:nvGrpSpPr>
        <p:cNvPr id="1" name=""/>
        <p:cNvGrpSpPr/>
        <p:nvPr/>
      </p:nvGrpSpPr>
      <p:grpSpPr>
        <a:xfrm>
          <a:off x="0" y="0"/>
          <a:ext cx="0" cy="0"/>
          <a:chOff x="0" y="0"/>
          <a:chExt cx="0" cy="0"/>
        </a:xfrm>
      </p:grpSpPr>
      <p:pic>
        <p:nvPicPr>
          <p:cNvPr id="2" name="Image 0" descr="https://kimi-img.moonshot.cn/pub/slides/slides_tmpl/image/25-09-04-14:58:41-d2sjh8e1bb2p4onbq9f0.jpg">    </p:cNvPr>
          <p:cNvPicPr>
            <a:picLocks noChangeAspect="1"/>
          </p:cNvPicPr>
          <p:nvPr/>
        </p:nvPicPr>
        <p:blipFill>
          <a:blip r:embed="rId1"/>
          <a:stretch>
            <a:fillRect/>
          </a:stretch>
        </p:blipFill>
        <p:spPr>
          <a:xfrm>
            <a:off x="-29845" y="-15875"/>
            <a:ext cx="12300585" cy="6921500"/>
          </a:xfrm>
          <a:prstGeom prst="rect">
            <a:avLst/>
          </a:prstGeom>
        </p:spPr>
      </p:pic>
      <p:sp>
        <p:nvSpPr>
          <p:cNvPr id="3" name="Text 0"/>
          <p:cNvSpPr/>
          <p:nvPr/>
        </p:nvSpPr>
        <p:spPr>
          <a:xfrm>
            <a:off x="254000" y="914400"/>
            <a:ext cx="5537200" cy="1016000"/>
          </a:xfrm>
          <a:prstGeom prst="rect">
            <a:avLst/>
          </a:prstGeom>
          <a:noFill/>
          <a:ln/>
        </p:spPr>
        <p:txBody>
          <a:bodyPr wrap="square" lIns="0" tIns="0" rIns="0" bIns="0" rtlCol="0" anchor="ctr"/>
          <a:lstStyle/>
          <a:p>
            <a:pPr indent="0" marL="0">
              <a:lnSpc>
                <a:spcPct val="90000"/>
              </a:lnSpc>
              <a:buNone/>
            </a:pPr>
            <a:r>
              <a:rPr lang="en-US" sz="3600" dirty="0">
                <a:solidFill>
                  <a:srgbClr val="333333"/>
                </a:solidFill>
                <a:latin typeface="Noto Sans SC" pitchFamily="34" charset="0"/>
                <a:ea typeface="Noto Sans SC" pitchFamily="34" charset="-122"/>
                <a:cs typeface="Noto Sans SC" pitchFamily="34" charset="-120"/>
              </a:rPr>
              <a:t>Sử Dụng Logcat và Thêm Log</a:t>
            </a:r>
            <a:endParaRPr lang="en-US" sz="1600" dirty="0"/>
          </a:p>
        </p:txBody>
      </p:sp>
      <p:sp>
        <p:nvSpPr>
          <p:cNvPr id="4" name="Text 1"/>
          <p:cNvSpPr/>
          <p:nvPr/>
        </p:nvSpPr>
        <p:spPr>
          <a:xfrm>
            <a:off x="254000" y="2133600"/>
            <a:ext cx="5537200" cy="914400"/>
          </a:xfrm>
          <a:prstGeom prst="rect">
            <a:avLst/>
          </a:prstGeom>
          <a:noFill/>
          <a:ln/>
        </p:spPr>
        <p:txBody>
          <a:bodyPr wrap="square" lIns="0" tIns="0" rIns="0" bIns="0" rtlCol="0" anchor="ctr"/>
          <a:lstStyle/>
          <a:p>
            <a:pPr indent="0" marL="0">
              <a:lnSpc>
                <a:spcPct val="130000"/>
              </a:lnSpc>
              <a:buNone/>
            </a:pPr>
            <a:r>
              <a:rPr lang="en-US" sz="1600" dirty="0">
                <a:solidFill>
                  <a:srgbClr val="333333"/>
                </a:solidFill>
                <a:latin typeface="Noto Sans SC" pitchFamily="34" charset="0"/>
                <a:ea typeface="Noto Sans SC" pitchFamily="34" charset="-122"/>
                <a:cs typeface="Noto Sans SC" pitchFamily="34" charset="-120"/>
              </a:rPr>
              <a:t>Ghi log là một kỹ năng debug cơ bản nhưng vô cùng quan trọng. Nó giúp bạn theo dõi giá trị biến, luồng thực thi và nhanh chóng xác định vị trí xảy ra lỗi.</a:t>
            </a:r>
            <a:endParaRPr lang="en-US" sz="1600" dirty="0"/>
          </a:p>
        </p:txBody>
      </p:sp>
      <p:sp>
        <p:nvSpPr>
          <p:cNvPr id="5" name="Shape 2"/>
          <p:cNvSpPr/>
          <p:nvPr/>
        </p:nvSpPr>
        <p:spPr>
          <a:xfrm>
            <a:off x="254000" y="3251200"/>
            <a:ext cx="5537200" cy="2692400"/>
          </a:xfrm>
          <a:custGeom>
            <a:avLst/>
            <a:gdLst/>
            <a:ahLst/>
            <a:cxnLst/>
            <a:rect l="l" t="t" r="r" b="b"/>
            <a:pathLst>
              <a:path w="5537200" h="2692400">
                <a:moveTo>
                  <a:pt x="101611" y="0"/>
                </a:moveTo>
                <a:lnTo>
                  <a:pt x="5435589" y="0"/>
                </a:lnTo>
                <a:cubicBezTo>
                  <a:pt x="5491707" y="0"/>
                  <a:pt x="5537200" y="45493"/>
                  <a:pt x="5537200" y="101611"/>
                </a:cubicBezTo>
                <a:lnTo>
                  <a:pt x="5537200" y="2590789"/>
                </a:lnTo>
                <a:cubicBezTo>
                  <a:pt x="5537200" y="2646907"/>
                  <a:pt x="5491707" y="2692400"/>
                  <a:pt x="5435589" y="2692400"/>
                </a:cubicBezTo>
                <a:lnTo>
                  <a:pt x="101611" y="2692400"/>
                </a:lnTo>
                <a:cubicBezTo>
                  <a:pt x="45493" y="2692400"/>
                  <a:pt x="0" y="2646907"/>
                  <a:pt x="0" y="2590789"/>
                </a:cubicBezTo>
                <a:lnTo>
                  <a:pt x="0" y="101611"/>
                </a:lnTo>
                <a:cubicBezTo>
                  <a:pt x="0" y="45530"/>
                  <a:pt x="45530" y="0"/>
                  <a:pt x="101611" y="0"/>
                </a:cubicBezTo>
                <a:close/>
              </a:path>
            </a:pathLst>
          </a:custGeom>
          <a:solidFill>
            <a:srgbClr val="D7E3E9">
              <a:alpha val="66667"/>
            </a:srgbClr>
          </a:solidFill>
          <a:ln/>
        </p:spPr>
      </p:sp>
      <p:sp>
        <p:nvSpPr>
          <p:cNvPr id="6" name="Text 3"/>
          <p:cNvSpPr/>
          <p:nvPr/>
        </p:nvSpPr>
        <p:spPr>
          <a:xfrm>
            <a:off x="457200" y="3454400"/>
            <a:ext cx="5638800" cy="254000"/>
          </a:xfrm>
          <a:prstGeom prst="rect">
            <a:avLst/>
          </a:prstGeom>
          <a:noFill/>
          <a:ln/>
        </p:spPr>
        <p:txBody>
          <a:bodyPr wrap="square" lIns="0" tIns="0" rIns="0" bIns="0" rtlCol="0" anchor="ctr"/>
          <a:lstStyle/>
          <a:p>
            <a:pPr indent="0" marL="0">
              <a:lnSpc>
                <a:spcPct val="120000"/>
              </a:lnSpc>
              <a:buNone/>
            </a:pPr>
            <a:r>
              <a:rPr lang="en-US" sz="1400" dirty="0">
                <a:solidFill>
                  <a:srgbClr val="4A5565"/>
                </a:solidFill>
                <a:latin typeface="MiSans" pitchFamily="34" charset="0"/>
                <a:ea typeface="MiSans" pitchFamily="34" charset="-122"/>
                <a:cs typeface="MiSans" pitchFamily="34" charset="-120"/>
              </a:rPr>
              <a:t>// Khai báo TAG</a:t>
            </a:r>
            <a:endParaRPr lang="en-US" sz="1600" dirty="0"/>
          </a:p>
        </p:txBody>
      </p:sp>
      <p:sp>
        <p:nvSpPr>
          <p:cNvPr id="7" name="Text 4"/>
          <p:cNvSpPr/>
          <p:nvPr/>
        </p:nvSpPr>
        <p:spPr>
          <a:xfrm>
            <a:off x="457200" y="3708400"/>
            <a:ext cx="5638800" cy="254000"/>
          </a:xfrm>
          <a:prstGeom prst="rect">
            <a:avLst/>
          </a:prstGeom>
          <a:noFill/>
          <a:ln/>
        </p:spPr>
        <p:txBody>
          <a:bodyPr wrap="square" lIns="0" tIns="0" rIns="0" bIns="0" rtlCol="0" anchor="ctr"/>
          <a:lstStyle/>
          <a:p>
            <a:pPr indent="0" marL="0">
              <a:lnSpc>
                <a:spcPct val="120000"/>
              </a:lnSpc>
              <a:buNone/>
            </a:pPr>
            <a:r>
              <a:rPr lang="en-US" sz="1400" dirty="0">
                <a:solidFill>
                  <a:srgbClr val="333333"/>
                </a:solidFill>
                <a:latin typeface="MiSans" pitchFamily="34" charset="0"/>
                <a:ea typeface="MiSans" pitchFamily="34" charset="-122"/>
                <a:cs typeface="MiSans" pitchFamily="34" charset="-120"/>
              </a:rPr>
              <a:t>private static final String TAG = "MyApp";</a:t>
            </a:r>
            <a:endParaRPr lang="en-US" sz="1600" dirty="0"/>
          </a:p>
        </p:txBody>
      </p:sp>
      <p:sp>
        <p:nvSpPr>
          <p:cNvPr id="8" name="Text 5"/>
          <p:cNvSpPr/>
          <p:nvPr/>
        </p:nvSpPr>
        <p:spPr>
          <a:xfrm>
            <a:off x="457200" y="4216400"/>
            <a:ext cx="5638800" cy="254000"/>
          </a:xfrm>
          <a:prstGeom prst="rect">
            <a:avLst/>
          </a:prstGeom>
          <a:noFill/>
          <a:ln/>
        </p:spPr>
        <p:txBody>
          <a:bodyPr wrap="square" lIns="0" tIns="0" rIns="0" bIns="0" rtlCol="0" anchor="ctr"/>
          <a:lstStyle/>
          <a:p>
            <a:pPr indent="0" marL="0">
              <a:lnSpc>
                <a:spcPct val="120000"/>
              </a:lnSpc>
              <a:buNone/>
            </a:pPr>
            <a:r>
              <a:rPr lang="en-US" sz="1400" dirty="0">
                <a:solidFill>
                  <a:srgbClr val="4A5565"/>
                </a:solidFill>
                <a:latin typeface="MiSans" pitchFamily="34" charset="0"/>
                <a:ea typeface="MiSans" pitchFamily="34" charset="-122"/>
                <a:cs typeface="MiSans" pitchFamily="34" charset="-120"/>
              </a:rPr>
              <a:t>// Ghi log ở các mức độ khác nhau</a:t>
            </a:r>
            <a:endParaRPr lang="en-US" sz="1600" dirty="0"/>
          </a:p>
        </p:txBody>
      </p:sp>
      <p:sp>
        <p:nvSpPr>
          <p:cNvPr id="9" name="Text 6"/>
          <p:cNvSpPr/>
          <p:nvPr/>
        </p:nvSpPr>
        <p:spPr>
          <a:xfrm>
            <a:off x="457200" y="4470400"/>
            <a:ext cx="5130800" cy="254000"/>
          </a:xfrm>
          <a:prstGeom prst="rect">
            <a:avLst/>
          </a:prstGeom>
          <a:noFill/>
          <a:ln/>
        </p:spPr>
        <p:txBody>
          <a:bodyPr wrap="square" lIns="0" tIns="0" rIns="0" bIns="0" rtlCol="0" anchor="ctr"/>
          <a:lstStyle/>
          <a:p>
            <a:pPr indent="0" marL="0">
              <a:lnSpc>
                <a:spcPct val="120000"/>
              </a:lnSpc>
              <a:buNone/>
            </a:pPr>
            <a:r>
              <a:rPr lang="en-US" sz="1400" dirty="0">
                <a:solidFill>
                  <a:srgbClr val="333333"/>
                </a:solidFill>
                <a:latin typeface="MiSans" pitchFamily="34" charset="0"/>
                <a:ea typeface="MiSans" pitchFamily="34" charset="-122"/>
                <a:cs typeface="MiSans" pitchFamily="34" charset="-120"/>
              </a:rPr>
              <a:t>Log.</a:t>
            </a:r>
            <a:pPr indent="0" marL="0">
              <a:lnSpc>
                <a:spcPct val="120000"/>
              </a:lnSpc>
              <a:buNone/>
            </a:pPr>
            <a:r>
              <a:rPr lang="en-US" sz="1400" dirty="0">
                <a:solidFill>
                  <a:srgbClr val="F9B79B"/>
                </a:solidFill>
                <a:latin typeface="MiSans" pitchFamily="34" charset="0"/>
                <a:ea typeface="MiSans" pitchFamily="34" charset="-122"/>
                <a:cs typeface="MiSans" pitchFamily="34" charset="-120"/>
              </a:rPr>
              <a:t>v</a:t>
            </a:r>
            <a:pPr indent="0" marL="0">
              <a:lnSpc>
                <a:spcPct val="120000"/>
              </a:lnSpc>
              <a:buNone/>
            </a:pPr>
            <a:r>
              <a:rPr lang="en-US" sz="1400" dirty="0">
                <a:solidFill>
                  <a:srgbClr val="333333"/>
                </a:solidFill>
                <a:latin typeface="MiSans" pitchFamily="34" charset="0"/>
                <a:ea typeface="MiSans" pitchFamily="34" charset="-122"/>
                <a:cs typeface="MiSans" pitchFamily="34" charset="-120"/>
              </a:rPr>
              <a:t>(TAG, "Verbose log");</a:t>
            </a:r>
            <a:endParaRPr lang="en-US" sz="1600" dirty="0"/>
          </a:p>
        </p:txBody>
      </p:sp>
      <p:sp>
        <p:nvSpPr>
          <p:cNvPr id="10" name="Text 7"/>
          <p:cNvSpPr/>
          <p:nvPr/>
        </p:nvSpPr>
        <p:spPr>
          <a:xfrm>
            <a:off x="457200" y="4724400"/>
            <a:ext cx="5130800" cy="254000"/>
          </a:xfrm>
          <a:prstGeom prst="rect">
            <a:avLst/>
          </a:prstGeom>
          <a:noFill/>
          <a:ln/>
        </p:spPr>
        <p:txBody>
          <a:bodyPr wrap="square" lIns="0" tIns="0" rIns="0" bIns="0" rtlCol="0" anchor="ctr"/>
          <a:lstStyle/>
          <a:p>
            <a:pPr indent="0" marL="0">
              <a:lnSpc>
                <a:spcPct val="120000"/>
              </a:lnSpc>
              <a:buNone/>
            </a:pPr>
            <a:r>
              <a:rPr lang="en-US" sz="1400" dirty="0">
                <a:solidFill>
                  <a:srgbClr val="333333"/>
                </a:solidFill>
                <a:latin typeface="MiSans" pitchFamily="34" charset="0"/>
                <a:ea typeface="MiSans" pitchFamily="34" charset="-122"/>
                <a:cs typeface="MiSans" pitchFamily="34" charset="-120"/>
              </a:rPr>
              <a:t>Log.</a:t>
            </a:r>
            <a:pPr indent="0" marL="0">
              <a:lnSpc>
                <a:spcPct val="120000"/>
              </a:lnSpc>
              <a:buNone/>
            </a:pPr>
            <a:r>
              <a:rPr lang="en-US" sz="1400" dirty="0">
                <a:solidFill>
                  <a:srgbClr val="F9B79B"/>
                </a:solidFill>
                <a:latin typeface="MiSans" pitchFamily="34" charset="0"/>
                <a:ea typeface="MiSans" pitchFamily="34" charset="-122"/>
                <a:cs typeface="MiSans" pitchFamily="34" charset="-120"/>
              </a:rPr>
              <a:t>d</a:t>
            </a:r>
            <a:pPr indent="0" marL="0">
              <a:lnSpc>
                <a:spcPct val="120000"/>
              </a:lnSpc>
              <a:buNone/>
            </a:pPr>
            <a:r>
              <a:rPr lang="en-US" sz="1400" dirty="0">
                <a:solidFill>
                  <a:srgbClr val="333333"/>
                </a:solidFill>
                <a:latin typeface="MiSans" pitchFamily="34" charset="0"/>
                <a:ea typeface="MiSans" pitchFamily="34" charset="-122"/>
                <a:cs typeface="MiSans" pitchFamily="34" charset="-120"/>
              </a:rPr>
              <a:t>(TAG, "Debug log");</a:t>
            </a:r>
            <a:endParaRPr lang="en-US" sz="1600" dirty="0"/>
          </a:p>
        </p:txBody>
      </p:sp>
      <p:sp>
        <p:nvSpPr>
          <p:cNvPr id="11" name="Text 8"/>
          <p:cNvSpPr/>
          <p:nvPr/>
        </p:nvSpPr>
        <p:spPr>
          <a:xfrm>
            <a:off x="457200" y="4978400"/>
            <a:ext cx="5130800" cy="254000"/>
          </a:xfrm>
          <a:prstGeom prst="rect">
            <a:avLst/>
          </a:prstGeom>
          <a:noFill/>
          <a:ln/>
        </p:spPr>
        <p:txBody>
          <a:bodyPr wrap="square" lIns="0" tIns="0" rIns="0" bIns="0" rtlCol="0" anchor="ctr"/>
          <a:lstStyle/>
          <a:p>
            <a:pPr indent="0" marL="0">
              <a:lnSpc>
                <a:spcPct val="120000"/>
              </a:lnSpc>
              <a:buNone/>
            </a:pPr>
            <a:r>
              <a:rPr lang="en-US" sz="1400" dirty="0">
                <a:solidFill>
                  <a:srgbClr val="333333"/>
                </a:solidFill>
                <a:latin typeface="MiSans" pitchFamily="34" charset="0"/>
                <a:ea typeface="MiSans" pitchFamily="34" charset="-122"/>
                <a:cs typeface="MiSans" pitchFamily="34" charset="-120"/>
              </a:rPr>
              <a:t>Log.</a:t>
            </a:r>
            <a:pPr indent="0" marL="0">
              <a:lnSpc>
                <a:spcPct val="120000"/>
              </a:lnSpc>
              <a:buNone/>
            </a:pPr>
            <a:r>
              <a:rPr lang="en-US" sz="1400" dirty="0">
                <a:solidFill>
                  <a:srgbClr val="F9B79B"/>
                </a:solidFill>
                <a:latin typeface="MiSans" pitchFamily="34" charset="0"/>
                <a:ea typeface="MiSans" pitchFamily="34" charset="-122"/>
                <a:cs typeface="MiSans" pitchFamily="34" charset="-120"/>
              </a:rPr>
              <a:t>i</a:t>
            </a:r>
            <a:pPr indent="0" marL="0">
              <a:lnSpc>
                <a:spcPct val="120000"/>
              </a:lnSpc>
              <a:buNone/>
            </a:pPr>
            <a:r>
              <a:rPr lang="en-US" sz="1400" dirty="0">
                <a:solidFill>
                  <a:srgbClr val="333333"/>
                </a:solidFill>
                <a:latin typeface="MiSans" pitchFamily="34" charset="0"/>
                <a:ea typeface="MiSans" pitchFamily="34" charset="-122"/>
                <a:cs typeface="MiSans" pitchFamily="34" charset="-120"/>
              </a:rPr>
              <a:t>(TAG, "Info log");</a:t>
            </a:r>
            <a:endParaRPr lang="en-US" sz="1600" dirty="0"/>
          </a:p>
        </p:txBody>
      </p:sp>
      <p:sp>
        <p:nvSpPr>
          <p:cNvPr id="12" name="Text 9"/>
          <p:cNvSpPr/>
          <p:nvPr/>
        </p:nvSpPr>
        <p:spPr>
          <a:xfrm>
            <a:off x="457200" y="5232400"/>
            <a:ext cx="5130800" cy="254000"/>
          </a:xfrm>
          <a:prstGeom prst="rect">
            <a:avLst/>
          </a:prstGeom>
          <a:noFill/>
          <a:ln/>
        </p:spPr>
        <p:txBody>
          <a:bodyPr wrap="square" lIns="0" tIns="0" rIns="0" bIns="0" rtlCol="0" anchor="ctr"/>
          <a:lstStyle/>
          <a:p>
            <a:pPr indent="0" marL="0">
              <a:lnSpc>
                <a:spcPct val="120000"/>
              </a:lnSpc>
              <a:buNone/>
            </a:pPr>
            <a:r>
              <a:rPr lang="en-US" sz="1400" dirty="0">
                <a:solidFill>
                  <a:srgbClr val="333333"/>
                </a:solidFill>
                <a:latin typeface="MiSans" pitchFamily="34" charset="0"/>
                <a:ea typeface="MiSans" pitchFamily="34" charset="-122"/>
                <a:cs typeface="MiSans" pitchFamily="34" charset="-120"/>
              </a:rPr>
              <a:t>Log.</a:t>
            </a:r>
            <a:pPr indent="0" marL="0">
              <a:lnSpc>
                <a:spcPct val="120000"/>
              </a:lnSpc>
              <a:buNone/>
            </a:pPr>
            <a:r>
              <a:rPr lang="en-US" sz="1400" dirty="0">
                <a:solidFill>
                  <a:srgbClr val="F9B79B"/>
                </a:solidFill>
                <a:latin typeface="MiSans" pitchFamily="34" charset="0"/>
                <a:ea typeface="MiSans" pitchFamily="34" charset="-122"/>
                <a:cs typeface="MiSans" pitchFamily="34" charset="-120"/>
              </a:rPr>
              <a:t>w</a:t>
            </a:r>
            <a:pPr indent="0" marL="0">
              <a:lnSpc>
                <a:spcPct val="120000"/>
              </a:lnSpc>
              <a:buNone/>
            </a:pPr>
            <a:r>
              <a:rPr lang="en-US" sz="1400" dirty="0">
                <a:solidFill>
                  <a:srgbClr val="333333"/>
                </a:solidFill>
                <a:latin typeface="MiSans" pitchFamily="34" charset="0"/>
                <a:ea typeface="MiSans" pitchFamily="34" charset="-122"/>
                <a:cs typeface="MiSans" pitchFamily="34" charset="-120"/>
              </a:rPr>
              <a:t>(TAG, "Warning log");</a:t>
            </a:r>
            <a:endParaRPr lang="en-US" sz="1600" dirty="0"/>
          </a:p>
        </p:txBody>
      </p:sp>
      <p:sp>
        <p:nvSpPr>
          <p:cNvPr id="13" name="Text 10"/>
          <p:cNvSpPr/>
          <p:nvPr/>
        </p:nvSpPr>
        <p:spPr>
          <a:xfrm>
            <a:off x="457200" y="5486400"/>
            <a:ext cx="5130800" cy="254000"/>
          </a:xfrm>
          <a:prstGeom prst="rect">
            <a:avLst/>
          </a:prstGeom>
          <a:noFill/>
          <a:ln/>
        </p:spPr>
        <p:txBody>
          <a:bodyPr wrap="square" lIns="0" tIns="0" rIns="0" bIns="0" rtlCol="0" anchor="ctr"/>
          <a:lstStyle/>
          <a:p>
            <a:pPr indent="0" marL="0">
              <a:lnSpc>
                <a:spcPct val="120000"/>
              </a:lnSpc>
              <a:buNone/>
            </a:pPr>
            <a:r>
              <a:rPr lang="en-US" sz="1400" dirty="0">
                <a:solidFill>
                  <a:srgbClr val="333333"/>
                </a:solidFill>
                <a:latin typeface="MiSans" pitchFamily="34" charset="0"/>
                <a:ea typeface="MiSans" pitchFamily="34" charset="-122"/>
                <a:cs typeface="MiSans" pitchFamily="34" charset="-120"/>
              </a:rPr>
              <a:t>Log.</a:t>
            </a:r>
            <a:pPr indent="0" marL="0">
              <a:lnSpc>
                <a:spcPct val="120000"/>
              </a:lnSpc>
              <a:buNone/>
            </a:pPr>
            <a:r>
              <a:rPr lang="en-US" sz="1400" dirty="0">
                <a:solidFill>
                  <a:srgbClr val="F9B79B"/>
                </a:solidFill>
                <a:latin typeface="MiSans" pitchFamily="34" charset="0"/>
                <a:ea typeface="MiSans" pitchFamily="34" charset="-122"/>
                <a:cs typeface="MiSans" pitchFamily="34" charset="-120"/>
              </a:rPr>
              <a:t>e</a:t>
            </a:r>
            <a:pPr indent="0" marL="0">
              <a:lnSpc>
                <a:spcPct val="120000"/>
              </a:lnSpc>
              <a:buNone/>
            </a:pPr>
            <a:r>
              <a:rPr lang="en-US" sz="1400" dirty="0">
                <a:solidFill>
                  <a:srgbClr val="333333"/>
                </a:solidFill>
                <a:latin typeface="MiSans" pitchFamily="34" charset="0"/>
                <a:ea typeface="MiSans" pitchFamily="34" charset="-122"/>
                <a:cs typeface="MiSans" pitchFamily="34" charset="-120"/>
              </a:rPr>
              <a:t>(TAG, "Error log");</a:t>
            </a:r>
            <a:endParaRPr lang="en-US" sz="1600" dirty="0"/>
          </a:p>
        </p:txBody>
      </p:sp>
      <p:pic>
        <p:nvPicPr>
          <p:cNvPr id="14" name="Image 1" descr="https://kimi-web-img.moonshot.cn/img/pic4.zhimg.com/afb26e7db808a43852a6ec4990a1611993a647b1.jpg">    </p:cNvPr>
          <p:cNvPicPr>
            <a:picLocks noChangeAspect="1"/>
          </p:cNvPicPr>
          <p:nvPr/>
        </p:nvPicPr>
        <p:blipFill>
          <a:blip r:embed="rId2"/>
          <a:srcRect l="31578" r="31578" t="0" b="0"/>
          <a:stretch/>
        </p:blipFill>
        <p:spPr>
          <a:xfrm>
            <a:off x="6096000" y="254000"/>
            <a:ext cx="5842000" cy="4826000"/>
          </a:xfrm>
          <a:prstGeom prst="roundRect">
            <a:avLst>
              <a:gd name="adj" fmla="val 3158"/>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4F6"/>
        </a:solidFill>
      </p:bgPr>
    </p:bg>
    <p:spTree>
      <p:nvGrpSpPr>
        <p:cNvPr id="1" name=""/>
        <p:cNvGrpSpPr/>
        <p:nvPr/>
      </p:nvGrpSpPr>
      <p:grpSpPr>
        <a:xfrm>
          <a:off x="0" y="0"/>
          <a:ext cx="0" cy="0"/>
          <a:chOff x="0" y="0"/>
          <a:chExt cx="0" cy="0"/>
        </a:xfrm>
      </p:grpSpPr>
      <p:pic>
        <p:nvPicPr>
          <p:cNvPr id="2" name="Image 0" descr="https://kimi-img.moonshot.cn/pub/slides/slides_tmpl/image/25-09-04-14:58:41-d2sjh8e1bb2p4onbq9f0.jpg">    </p:cNvPr>
          <p:cNvPicPr>
            <a:picLocks noChangeAspect="1"/>
          </p:cNvPicPr>
          <p:nvPr/>
        </p:nvPicPr>
        <p:blipFill>
          <a:blip r:embed="rId1"/>
          <a:stretch>
            <a:fillRect/>
          </a:stretch>
        </p:blipFill>
        <p:spPr>
          <a:xfrm>
            <a:off x="-29845" y="-15875"/>
            <a:ext cx="12300585" cy="6921500"/>
          </a:xfrm>
          <a:prstGeom prst="rect">
            <a:avLst/>
          </a:prstGeom>
        </p:spPr>
      </p:pic>
      <p:sp>
        <p:nvSpPr>
          <p:cNvPr id="3" name="Text 0"/>
          <p:cNvSpPr/>
          <p:nvPr/>
        </p:nvSpPr>
        <p:spPr>
          <a:xfrm>
            <a:off x="0" y="1752600"/>
            <a:ext cx="12192000" cy="508000"/>
          </a:xfrm>
          <a:prstGeom prst="rect">
            <a:avLst/>
          </a:prstGeom>
          <a:noFill/>
          <a:ln/>
        </p:spPr>
        <p:txBody>
          <a:bodyPr wrap="square" lIns="0" tIns="0" rIns="0" bIns="0" rtlCol="0" anchor="ctr"/>
          <a:lstStyle/>
          <a:p>
            <a:pPr algn="ctr" indent="0" marL="0">
              <a:lnSpc>
                <a:spcPct val="90000"/>
              </a:lnSpc>
              <a:buNone/>
            </a:pPr>
            <a:r>
              <a:rPr lang="en-US" sz="3600" dirty="0">
                <a:solidFill>
                  <a:srgbClr val="333333"/>
                </a:solidFill>
                <a:latin typeface="Noto Sans SC" pitchFamily="34" charset="0"/>
                <a:ea typeface="Noto Sans SC" pitchFamily="34" charset="-122"/>
                <a:cs typeface="Noto Sans SC" pitchFamily="34" charset="-120"/>
              </a:rPr>
              <a:t>Tài Nguyên &amp; Bước Học Tiếp Theo</a:t>
            </a:r>
            <a:endParaRPr lang="en-US" sz="1600" dirty="0"/>
          </a:p>
        </p:txBody>
      </p:sp>
      <p:sp>
        <p:nvSpPr>
          <p:cNvPr id="4" name="Shape 1"/>
          <p:cNvSpPr/>
          <p:nvPr/>
        </p:nvSpPr>
        <p:spPr>
          <a:xfrm>
            <a:off x="254000" y="2667000"/>
            <a:ext cx="6819900" cy="2438400"/>
          </a:xfrm>
          <a:custGeom>
            <a:avLst/>
            <a:gdLst/>
            <a:ahLst/>
            <a:cxnLst/>
            <a:rect l="l" t="t" r="r" b="b"/>
            <a:pathLst>
              <a:path w="6819900" h="2438400">
                <a:moveTo>
                  <a:pt x="101608" y="0"/>
                </a:moveTo>
                <a:lnTo>
                  <a:pt x="6718292" y="0"/>
                </a:lnTo>
                <a:cubicBezTo>
                  <a:pt x="6774408" y="0"/>
                  <a:pt x="6819900" y="45492"/>
                  <a:pt x="6819900" y="101608"/>
                </a:cubicBezTo>
                <a:lnTo>
                  <a:pt x="6819900" y="2336792"/>
                </a:lnTo>
                <a:cubicBezTo>
                  <a:pt x="6819900" y="2392908"/>
                  <a:pt x="6774408" y="2438400"/>
                  <a:pt x="6718292" y="2438400"/>
                </a:cubicBezTo>
                <a:lnTo>
                  <a:pt x="101608" y="2438400"/>
                </a:lnTo>
                <a:cubicBezTo>
                  <a:pt x="45492" y="2438400"/>
                  <a:pt x="0" y="2392908"/>
                  <a:pt x="0" y="2336792"/>
                </a:cubicBezTo>
                <a:lnTo>
                  <a:pt x="0" y="101608"/>
                </a:lnTo>
                <a:cubicBezTo>
                  <a:pt x="0" y="45529"/>
                  <a:pt x="45529" y="0"/>
                  <a:pt x="101608" y="0"/>
                </a:cubicBezTo>
                <a:close/>
              </a:path>
            </a:pathLst>
          </a:custGeom>
          <a:solidFill>
            <a:srgbClr val="D7E3E9">
              <a:alpha val="66667"/>
            </a:srgbClr>
          </a:solidFill>
          <a:ln/>
          <a:effectLst>
            <a:outerShdw sx="100000" sy="100000" kx="0" ky="0" algn="bl" rotWithShape="0" blurRad="76200" dist="50800" dir="5400000">
              <a:srgbClr val="000000">
                <a:alpha val="10196"/>
              </a:srgbClr>
            </a:outerShdw>
          </a:effectLst>
        </p:spPr>
      </p:sp>
      <p:sp>
        <p:nvSpPr>
          <p:cNvPr id="5" name="Shape 2"/>
          <p:cNvSpPr/>
          <p:nvPr/>
        </p:nvSpPr>
        <p:spPr>
          <a:xfrm>
            <a:off x="590550" y="3022600"/>
            <a:ext cx="254000" cy="254000"/>
          </a:xfrm>
          <a:custGeom>
            <a:avLst/>
            <a:gdLst/>
            <a:ahLst/>
            <a:cxnLst/>
            <a:rect l="l" t="t" r="r" b="b"/>
            <a:pathLst>
              <a:path w="254000" h="254000">
                <a:moveTo>
                  <a:pt x="127000" y="70098"/>
                </a:moveTo>
                <a:lnTo>
                  <a:pt x="127000" y="223540"/>
                </a:lnTo>
                <a:lnTo>
                  <a:pt x="127248" y="223441"/>
                </a:lnTo>
                <a:cubicBezTo>
                  <a:pt x="154335" y="212179"/>
                  <a:pt x="183406" y="206375"/>
                  <a:pt x="212725" y="206375"/>
                </a:cubicBezTo>
                <a:lnTo>
                  <a:pt x="222250" y="206375"/>
                </a:lnTo>
                <a:lnTo>
                  <a:pt x="222250" y="47625"/>
                </a:lnTo>
                <a:lnTo>
                  <a:pt x="212725" y="47625"/>
                </a:lnTo>
                <a:cubicBezTo>
                  <a:pt x="191790" y="47625"/>
                  <a:pt x="171004" y="51792"/>
                  <a:pt x="151656" y="59829"/>
                </a:cubicBezTo>
                <a:cubicBezTo>
                  <a:pt x="143321" y="63302"/>
                  <a:pt x="135086" y="66725"/>
                  <a:pt x="127000" y="70098"/>
                </a:cubicBezTo>
                <a:close/>
                <a:moveTo>
                  <a:pt x="114548" y="30510"/>
                </a:moveTo>
                <a:lnTo>
                  <a:pt x="127000" y="35719"/>
                </a:lnTo>
                <a:lnTo>
                  <a:pt x="139452" y="30510"/>
                </a:lnTo>
                <a:cubicBezTo>
                  <a:pt x="162669" y="20836"/>
                  <a:pt x="187573" y="15875"/>
                  <a:pt x="212725" y="15875"/>
                </a:cubicBezTo>
                <a:lnTo>
                  <a:pt x="230188" y="15875"/>
                </a:lnTo>
                <a:cubicBezTo>
                  <a:pt x="243334" y="15875"/>
                  <a:pt x="254000" y="26541"/>
                  <a:pt x="254000" y="39688"/>
                </a:cubicBezTo>
                <a:lnTo>
                  <a:pt x="254000" y="214313"/>
                </a:lnTo>
                <a:cubicBezTo>
                  <a:pt x="254000" y="227459"/>
                  <a:pt x="243334" y="238125"/>
                  <a:pt x="230188" y="238125"/>
                </a:cubicBezTo>
                <a:lnTo>
                  <a:pt x="212725" y="238125"/>
                </a:lnTo>
                <a:cubicBezTo>
                  <a:pt x="187573" y="238125"/>
                  <a:pt x="162669" y="243086"/>
                  <a:pt x="139452" y="252760"/>
                </a:cubicBezTo>
                <a:lnTo>
                  <a:pt x="133102" y="255389"/>
                </a:lnTo>
                <a:cubicBezTo>
                  <a:pt x="129183" y="257026"/>
                  <a:pt x="124817" y="257026"/>
                  <a:pt x="120898" y="255389"/>
                </a:cubicBezTo>
                <a:lnTo>
                  <a:pt x="114548" y="252760"/>
                </a:lnTo>
                <a:cubicBezTo>
                  <a:pt x="91331" y="243086"/>
                  <a:pt x="66427" y="238125"/>
                  <a:pt x="41275" y="238125"/>
                </a:cubicBezTo>
                <a:lnTo>
                  <a:pt x="23812" y="238125"/>
                </a:lnTo>
                <a:cubicBezTo>
                  <a:pt x="10666" y="238125"/>
                  <a:pt x="0" y="227459"/>
                  <a:pt x="0" y="214313"/>
                </a:cubicBezTo>
                <a:lnTo>
                  <a:pt x="0" y="39688"/>
                </a:lnTo>
                <a:cubicBezTo>
                  <a:pt x="0" y="26541"/>
                  <a:pt x="10666" y="15875"/>
                  <a:pt x="23812" y="15875"/>
                </a:cubicBezTo>
                <a:lnTo>
                  <a:pt x="41275" y="15875"/>
                </a:lnTo>
                <a:cubicBezTo>
                  <a:pt x="66427" y="15875"/>
                  <a:pt x="91331" y="20836"/>
                  <a:pt x="114548" y="30510"/>
                </a:cubicBezTo>
                <a:close/>
              </a:path>
            </a:pathLst>
          </a:custGeom>
          <a:solidFill>
            <a:srgbClr val="F9B79B"/>
          </a:solidFill>
          <a:ln/>
        </p:spPr>
      </p:sp>
      <p:sp>
        <p:nvSpPr>
          <p:cNvPr id="6" name="Text 3"/>
          <p:cNvSpPr/>
          <p:nvPr/>
        </p:nvSpPr>
        <p:spPr>
          <a:xfrm>
            <a:off x="1028700" y="2971800"/>
            <a:ext cx="5740400" cy="355600"/>
          </a:xfrm>
          <a:prstGeom prst="rect">
            <a:avLst/>
          </a:prstGeom>
          <a:noFill/>
          <a:ln/>
        </p:spPr>
        <p:txBody>
          <a:bodyPr wrap="square" lIns="0" tIns="0" rIns="0" bIns="0" rtlCol="0" anchor="ctr"/>
          <a:lstStyle/>
          <a:p>
            <a:pPr algn="l" indent="0" marL="0">
              <a:lnSpc>
                <a:spcPct val="120000"/>
              </a:lnSpc>
              <a:buNone/>
            </a:pPr>
            <a:r>
              <a:rPr lang="en-US" sz="2000" dirty="0">
                <a:solidFill>
                  <a:srgbClr val="333333"/>
                </a:solidFill>
                <a:latin typeface="Noto Sans SC" pitchFamily="34" charset="0"/>
                <a:ea typeface="Noto Sans SC" pitchFamily="34" charset="-122"/>
                <a:cs typeface="Noto Sans SC" pitchFamily="34" charset="-120"/>
              </a:rPr>
              <a:t>Tài Nguyên Tham Khảo</a:t>
            </a:r>
            <a:endParaRPr lang="en-US" sz="1600" dirty="0"/>
          </a:p>
        </p:txBody>
      </p:sp>
      <p:sp>
        <p:nvSpPr>
          <p:cNvPr id="7" name="Text 4"/>
          <p:cNvSpPr/>
          <p:nvPr/>
        </p:nvSpPr>
        <p:spPr>
          <a:xfrm>
            <a:off x="558800" y="3479800"/>
            <a:ext cx="6210300" cy="254000"/>
          </a:xfrm>
          <a:prstGeom prst="rect">
            <a:avLst/>
          </a:prstGeom>
          <a:noFill/>
          <a:ln/>
        </p:spPr>
        <p:txBody>
          <a:bodyPr wrap="square" lIns="0" tIns="0" rIns="0" bIns="0" rtlCol="0" anchor="ctr"/>
          <a:lstStyle/>
          <a:p>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developer.android.com:</a:t>
            </a:r>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 Tài liệu chính thức và cập nhật nhất từ Google.</a:t>
            </a:r>
            <a:endParaRPr lang="en-US" sz="1600" dirty="0"/>
          </a:p>
        </p:txBody>
      </p:sp>
      <p:sp>
        <p:nvSpPr>
          <p:cNvPr id="8" name="Text 5"/>
          <p:cNvSpPr/>
          <p:nvPr/>
        </p:nvSpPr>
        <p:spPr>
          <a:xfrm>
            <a:off x="558800" y="3835400"/>
            <a:ext cx="6210300" cy="254000"/>
          </a:xfrm>
          <a:prstGeom prst="rect">
            <a:avLst/>
          </a:prstGeom>
          <a:noFill/>
          <a:ln/>
        </p:spPr>
        <p:txBody>
          <a:bodyPr wrap="square" lIns="0" tIns="0" rIns="0" bIns="0" rtlCol="0" anchor="ctr"/>
          <a:lstStyle/>
          <a:p>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Stack Overflow:</a:t>
            </a:r>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 Diễn đàn hỏi đáp lập trình lớn nhất.</a:t>
            </a:r>
            <a:endParaRPr lang="en-US" sz="1600" dirty="0"/>
          </a:p>
        </p:txBody>
      </p:sp>
      <p:sp>
        <p:nvSpPr>
          <p:cNvPr id="9" name="Text 6"/>
          <p:cNvSpPr/>
          <p:nvPr/>
        </p:nvSpPr>
        <p:spPr>
          <a:xfrm>
            <a:off x="558800" y="4191000"/>
            <a:ext cx="6210300" cy="254000"/>
          </a:xfrm>
          <a:prstGeom prst="rect">
            <a:avLst/>
          </a:prstGeom>
          <a:noFill/>
          <a:ln/>
        </p:spPr>
        <p:txBody>
          <a:bodyPr wrap="square" lIns="0" tIns="0" rIns="0" bIns="0" rtlCol="0" anchor="ctr"/>
          <a:lstStyle/>
          <a:p>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Android Developer Fundamentals:</a:t>
            </a:r>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 Khóa học cơ bản toàn diện.</a:t>
            </a:r>
            <a:endParaRPr lang="en-US" sz="1600" dirty="0"/>
          </a:p>
        </p:txBody>
      </p:sp>
      <p:sp>
        <p:nvSpPr>
          <p:cNvPr id="10" name="Shape 7"/>
          <p:cNvSpPr/>
          <p:nvPr/>
        </p:nvSpPr>
        <p:spPr>
          <a:xfrm>
            <a:off x="7382867" y="2667000"/>
            <a:ext cx="4559300" cy="2438400"/>
          </a:xfrm>
          <a:custGeom>
            <a:avLst/>
            <a:gdLst/>
            <a:ahLst/>
            <a:cxnLst/>
            <a:rect l="l" t="t" r="r" b="b"/>
            <a:pathLst>
              <a:path w="4559300" h="2438400">
                <a:moveTo>
                  <a:pt x="101608" y="0"/>
                </a:moveTo>
                <a:lnTo>
                  <a:pt x="4457692" y="0"/>
                </a:lnTo>
                <a:cubicBezTo>
                  <a:pt x="4513808" y="0"/>
                  <a:pt x="4559300" y="45492"/>
                  <a:pt x="4559300" y="101608"/>
                </a:cubicBezTo>
                <a:lnTo>
                  <a:pt x="4559300" y="2336792"/>
                </a:lnTo>
                <a:cubicBezTo>
                  <a:pt x="4559300" y="2392908"/>
                  <a:pt x="4513808" y="2438400"/>
                  <a:pt x="4457692" y="2438400"/>
                </a:cubicBezTo>
                <a:lnTo>
                  <a:pt x="101608" y="2438400"/>
                </a:lnTo>
                <a:cubicBezTo>
                  <a:pt x="45492" y="2438400"/>
                  <a:pt x="0" y="2392908"/>
                  <a:pt x="0" y="2336792"/>
                </a:cubicBezTo>
                <a:lnTo>
                  <a:pt x="0" y="101608"/>
                </a:lnTo>
                <a:cubicBezTo>
                  <a:pt x="0" y="45529"/>
                  <a:pt x="45529" y="0"/>
                  <a:pt x="101608" y="0"/>
                </a:cubicBezTo>
                <a:close/>
              </a:path>
            </a:pathLst>
          </a:custGeom>
          <a:solidFill>
            <a:srgbClr val="BACBD3"/>
          </a:solidFill>
          <a:ln/>
          <a:effectLst>
            <a:outerShdw sx="100000" sy="100000" kx="0" ky="0" algn="bl" rotWithShape="0" blurRad="76200" dist="50800" dir="5400000">
              <a:srgbClr val="000000">
                <a:alpha val="10196"/>
              </a:srgbClr>
            </a:outerShdw>
          </a:effectLst>
        </p:spPr>
      </p:sp>
      <p:sp>
        <p:nvSpPr>
          <p:cNvPr id="11" name="Shape 8"/>
          <p:cNvSpPr/>
          <p:nvPr/>
        </p:nvSpPr>
        <p:spPr>
          <a:xfrm>
            <a:off x="7703542" y="3022600"/>
            <a:ext cx="285750" cy="254000"/>
          </a:xfrm>
          <a:custGeom>
            <a:avLst/>
            <a:gdLst/>
            <a:ahLst/>
            <a:cxnLst/>
            <a:rect l="l" t="t" r="r" b="b"/>
            <a:pathLst>
              <a:path w="285750" h="254000">
                <a:moveTo>
                  <a:pt x="23812" y="97135"/>
                </a:moveTo>
                <a:lnTo>
                  <a:pt x="127595" y="139849"/>
                </a:lnTo>
                <a:cubicBezTo>
                  <a:pt x="132457" y="141833"/>
                  <a:pt x="137616" y="142875"/>
                  <a:pt x="142875" y="142875"/>
                </a:cubicBezTo>
                <a:cubicBezTo>
                  <a:pt x="148134" y="142875"/>
                  <a:pt x="153293" y="141833"/>
                  <a:pt x="158155" y="139849"/>
                </a:cubicBezTo>
                <a:lnTo>
                  <a:pt x="278408" y="90339"/>
                </a:lnTo>
                <a:cubicBezTo>
                  <a:pt x="282873" y="88503"/>
                  <a:pt x="285750" y="84187"/>
                  <a:pt x="285750" y="79375"/>
                </a:cubicBezTo>
                <a:cubicBezTo>
                  <a:pt x="285750" y="74563"/>
                  <a:pt x="282873" y="70247"/>
                  <a:pt x="278408" y="68411"/>
                </a:cubicBezTo>
                <a:lnTo>
                  <a:pt x="158155" y="18901"/>
                </a:lnTo>
                <a:cubicBezTo>
                  <a:pt x="153293" y="16917"/>
                  <a:pt x="148134" y="15875"/>
                  <a:pt x="142875" y="15875"/>
                </a:cubicBezTo>
                <a:cubicBezTo>
                  <a:pt x="137616" y="15875"/>
                  <a:pt x="132457" y="16917"/>
                  <a:pt x="127595" y="18901"/>
                </a:cubicBezTo>
                <a:lnTo>
                  <a:pt x="7342" y="68411"/>
                </a:lnTo>
                <a:cubicBezTo>
                  <a:pt x="2877" y="70247"/>
                  <a:pt x="0" y="74563"/>
                  <a:pt x="0" y="79375"/>
                </a:cubicBezTo>
                <a:lnTo>
                  <a:pt x="0" y="226219"/>
                </a:lnTo>
                <a:cubicBezTo>
                  <a:pt x="0" y="232817"/>
                  <a:pt x="5308" y="238125"/>
                  <a:pt x="11906" y="238125"/>
                </a:cubicBezTo>
                <a:cubicBezTo>
                  <a:pt x="18504" y="238125"/>
                  <a:pt x="23812" y="232817"/>
                  <a:pt x="23812" y="226219"/>
                </a:cubicBezTo>
                <a:lnTo>
                  <a:pt x="23812" y="97135"/>
                </a:lnTo>
                <a:close/>
                <a:moveTo>
                  <a:pt x="47625" y="132705"/>
                </a:moveTo>
                <a:lnTo>
                  <a:pt x="47625" y="190500"/>
                </a:lnTo>
                <a:cubicBezTo>
                  <a:pt x="47625" y="216793"/>
                  <a:pt x="90289" y="238125"/>
                  <a:pt x="142875" y="238125"/>
                </a:cubicBezTo>
                <a:cubicBezTo>
                  <a:pt x="195461" y="238125"/>
                  <a:pt x="238125" y="216793"/>
                  <a:pt x="238125" y="190500"/>
                </a:cubicBezTo>
                <a:lnTo>
                  <a:pt x="238125" y="132655"/>
                </a:lnTo>
                <a:lnTo>
                  <a:pt x="167233" y="161875"/>
                </a:lnTo>
                <a:cubicBezTo>
                  <a:pt x="159494" y="165050"/>
                  <a:pt x="151259" y="166687"/>
                  <a:pt x="142875" y="166687"/>
                </a:cubicBezTo>
                <a:cubicBezTo>
                  <a:pt x="134491" y="166687"/>
                  <a:pt x="126256" y="165050"/>
                  <a:pt x="118517" y="161875"/>
                </a:cubicBezTo>
                <a:lnTo>
                  <a:pt x="47625" y="132655"/>
                </a:lnTo>
                <a:close/>
              </a:path>
            </a:pathLst>
          </a:custGeom>
          <a:solidFill>
            <a:srgbClr val="F9B79B"/>
          </a:solidFill>
          <a:ln/>
        </p:spPr>
      </p:sp>
      <p:sp>
        <p:nvSpPr>
          <p:cNvPr id="12" name="Text 9"/>
          <p:cNvSpPr/>
          <p:nvPr/>
        </p:nvSpPr>
        <p:spPr>
          <a:xfrm>
            <a:off x="8157567" y="2971800"/>
            <a:ext cx="3479800" cy="355600"/>
          </a:xfrm>
          <a:prstGeom prst="rect">
            <a:avLst/>
          </a:prstGeom>
          <a:noFill/>
          <a:ln/>
        </p:spPr>
        <p:txBody>
          <a:bodyPr wrap="square" lIns="0" tIns="0" rIns="0" bIns="0" rtlCol="0" anchor="ctr"/>
          <a:lstStyle/>
          <a:p>
            <a:pPr algn="l" indent="0" marL="0">
              <a:lnSpc>
                <a:spcPct val="120000"/>
              </a:lnSpc>
              <a:buNone/>
            </a:pPr>
            <a:r>
              <a:rPr lang="en-US" sz="2000" dirty="0">
                <a:solidFill>
                  <a:srgbClr val="333333"/>
                </a:solidFill>
                <a:latin typeface="Noto Sans SC" pitchFamily="34" charset="0"/>
                <a:ea typeface="Noto Sans SC" pitchFamily="34" charset="-122"/>
                <a:cs typeface="Noto Sans SC" pitchFamily="34" charset="-120"/>
              </a:rPr>
              <a:t>Học Tiếp Theo</a:t>
            </a:r>
            <a:endParaRPr lang="en-US" sz="1600" dirty="0"/>
          </a:p>
        </p:txBody>
      </p:sp>
      <p:sp>
        <p:nvSpPr>
          <p:cNvPr id="13" name="Text 10"/>
          <p:cNvSpPr/>
          <p:nvPr/>
        </p:nvSpPr>
        <p:spPr>
          <a:xfrm>
            <a:off x="7687667" y="3479800"/>
            <a:ext cx="4457700" cy="254000"/>
          </a:xfrm>
          <a:prstGeom prst="rect">
            <a:avLst/>
          </a:prstGeom>
          <a:noFill/>
          <a:ln/>
        </p:spPr>
        <p:txBody>
          <a:bodyPr wrap="square" lIns="0" tIns="0" rIns="0" bIns="0" rtlCol="0" anchor="ctr"/>
          <a:lstStyle/>
          <a:p>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Activity Lifecycle</a:t>
            </a:r>
            <a:endParaRPr lang="en-US" sz="1600" dirty="0"/>
          </a:p>
        </p:txBody>
      </p:sp>
      <p:sp>
        <p:nvSpPr>
          <p:cNvPr id="14" name="Text 11"/>
          <p:cNvSpPr/>
          <p:nvPr/>
        </p:nvSpPr>
        <p:spPr>
          <a:xfrm>
            <a:off x="7687667" y="3835400"/>
            <a:ext cx="4457700" cy="254000"/>
          </a:xfrm>
          <a:prstGeom prst="rect">
            <a:avLst/>
          </a:prstGeom>
          <a:noFill/>
          <a:ln/>
        </p:spPr>
        <p:txBody>
          <a:bodyPr wrap="square" lIns="0" tIns="0" rIns="0" bIns="0" rtlCol="0" anchor="ctr"/>
          <a:lstStyle/>
          <a:p>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Intent &amp; Intent Filter</a:t>
            </a:r>
            <a:endParaRPr lang="en-US" sz="1600" dirty="0"/>
          </a:p>
        </p:txBody>
      </p:sp>
      <p:sp>
        <p:nvSpPr>
          <p:cNvPr id="15" name="Text 12"/>
          <p:cNvSpPr/>
          <p:nvPr/>
        </p:nvSpPr>
        <p:spPr>
          <a:xfrm>
            <a:off x="7687667" y="4191000"/>
            <a:ext cx="4457700" cy="254000"/>
          </a:xfrm>
          <a:prstGeom prst="rect">
            <a:avLst/>
          </a:prstGeom>
          <a:noFill/>
          <a:ln/>
        </p:spPr>
        <p:txBody>
          <a:bodyPr wrap="square" lIns="0" tIns="0" rIns="0" bIns="0" rtlCol="0" anchor="ctr"/>
          <a:lstStyle/>
          <a:p>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RecyclerView &amp; Adapter</a:t>
            </a:r>
            <a:endParaRPr lang="en-US" sz="1600" dirty="0"/>
          </a:p>
        </p:txBody>
      </p:sp>
      <p:sp>
        <p:nvSpPr>
          <p:cNvPr id="16" name="Text 13"/>
          <p:cNvSpPr/>
          <p:nvPr/>
        </p:nvSpPr>
        <p:spPr>
          <a:xfrm>
            <a:off x="7687667" y="4546600"/>
            <a:ext cx="3949700" cy="254000"/>
          </a:xfrm>
          <a:prstGeom prst="rect">
            <a:avLst/>
          </a:prstGeom>
          <a:noFill/>
          <a:ln/>
        </p:spPr>
        <p:txBody>
          <a:bodyPr wrap="square" lIns="0" tIns="0" rIns="0" bIns="0" rtlCol="0" anchor="ctr"/>
          <a:lstStyle/>
          <a:p>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Làm bài thực hành </a:t>
            </a:r>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1.1 P</a:t>
            </a:r>
            <a:pPr algn="l" indent="0" marL="0">
              <a:lnSpc>
                <a:spcPct val="120000"/>
              </a:lnSpc>
              <a:buNone/>
            </a:pPr>
            <a:r>
              <a:rPr lang="en-US" sz="1400" dirty="0">
                <a:solidFill>
                  <a:srgbClr val="333333"/>
                </a:solidFill>
                <a:latin typeface="Noto Sans SC" pitchFamily="34" charset="0"/>
                <a:ea typeface="Noto Sans SC" pitchFamily="34" charset="-122"/>
                <a:cs typeface="Noto Sans SC" pitchFamily="34" charset="-120"/>
              </a:rPr>
              <a: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slides_tmpl/image/25-09-04-14:58:38-d2sjh7m1bb2p4onbq9cg.png">    </p:cNvPr>
          <p:cNvPicPr>
            <a:picLocks noChangeAspect="1"/>
          </p:cNvPicPr>
          <p:nvPr/>
        </p:nvPicPr>
        <p:blipFill>
          <a:blip r:embed="rId1"/>
          <a:stretch>
            <a:fillRect/>
          </a:stretch>
        </p:blipFill>
        <p:spPr>
          <a:xfrm>
            <a:off x="-11430" y="-18415"/>
            <a:ext cx="12214225" cy="6863715"/>
          </a:xfrm>
          <a:prstGeom prst="rect">
            <a:avLst/>
          </a:prstGeom>
        </p:spPr>
      </p:pic>
      <p:sp>
        <p:nvSpPr>
          <p:cNvPr id="3" name="Text 0"/>
          <p:cNvSpPr/>
          <p:nvPr/>
        </p:nvSpPr>
        <p:spPr>
          <a:xfrm>
            <a:off x="2479698" y="2801165"/>
            <a:ext cx="8146415" cy="1656080"/>
          </a:xfrm>
          <a:prstGeom prst="rect">
            <a:avLst/>
          </a:prstGeom>
          <a:noFill/>
          <a:ln/>
        </p:spPr>
        <p:txBody>
          <a:bodyPr wrap="square" lIns="91440" tIns="45720" rIns="91440" bIns="45720" rtlCol="0" anchor="t"/>
          <a:lstStyle/>
          <a:p>
            <a:pPr algn="r" indent="0" marL="0">
              <a:lnSpc>
                <a:spcPct val="110000"/>
              </a:lnSpc>
              <a:buNone/>
            </a:pPr>
            <a:r>
              <a:rPr lang="en-US" sz="5200" b="1" dirty="0">
                <a:solidFill>
                  <a:srgbClr val="44546A"/>
                </a:solidFill>
                <a:latin typeface="MiSans" pitchFamily="34" charset="0"/>
                <a:ea typeface="MiSans" pitchFamily="34" charset="-122"/>
                <a:cs typeface="MiSans" pitchFamily="34" charset="-120"/>
              </a:rPr>
              <a:t>Thank You</a:t>
            </a:r>
            <a:endParaRPr lang="en-US" sz="1600" dirty="0"/>
          </a:p>
          <a:p>
            <a:pPr algn="r" indent="0" marL="0">
              <a:lnSpc>
                <a:spcPct val="110000"/>
              </a:lnSpc>
              <a:buNone/>
            </a:pPr>
            <a:r>
              <a:rPr lang="en-US" sz="5200" dirty="0">
                <a:solidFill>
                  <a:srgbClr val="000000"/>
                </a:solidFill>
                <a:latin typeface="苹方-简" pitchFamily="34" charset="0"/>
                <a:ea typeface="苹方-简" pitchFamily="34" charset="-122"/>
                <a:cs typeface="苹方-简" pitchFamily="34" charset="-120"/>
              </a:rPr>
              <a:t> </a:t>
            </a:r>
            <a:endParaRPr lang="en-US" sz="1600" dirty="0"/>
          </a:p>
        </p:txBody>
      </p:sp>
      <p:sp>
        <p:nvSpPr>
          <p:cNvPr id="4" name="Shape 1"/>
          <p:cNvSpPr/>
          <p:nvPr/>
        </p:nvSpPr>
        <p:spPr>
          <a:xfrm>
            <a:off x="-11430" y="-18415"/>
            <a:ext cx="12214860" cy="1351915"/>
          </a:xfrm>
          <a:prstGeom prst="rect">
            <a:avLst/>
          </a:prstGeom>
          <a:gradFill rotWithShape="1" flip="none">
            <a:gsLst>
              <a:gs pos="0">
                <a:srgbClr val="FFFFFF"/>
              </a:gs>
              <a:gs pos="86000">
                <a:srgbClr val="FFFFFF">
                  <a:alpha val="0"/>
                </a:srgbClr>
              </a:gs>
              <a:gs pos="100000">
                <a:srgbClr val="FFFFFF">
                  <a:alpha val="0"/>
                </a:srgbClr>
              </a:gs>
            </a:gsLst>
            <a:lin ang="5400000" scaled="1"/>
          </a:gradFill>
          <a:ln/>
        </p:spPr>
      </p:sp>
      <p:sp>
        <p:nvSpPr>
          <p:cNvPr id="5" name="Text 2"/>
          <p:cNvSpPr/>
          <p:nvPr/>
        </p:nvSpPr>
        <p:spPr>
          <a:xfrm>
            <a:off x="-11430" y="-18415"/>
            <a:ext cx="12214860" cy="1351915"/>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6" name="Shape 3"/>
          <p:cNvSpPr/>
          <p:nvPr/>
        </p:nvSpPr>
        <p:spPr>
          <a:xfrm rot="10800000">
            <a:off x="0" y="5347335"/>
            <a:ext cx="12192000" cy="1497965"/>
          </a:xfrm>
          <a:prstGeom prst="rect">
            <a:avLst/>
          </a:prstGeom>
          <a:gradFill rotWithShape="1" flip="none">
            <a:gsLst>
              <a:gs pos="0">
                <a:srgbClr val="FFFFFF"/>
              </a:gs>
              <a:gs pos="86000">
                <a:srgbClr val="FFFFFF">
                  <a:alpha val="0"/>
                </a:srgbClr>
              </a:gs>
              <a:gs pos="100000">
                <a:srgbClr val="FFFFFF">
                  <a:alpha val="0"/>
                </a:srgbClr>
              </a:gs>
            </a:gsLst>
            <a:lin ang="5400000" scaled="1"/>
          </a:gradFill>
          <a:ln/>
        </p:spPr>
      </p:sp>
      <p:sp>
        <p:nvSpPr>
          <p:cNvPr id="7" name="Text 4"/>
          <p:cNvSpPr/>
          <p:nvPr/>
        </p:nvSpPr>
        <p:spPr>
          <a:xfrm rot="10800000">
            <a:off x="0" y="5347335"/>
            <a:ext cx="12192000" cy="1497965"/>
          </a:xfrm>
          <a:prstGeom prst="rect">
            <a:avLst/>
          </a:prstGeom>
          <a:noFill/>
          <a:ln/>
        </p:spPr>
        <p:txBody>
          <a:bodyPr wrap="square" lIns="45720" tIns="91440" rIns="91440" bIns="45720" rtlCol="0" anchor="ctr"/>
          <a:lstStyle/>
          <a:p>
            <a:pPr indent="0" marL="0">
              <a:lnSpc>
                <a:spcPct val="100000"/>
              </a:lnSpc>
              <a:buNone/>
            </a:pP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Khởi đầu lập trình Android</dc:title>
  <dc:subject>Khởi đầu lập trình Android</dc:subject>
  <dc:creator>Kimi</dc:creator>
  <cp:lastModifiedBy>Kimi</cp:lastModifiedBy>
  <cp:revision>1</cp:revision>
  <dcterms:created xsi:type="dcterms:W3CDTF">2025-09-17T04:41:10Z</dcterms:created>
  <dcterms:modified xsi:type="dcterms:W3CDTF">2025-09-17T04:41:10Z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{"Label":"Khởi đầu lập trình Android","ContentProducer":"001191110108MACG2KBH8F10000","ProduceID":"d34q9jds8fbcj2kq5o00","ReservedCode1":"","ContentPropagator":"001191110108MACG2KBH8F20000","PropagateID":"d34q9jds8fbcj2kq5o00","ReservedCode2":""}</vt:lpwstr>
  </property>
</Properties>
</file>