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MiSans" charset="-122" pitchFamily="34"/>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8-d2sjh7m1bb2p4onbq9cg.png">    </p:cNvPr>
          <p:cNvPicPr>
            <a:picLocks noChangeAspect="1"/>
          </p:cNvPicPr>
          <p:nvPr/>
        </p:nvPicPr>
        <p:blipFill>
          <a:blip r:embed="rId1"/>
          <a:stretch>
            <a:fillRect/>
          </a:stretch>
        </p:blipFill>
        <p:spPr>
          <a:xfrm>
            <a:off x="-57785" y="-635"/>
            <a:ext cx="12263755" cy="6858635"/>
          </a:xfrm>
          <a:prstGeom prst="rect">
            <a:avLst/>
          </a:prstGeom>
        </p:spPr>
      </p:pic>
      <p:sp>
        <p:nvSpPr>
          <p:cNvPr id="3" name="Text 0"/>
          <p:cNvSpPr/>
          <p:nvPr/>
        </p:nvSpPr>
        <p:spPr>
          <a:xfrm>
            <a:off x="2221652" y="2097999"/>
            <a:ext cx="9025355" cy="1656080"/>
          </a:xfrm>
          <a:prstGeom prst="rect">
            <a:avLst/>
          </a:prstGeom>
          <a:noFill/>
          <a:ln/>
        </p:spPr>
        <p:txBody>
          <a:bodyPr wrap="square" lIns="91440" tIns="45720" rIns="91440" bIns="45720" rtlCol="0" anchor="t"/>
          <a:lstStyle/>
          <a:p>
            <a:pPr algn="r" indent="0" marL="0">
              <a:lnSpc>
                <a:spcPct val="110000"/>
              </a:lnSpc>
              <a:buNone/>
            </a:pPr>
            <a:r>
              <a:rPr lang="en-US" sz="4800" b="1" dirty="0">
                <a:solidFill>
                  <a:srgbClr val="44546A"/>
                </a:solidFill>
                <a:latin typeface="MiSans" pitchFamily="34" charset="0"/>
                <a:ea typeface="MiSans" pitchFamily="34" charset="-122"/>
                <a:cs typeface="MiSans" pitchFamily="34" charset="-120"/>
              </a:rPr>
              <a:t>Khám Phá Android: Tài Nguyên Học Tập Cho Người Mới</a:t>
            </a:r>
            <a:endParaRPr lang="en-US" sz="1600" dirty="0"/>
          </a:p>
        </p:txBody>
      </p:sp>
      <p:sp>
        <p:nvSpPr>
          <p:cNvPr id="4" name="Shape 1"/>
          <p:cNvSpPr/>
          <p:nvPr/>
        </p:nvSpPr>
        <p:spPr>
          <a:xfrm>
            <a:off x="-11430" y="-18415"/>
            <a:ext cx="12214860" cy="135191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5" name="Text 2"/>
          <p:cNvSpPr/>
          <p:nvPr/>
        </p:nvSpPr>
        <p:spPr>
          <a:xfrm>
            <a:off x="-11430" y="-18415"/>
            <a:ext cx="12214860" cy="135191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6" name="Shape 3"/>
          <p:cNvSpPr/>
          <p:nvPr/>
        </p:nvSpPr>
        <p:spPr>
          <a:xfrm rot="10800000">
            <a:off x="13335" y="5374005"/>
            <a:ext cx="12192000" cy="149796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7" name="Text 4"/>
          <p:cNvSpPr/>
          <p:nvPr/>
        </p:nvSpPr>
        <p:spPr>
          <a:xfrm rot="10800000">
            <a:off x="13335" y="5374005"/>
            <a:ext cx="12192000" cy="149796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8" name="Text 5"/>
          <p:cNvSpPr/>
          <p:nvPr/>
        </p:nvSpPr>
        <p:spPr>
          <a:xfrm>
            <a:off x="6074093" y="3993460"/>
            <a:ext cx="6450974" cy="1600200"/>
          </a:xfrm>
          <a:prstGeom prst="rect">
            <a:avLst/>
          </a:prstGeom>
          <a:noFill/>
          <a:ln/>
        </p:spPr>
        <p:txBody>
          <a:bodyPr wrap="square" lIns="91440" tIns="45720" rIns="91440" bIns="45720" rtlCol="0" anchor="t"/>
          <a:lstStyle/>
          <a:p>
            <a:pPr indent="0" marL="0">
              <a:lnSpc>
                <a:spcPct val="100000"/>
              </a:lnSpc>
              <a:buNone/>
            </a:pPr>
            <a:r>
              <a:rPr lang="en-US" sz="1600" dirty="0">
                <a:solidFill>
                  <a:srgbClr val="44546A"/>
                </a:solidFill>
                <a:latin typeface="微软雅黑" pitchFamily="34" charset="0"/>
                <a:ea typeface="微软雅黑" pitchFamily="34" charset="-122"/>
                <a:cs typeface="微软雅黑" pitchFamily="34" charset="-120"/>
              </a:rPr>
              <a:t>Các thành viên: </a:t>
            </a:r>
            <a:endParaRPr lang="en-US" sz="1600" dirty="0"/>
          </a:p>
          <a:p>
            <a:pPr indent="0" marL="0">
              <a:lnSpc>
                <a:spcPct val="100000"/>
              </a:lnSpc>
              <a:buNone/>
            </a:pPr>
            <a:r>
              <a:rPr lang="en-US" sz="1600" dirty="0">
                <a:solidFill>
                  <a:srgbClr val="44546A"/>
                </a:solidFill>
                <a:latin typeface="微软雅黑" pitchFamily="34" charset="0"/>
                <a:ea typeface="微软雅黑" pitchFamily="34" charset="-122"/>
                <a:cs typeface="微软雅黑" pitchFamily="34" charset="-120"/>
              </a:rPr>
              <a:t>23020155-Trần Quang Thành</a:t>
            </a:r>
            <a:endParaRPr lang="en-US" sz="1600" dirty="0"/>
          </a:p>
          <a:p>
            <a:pPr indent="0" marL="0">
              <a:lnSpc>
                <a:spcPct val="100000"/>
              </a:lnSpc>
              <a:buNone/>
            </a:pPr>
            <a:r>
              <a:rPr lang="en-US" sz="1600" dirty="0">
                <a:solidFill>
                  <a:srgbClr val="44546A"/>
                </a:solidFill>
                <a:latin typeface="微软雅黑" pitchFamily="34" charset="0"/>
                <a:ea typeface="微软雅黑" pitchFamily="34" charset="-122"/>
                <a:cs typeface="微软雅黑" pitchFamily="34" charset="-120"/>
              </a:rPr>
              <a:t>23020012-Hoàng Quốc Bảo</a:t>
            </a:r>
            <a:endParaRPr lang="en-US" sz="1600" dirty="0"/>
          </a:p>
          <a:p>
            <a:pPr indent="0" marL="0">
              <a:lnSpc>
                <a:spcPct val="100000"/>
              </a:lnSpc>
              <a:buNone/>
            </a:pPr>
            <a:r>
              <a:rPr lang="en-US" sz="1600" dirty="0">
                <a:solidFill>
                  <a:srgbClr val="44546A"/>
                </a:solidFill>
                <a:latin typeface="微软雅黑" pitchFamily="34" charset="0"/>
                <a:ea typeface="微软雅黑" pitchFamily="34" charset="-122"/>
                <a:cs typeface="微软雅黑" pitchFamily="34" charset="-120"/>
              </a:rPr>
              <a:t>23020152-Cao Trần Hà Thái</a:t>
            </a:r>
            <a:endParaRPr lang="en-US" sz="1600" dirty="0"/>
          </a:p>
          <a:p>
            <a:pPr indent="0" marL="0">
              <a:lnSpc>
                <a:spcPct val="100000"/>
              </a:lnSpc>
              <a:buNone/>
            </a:pPr>
            <a:r>
              <a:rPr lang="en-US" sz="1600" dirty="0">
                <a:solidFill>
                  <a:srgbClr val="44546A"/>
                </a:solidFill>
                <a:latin typeface="微软雅黑" pitchFamily="34" charset="0"/>
                <a:ea typeface="微软雅黑" pitchFamily="34" charset="-122"/>
                <a:cs typeface="微软雅黑" pitchFamily="34" charset="-120"/>
              </a:rPr>
              <a:t>23020125-Nguyễn Đỗ Trọng Nghĩa</a:t>
            </a:r>
            <a:endParaRPr lang="en-US" sz="1600" dirty="0"/>
          </a:p>
          <a:p>
            <a:pPr indent="0" marL="0">
              <a:lnSpc>
                <a:spcPct val="100000"/>
              </a:lnSpc>
              <a:buNone/>
            </a:pPr>
            <a:r>
              <a:rPr lang="en-US" sz="1600" dirty="0">
                <a:solidFill>
                  <a:srgbClr val="44546A"/>
                </a:solidFill>
                <a:latin typeface="微软雅黑" pitchFamily="34" charset="0"/>
                <a:ea typeface="微软雅黑" pitchFamily="34" charset="-122"/>
                <a:cs typeface="微软雅黑" pitchFamily="34" charset="-120"/>
              </a:rPr>
              <a:t>23020161-Quách Đức Thiện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42-d2sjh8m1bb2p4onbq9g0.jpg">    </p:cNvPr>
          <p:cNvPicPr>
            <a:picLocks noChangeAspect="1"/>
          </p:cNvPicPr>
          <p:nvPr/>
        </p:nvPicPr>
        <p:blipFill>
          <a:blip r:embed="rId1"/>
          <a:stretch>
            <a:fillRect/>
          </a:stretch>
        </p:blipFill>
        <p:spPr>
          <a:xfrm>
            <a:off x="0" y="-5080"/>
            <a:ext cx="12192000" cy="6875780"/>
          </a:xfrm>
          <a:prstGeom prst="rect">
            <a:avLst/>
          </a:prstGeom>
        </p:spPr>
      </p:pic>
      <p:sp>
        <p:nvSpPr>
          <p:cNvPr id="3" name="Shape 0"/>
          <p:cNvSpPr/>
          <p:nvPr/>
        </p:nvSpPr>
        <p:spPr>
          <a:xfrm>
            <a:off x="0" y="1699895"/>
            <a:ext cx="12192000" cy="5129530"/>
          </a:xfrm>
          <a:prstGeom prst="rect">
            <a:avLst/>
          </a:prstGeom>
          <a:solidFill>
            <a:srgbClr val="FFFFFF">
              <a:alpha val="65098"/>
            </a:srgbClr>
          </a:solidFill>
          <a:ln/>
        </p:spPr>
      </p:sp>
      <p:sp>
        <p:nvSpPr>
          <p:cNvPr id="4" name="Text 1"/>
          <p:cNvSpPr/>
          <p:nvPr/>
        </p:nvSpPr>
        <p:spPr>
          <a:xfrm>
            <a:off x="0" y="1699895"/>
            <a:ext cx="12192000" cy="5129530"/>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5" name="Text 2"/>
          <p:cNvSpPr/>
          <p:nvPr/>
        </p:nvSpPr>
        <p:spPr>
          <a:xfrm>
            <a:off x="4302760" y="731520"/>
            <a:ext cx="3635468" cy="1936750"/>
          </a:xfrm>
          <a:prstGeom prst="rect">
            <a:avLst/>
          </a:prstGeom>
          <a:noFill/>
          <a:ln/>
        </p:spPr>
        <p:txBody>
          <a:bodyPr wrap="square" lIns="91440" tIns="45720" rIns="91440" bIns="45720" rtlCol="0" anchor="t"/>
          <a:lstStyle/>
          <a:p>
            <a:pPr algn="ctr" indent="0" marL="0">
              <a:lnSpc>
                <a:spcPct val="100000"/>
              </a:lnSpc>
              <a:buNone/>
            </a:pPr>
            <a:r>
              <a:rPr lang="en-US" sz="6000" b="1" dirty="0">
                <a:solidFill>
                  <a:srgbClr val="333F4F"/>
                </a:solidFill>
                <a:latin typeface="MiSans" pitchFamily="34" charset="0"/>
                <a:ea typeface="MiSans" pitchFamily="34" charset="-122"/>
                <a:cs typeface="MiSans" pitchFamily="34" charset="-120"/>
              </a:rPr>
              <a:t>Nội Dung</a:t>
            </a:r>
            <a:endParaRPr lang="en-US" sz="1600" dirty="0"/>
          </a:p>
        </p:txBody>
      </p:sp>
      <p:pic>
        <p:nvPicPr>
          <p:cNvPr id="6" name="Image 1" descr="https://kimi-img.moonshot.cn/pub/slides/slides_tmpl/image/25-09-04-14:58:33-d2sjh6e1bb2p4onbq9ag.png">    </p:cNvPr>
          <p:cNvPicPr>
            <a:picLocks noChangeAspect="1"/>
          </p:cNvPicPr>
          <p:nvPr/>
        </p:nvPicPr>
        <p:blipFill>
          <a:blip r:embed="rId2"/>
          <a:srcRect l="0" r="0" t="39309" b="44819"/>
          <a:stretch/>
        </p:blipFill>
        <p:spPr>
          <a:xfrm>
            <a:off x="4302760" y="1798320"/>
            <a:ext cx="3586480" cy="567690"/>
          </a:xfrm>
          <a:prstGeom prst="rect">
            <a:avLst/>
          </a:prstGeom>
        </p:spPr>
      </p:pic>
      <p:sp>
        <p:nvSpPr>
          <p:cNvPr id="7" name="Text 3"/>
          <p:cNvSpPr/>
          <p:nvPr/>
        </p:nvSpPr>
        <p:spPr>
          <a:xfrm>
            <a:off x="1806575" y="2498090"/>
            <a:ext cx="8297545" cy="585192"/>
          </a:xfrm>
          <a:prstGeom prst="rect">
            <a:avLst/>
          </a:prstGeom>
          <a:noFill/>
          <a:ln/>
        </p:spPr>
        <p:txBody>
          <a:bodyPr wrap="square" lIns="91440" tIns="45720" rIns="91440" bIns="45720" rtlCol="0" anchor="t">
            <a:spAutoFit/>
          </a:bodyPr>
          <a:lstStyle/>
          <a:p>
            <a:pPr algn="ctr" indent="0" marL="0">
              <a:lnSpc>
                <a:spcPct val="160000"/>
              </a:lnSpc>
              <a:buNone/>
            </a:pPr>
            <a:r>
              <a:rPr lang="en-US" sz="2400" dirty="0">
                <a:solidFill>
                  <a:srgbClr val="333F4F"/>
                </a:solidFill>
                <a:latin typeface="MiSans" pitchFamily="34" charset="0"/>
                <a:ea typeface="MiSans" pitchFamily="34" charset="-122"/>
                <a:cs typeface="MiSans" pitchFamily="34" charset="-120"/>
              </a:rPr>
              <a:t>Giới thiệu tài nguyên học Android</a:t>
            </a:r>
            <a:endParaRPr lang="en-US" sz="1600" dirty="0"/>
          </a:p>
        </p:txBody>
      </p:sp>
      <p:sp>
        <p:nvSpPr>
          <p:cNvPr id="8" name="Text 4"/>
          <p:cNvSpPr/>
          <p:nvPr/>
        </p:nvSpPr>
        <p:spPr>
          <a:xfrm>
            <a:off x="1806575" y="3345815"/>
            <a:ext cx="8297545" cy="585192"/>
          </a:xfrm>
          <a:prstGeom prst="rect">
            <a:avLst/>
          </a:prstGeom>
          <a:noFill/>
          <a:ln/>
        </p:spPr>
        <p:txBody>
          <a:bodyPr wrap="square" lIns="91440" tIns="45720" rIns="91440" bIns="45720" rtlCol="0" anchor="t">
            <a:spAutoFit/>
          </a:bodyPr>
          <a:lstStyle/>
          <a:p>
            <a:pPr algn="ctr" indent="0" marL="0">
              <a:lnSpc>
                <a:spcPct val="160000"/>
              </a:lnSpc>
              <a:buNone/>
            </a:pPr>
            <a:r>
              <a:rPr lang="en-US" sz="2400" dirty="0">
                <a:solidFill>
                  <a:srgbClr val="333F4F"/>
                </a:solidFill>
                <a:latin typeface="MiSans" pitchFamily="34" charset="0"/>
                <a:ea typeface="MiSans" pitchFamily="34" charset="-122"/>
                <a:cs typeface="MiSans" pitchFamily="34" charset="-120"/>
              </a:rPr>
              <a:t>Cộng đồng và blog chính thức</a:t>
            </a:r>
            <a:endParaRPr lang="en-US" sz="1600" dirty="0"/>
          </a:p>
        </p:txBody>
      </p:sp>
      <p:sp>
        <p:nvSpPr>
          <p:cNvPr id="9" name="Text 5"/>
          <p:cNvSpPr/>
          <p:nvPr/>
        </p:nvSpPr>
        <p:spPr>
          <a:xfrm>
            <a:off x="1806575" y="4193540"/>
            <a:ext cx="8297545" cy="585192"/>
          </a:xfrm>
          <a:prstGeom prst="rect">
            <a:avLst/>
          </a:prstGeom>
          <a:noFill/>
          <a:ln/>
        </p:spPr>
        <p:txBody>
          <a:bodyPr wrap="square" lIns="91440" tIns="45720" rIns="91440" bIns="45720" rtlCol="0" anchor="t">
            <a:spAutoFit/>
          </a:bodyPr>
          <a:lstStyle/>
          <a:p>
            <a:pPr algn="ctr" indent="0" marL="0">
              <a:lnSpc>
                <a:spcPct val="160000"/>
              </a:lnSpc>
              <a:buNone/>
            </a:pPr>
            <a:r>
              <a:rPr lang="en-US" sz="2400" dirty="0">
                <a:solidFill>
                  <a:srgbClr val="333F4F"/>
                </a:solidFill>
                <a:latin typeface="MiSans" pitchFamily="34" charset="0"/>
                <a:ea typeface="MiSans" pitchFamily="34" charset="-122"/>
                <a:cs typeface="MiSans" pitchFamily="34" charset="-120"/>
              </a:rPr>
              <a:t>Khóa học và codelab thực hành</a:t>
            </a:r>
            <a:endParaRPr lang="en-US" sz="1600" dirty="0"/>
          </a:p>
        </p:txBody>
      </p:sp>
      <p:sp>
        <p:nvSpPr>
          <p:cNvPr id="10" name="Text 6"/>
          <p:cNvSpPr/>
          <p:nvPr/>
        </p:nvSpPr>
        <p:spPr>
          <a:xfrm>
            <a:off x="1806575" y="5041265"/>
            <a:ext cx="8297545" cy="585192"/>
          </a:xfrm>
          <a:prstGeom prst="rect">
            <a:avLst/>
          </a:prstGeom>
          <a:noFill/>
          <a:ln/>
        </p:spPr>
        <p:txBody>
          <a:bodyPr wrap="square" lIns="91440" tIns="45720" rIns="91440" bIns="45720" rtlCol="0" anchor="t">
            <a:spAutoFit/>
          </a:bodyPr>
          <a:lstStyle/>
          <a:p>
            <a:pPr algn="ctr" indent="0" marL="0">
              <a:lnSpc>
                <a:spcPct val="160000"/>
              </a:lnSpc>
              <a:buNone/>
            </a:pPr>
            <a:r>
              <a:rPr lang="en-US" sz="2400" dirty="0">
                <a:solidFill>
                  <a:srgbClr val="333F4F"/>
                </a:solidFill>
                <a:latin typeface="MiSans" pitchFamily="34" charset="0"/>
                <a:ea typeface="MiSans" pitchFamily="34" charset="-122"/>
                <a:cs typeface="MiSans" pitchFamily="34" charset="-120"/>
              </a:rPr>
              <a:t>Mã nguồn và thực hành nâng cao</a:t>
            </a:r>
            <a:endParaRPr lang="en-US" sz="1600" dirty="0"/>
          </a:p>
        </p:txBody>
      </p:sp>
      <p:sp>
        <p:nvSpPr>
          <p:cNvPr id="11" name="Text 7"/>
          <p:cNvSpPr/>
          <p:nvPr/>
        </p:nvSpPr>
        <p:spPr>
          <a:xfrm>
            <a:off x="1806575" y="5888990"/>
            <a:ext cx="8297545" cy="585192"/>
          </a:xfrm>
          <a:prstGeom prst="rect">
            <a:avLst/>
          </a:prstGeom>
          <a:noFill/>
          <a:ln/>
        </p:spPr>
        <p:txBody>
          <a:bodyPr wrap="square" lIns="91440" tIns="45720" rIns="91440" bIns="45720" rtlCol="0" anchor="t">
            <a:spAutoFit/>
          </a:bodyPr>
          <a:lstStyle/>
          <a:p>
            <a:pPr algn="ctr" indent="0" marL="0">
              <a:lnSpc>
                <a:spcPct val="160000"/>
              </a:lnSpc>
              <a:buNone/>
            </a:pPr>
            <a:r>
              <a:rPr lang="en-US" sz="2400" dirty="0">
                <a:solidFill>
                  <a:srgbClr val="333F4F"/>
                </a:solidFill>
                <a:latin typeface="MiSans" pitchFamily="34" charset="0"/>
                <a:ea typeface="MiSans" pitchFamily="34" charset="-122"/>
                <a:cs typeface="MiSans" pitchFamily="34" charset="-120"/>
              </a:rPr>
              <a:t>Tổng hợp và lộ trình tiếp theo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Giới thiệu tài nguyên học Android</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660400" y="2197100"/>
            <a:ext cx="11785600" cy="609600"/>
          </a:xfrm>
          <a:prstGeom prst="rect">
            <a:avLst/>
          </a:prstGeom>
          <a:noFill/>
          <a:ln/>
        </p:spPr>
        <p:txBody>
          <a:bodyPr wrap="square" lIns="0" tIns="0" rIns="0" bIns="0" rtlCol="0" anchor="ctr"/>
          <a:lstStyle/>
          <a:p>
            <a:pPr indent="0" marL="0">
              <a:lnSpc>
                <a:spcPct val="80000"/>
              </a:lnSpc>
              <a:buNone/>
            </a:pPr>
            <a:r>
              <a:rPr lang="en-US" sz="4800" dirty="0">
                <a:solidFill>
                  <a:srgbClr val="333333"/>
                </a:solidFill>
                <a:latin typeface="MiSans" pitchFamily="34" charset="0"/>
                <a:ea typeface="MiSans" pitchFamily="34" charset="-122"/>
                <a:cs typeface="MiSans" pitchFamily="34" charset="-120"/>
              </a:rPr>
              <a:t>Khám Phá Android</a:t>
            </a:r>
            <a:endParaRPr lang="en-US" sz="1600" dirty="0"/>
          </a:p>
        </p:txBody>
      </p:sp>
      <p:sp>
        <p:nvSpPr>
          <p:cNvPr id="4" name="Text 1"/>
          <p:cNvSpPr/>
          <p:nvPr/>
        </p:nvSpPr>
        <p:spPr>
          <a:xfrm>
            <a:off x="660400" y="2908300"/>
            <a:ext cx="11785600" cy="457200"/>
          </a:xfrm>
          <a:prstGeom prst="rect">
            <a:avLst/>
          </a:prstGeom>
          <a:noFill/>
          <a:ln/>
        </p:spPr>
        <p:txBody>
          <a:bodyPr wrap="square" lIns="0" tIns="0" rIns="0" bIns="0" rtlCol="0" anchor="ctr"/>
          <a:lstStyle/>
          <a:p>
            <a:pPr indent="0" marL="0">
              <a:lnSpc>
                <a:spcPct val="100000"/>
              </a:lnSpc>
              <a:buNone/>
            </a:pPr>
            <a:r>
              <a:rPr lang="en-US" sz="3000" dirty="0">
                <a:solidFill>
                  <a:srgbClr val="F9B79B"/>
                </a:solidFill>
                <a:latin typeface="MiSans" pitchFamily="34" charset="0"/>
                <a:ea typeface="MiSans" pitchFamily="34" charset="-122"/>
                <a:cs typeface="MiSans" pitchFamily="34" charset="-120"/>
              </a:rPr>
              <a:t>Tài Nguyên Học Tập Cho Người Mới</a:t>
            </a:r>
            <a:endParaRPr lang="en-US" sz="1600" dirty="0"/>
          </a:p>
        </p:txBody>
      </p:sp>
      <p:sp>
        <p:nvSpPr>
          <p:cNvPr id="5" name="Text 2"/>
          <p:cNvSpPr/>
          <p:nvPr/>
        </p:nvSpPr>
        <p:spPr>
          <a:xfrm>
            <a:off x="660400" y="3670300"/>
            <a:ext cx="7315200" cy="990600"/>
          </a:xfrm>
          <a:prstGeom prst="rect">
            <a:avLst/>
          </a:prstGeom>
          <a:noFill/>
          <a:ln/>
        </p:spPr>
        <p:txBody>
          <a:bodyPr wrap="square" lIns="0" tIns="0" rIns="0" bIns="0" rtlCol="0" anchor="ctr"/>
          <a:lstStyle/>
          <a:p>
            <a:pPr indent="0" marL="0">
              <a:lnSpc>
                <a:spcPct val="140000"/>
              </a:lnSpc>
              <a:buNone/>
            </a:pPr>
            <a:r>
              <a:rPr lang="en-US" sz="1600" dirty="0">
                <a:solidFill>
                  <a:srgbClr val="333333"/>
                </a:solidFill>
                <a:latin typeface="MiSans" pitchFamily="34" charset="0"/>
                <a:ea typeface="MiSans" pitchFamily="34" charset="-122"/>
                <a:cs typeface="MiSans" pitchFamily="34" charset="-120"/>
              </a:rPr>
              <a:t> Hành trình trở thành lập trình viên Android bắt đầu từ việc chọn đúng tài nguyên. Hãy cùng điểm qua những công cụ và nguồn học tập </a:t>
            </a:r>
            <a:pPr indent="0" marL="0">
              <a:lnSpc>
                <a:spcPct val="140000"/>
              </a:lnSpc>
              <a:buNone/>
            </a:pPr>
            <a:r>
              <a:rPr lang="en-US" sz="1600" dirty="0">
                <a:solidFill>
                  <a:srgbClr val="333333"/>
                </a:solidFill>
                <a:highlight>
                  <a:srgbClr val="D7E3E9">
                    <a:alpha val="66667"/>
                  </a:srgbClr>
                </a:highlight>
                <a:latin typeface="MiSans" pitchFamily="34" charset="0"/>
                <a:ea typeface="MiSans" pitchFamily="34" charset="-122"/>
                <a:cs typeface="MiSans" pitchFamily="34" charset="-120"/>
              </a:rPr>
              <a:t> chính thống và hiệu quả </a:t>
            </a:r>
            <a:pPr indent="0" marL="0">
              <a:lnSpc>
                <a:spcPct val="140000"/>
              </a:lnSpc>
              <a:buNone/>
            </a:pPr>
            <a:r>
              <a:rPr lang="en-US" sz="1600" dirty="0">
                <a:solidFill>
                  <a:srgbClr val="333333"/>
                </a:solidFill>
                <a:latin typeface="MiSans" pitchFamily="34" charset="0"/>
                <a:ea typeface="MiSans" pitchFamily="34" charset="-122"/>
                <a:cs typeface="MiSans" pitchFamily="34" charset="-120"/>
              </a:rPr>
              <a:t> nhất, giúp bạn định hình lộ trình rõ ràng ngay từ ngày đầu tiên. </a:t>
            </a:r>
            <a:endParaRPr lang="en-US" sz="1600" dirty="0"/>
          </a:p>
        </p:txBody>
      </p:sp>
      <p:pic>
        <p:nvPicPr>
          <p:cNvPr id="6" name="Image 1" descr="https://kimi-web-img.moonshot.cn/img/wallpaperaccess.com/ff261ad5dbb354b66466ba64c8f434dfd5fb7744.jpg">    </p:cNvPr>
          <p:cNvPicPr>
            <a:picLocks noChangeAspect="1"/>
          </p:cNvPicPr>
          <p:nvPr/>
        </p:nvPicPr>
        <p:blipFill>
          <a:blip r:embed="rId2"/>
          <a:srcRect l="16667" r="16667" t="0" b="0"/>
          <a:stretch/>
        </p:blipFill>
        <p:spPr>
          <a:xfrm>
            <a:off x="7975600" y="2131755"/>
            <a:ext cx="3912567" cy="3301228"/>
          </a:xfrm>
          <a:prstGeom prst="roundRect">
            <a:avLst>
              <a:gd name="adj" fmla="val 0"/>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0" y="1524000"/>
            <a:ext cx="12192000" cy="457200"/>
          </a:xfrm>
          <a:prstGeom prst="rect">
            <a:avLst/>
          </a:prstGeom>
          <a:noFill/>
          <a:ln/>
        </p:spPr>
        <p:txBody>
          <a:bodyPr wrap="square" lIns="0" tIns="0" rIns="0" bIns="0" rtlCol="0" anchor="ctr"/>
          <a:lstStyle/>
          <a:p>
            <a:pPr algn="ctr" indent="0" marL="0">
              <a:lnSpc>
                <a:spcPct val="100000"/>
              </a:lnSpc>
              <a:buNone/>
            </a:pPr>
            <a:r>
              <a:rPr lang="en-US" sz="3000" dirty="0">
                <a:solidFill>
                  <a:srgbClr val="333333"/>
                </a:solidFill>
                <a:latin typeface="MiSans" pitchFamily="34" charset="0"/>
                <a:ea typeface="MiSans" pitchFamily="34" charset="-122"/>
                <a:cs typeface="MiSans" pitchFamily="34" charset="-120"/>
              </a:rPr>
              <a:t>Cấu Trúc Của "developer.android.com"</a:t>
            </a:r>
            <a:endParaRPr lang="en-US" sz="1600" dirty="0"/>
          </a:p>
        </p:txBody>
      </p:sp>
      <p:sp>
        <p:nvSpPr>
          <p:cNvPr id="4" name="Text 1"/>
          <p:cNvSpPr/>
          <p:nvPr/>
        </p:nvSpPr>
        <p:spPr>
          <a:xfrm>
            <a:off x="1219200" y="2082800"/>
            <a:ext cx="9753600" cy="508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Trang chủ dành cho nhà phát triển Android được chia thành ba mục lớn, giúp bạn dễ dàng tìm kiếm thông tin theo từng giai đoạn phát triển ứng dụng.</a:t>
            </a:r>
            <a:endParaRPr lang="en-US" sz="1600" dirty="0"/>
          </a:p>
        </p:txBody>
      </p:sp>
      <p:sp>
        <p:nvSpPr>
          <p:cNvPr id="5" name="Shape 2"/>
          <p:cNvSpPr/>
          <p:nvPr/>
        </p:nvSpPr>
        <p:spPr>
          <a:xfrm>
            <a:off x="254000" y="3124200"/>
            <a:ext cx="3759200" cy="2082800"/>
          </a:xfrm>
          <a:custGeom>
            <a:avLst/>
            <a:gdLst/>
            <a:ahLst/>
            <a:cxnLst/>
            <a:rect l="l" t="t" r="r" b="b"/>
            <a:pathLst>
              <a:path w="3759200" h="2082800">
                <a:moveTo>
                  <a:pt x="101599" y="0"/>
                </a:moveTo>
                <a:lnTo>
                  <a:pt x="3657601" y="0"/>
                </a:lnTo>
                <a:cubicBezTo>
                  <a:pt x="3713713" y="0"/>
                  <a:pt x="3759200" y="45487"/>
                  <a:pt x="3759200" y="101599"/>
                </a:cubicBezTo>
                <a:lnTo>
                  <a:pt x="3759200" y="1981201"/>
                </a:lnTo>
                <a:cubicBezTo>
                  <a:pt x="3759200" y="2037313"/>
                  <a:pt x="3713713" y="2082800"/>
                  <a:pt x="3657601" y="2082800"/>
                </a:cubicBezTo>
                <a:lnTo>
                  <a:pt x="101599" y="2082800"/>
                </a:lnTo>
                <a:cubicBezTo>
                  <a:pt x="45487" y="2082800"/>
                  <a:pt x="0" y="2037313"/>
                  <a:pt x="0" y="1981201"/>
                </a:cubicBezTo>
                <a:lnTo>
                  <a:pt x="0" y="101599"/>
                </a:lnTo>
                <a:cubicBezTo>
                  <a:pt x="0" y="45525"/>
                  <a:pt x="45525" y="0"/>
                  <a:pt x="101599" y="0"/>
                </a:cubicBezTo>
                <a:close/>
              </a:path>
            </a:pathLst>
          </a:custGeom>
          <a:solidFill>
            <a:srgbClr val="D7E3E9">
              <a:alpha val="66667"/>
            </a:srgbClr>
          </a:solidFill>
          <a:ln/>
        </p:spPr>
      </p:sp>
      <p:sp>
        <p:nvSpPr>
          <p:cNvPr id="6" name="Shape 3"/>
          <p:cNvSpPr/>
          <p:nvPr/>
        </p:nvSpPr>
        <p:spPr>
          <a:xfrm>
            <a:off x="1727200" y="3327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BACBD3"/>
          </a:solidFill>
          <a:ln/>
        </p:spPr>
      </p:sp>
      <p:sp>
        <p:nvSpPr>
          <p:cNvPr id="7" name="Shape 4"/>
          <p:cNvSpPr/>
          <p:nvPr/>
        </p:nvSpPr>
        <p:spPr>
          <a:xfrm>
            <a:off x="1946275" y="3543300"/>
            <a:ext cx="381000" cy="381000"/>
          </a:xfrm>
          <a:custGeom>
            <a:avLst/>
            <a:gdLst/>
            <a:ahLst/>
            <a:cxnLst/>
            <a:rect l="l" t="t" r="r" b="b"/>
            <a:pathLst>
              <a:path w="381000" h="381000">
                <a:moveTo>
                  <a:pt x="381000" y="190500"/>
                </a:moveTo>
                <a:cubicBezTo>
                  <a:pt x="381000" y="191170"/>
                  <a:pt x="381000" y="191839"/>
                  <a:pt x="381000" y="192509"/>
                </a:cubicBezTo>
                <a:cubicBezTo>
                  <a:pt x="380702" y="219670"/>
                  <a:pt x="355997" y="238125"/>
                  <a:pt x="328836" y="238125"/>
                </a:cubicBezTo>
                <a:lnTo>
                  <a:pt x="255984" y="238125"/>
                </a:lnTo>
                <a:cubicBezTo>
                  <a:pt x="236265" y="238125"/>
                  <a:pt x="220266" y="254124"/>
                  <a:pt x="220266" y="273844"/>
                </a:cubicBezTo>
                <a:cubicBezTo>
                  <a:pt x="220266" y="276374"/>
                  <a:pt x="220563" y="278829"/>
                  <a:pt x="221010" y="281211"/>
                </a:cubicBezTo>
                <a:cubicBezTo>
                  <a:pt x="222572" y="288801"/>
                  <a:pt x="225847" y="296094"/>
                  <a:pt x="229046" y="303461"/>
                </a:cubicBezTo>
                <a:cubicBezTo>
                  <a:pt x="233586" y="313730"/>
                  <a:pt x="238051" y="323924"/>
                  <a:pt x="238051" y="334714"/>
                </a:cubicBezTo>
                <a:cubicBezTo>
                  <a:pt x="238051" y="358378"/>
                  <a:pt x="221977" y="379884"/>
                  <a:pt x="198313" y="380851"/>
                </a:cubicBezTo>
                <a:cubicBezTo>
                  <a:pt x="195709" y="380926"/>
                  <a:pt x="193104" y="381000"/>
                  <a:pt x="190426" y="381000"/>
                </a:cubicBezTo>
                <a:cubicBezTo>
                  <a:pt x="85204" y="381000"/>
                  <a:pt x="-74" y="295721"/>
                  <a:pt x="-74" y="190500"/>
                </a:cubicBezTo>
                <a:cubicBezTo>
                  <a:pt x="-74" y="85279"/>
                  <a:pt x="85279" y="0"/>
                  <a:pt x="190500" y="0"/>
                </a:cubicBezTo>
                <a:cubicBezTo>
                  <a:pt x="295721" y="0"/>
                  <a:pt x="381000" y="85279"/>
                  <a:pt x="381000" y="190500"/>
                </a:cubicBezTo>
                <a:close/>
                <a:moveTo>
                  <a:pt x="95250" y="214313"/>
                </a:moveTo>
                <a:cubicBezTo>
                  <a:pt x="95250" y="201170"/>
                  <a:pt x="84580" y="190500"/>
                  <a:pt x="71438" y="190500"/>
                </a:cubicBezTo>
                <a:cubicBezTo>
                  <a:pt x="58295" y="190500"/>
                  <a:pt x="47625" y="201170"/>
                  <a:pt x="47625" y="214313"/>
                </a:cubicBezTo>
                <a:cubicBezTo>
                  <a:pt x="47625" y="227455"/>
                  <a:pt x="58295" y="238125"/>
                  <a:pt x="71438" y="238125"/>
                </a:cubicBezTo>
                <a:cubicBezTo>
                  <a:pt x="84580" y="238125"/>
                  <a:pt x="95250" y="227455"/>
                  <a:pt x="95250" y="214313"/>
                </a:cubicBezTo>
                <a:close/>
                <a:moveTo>
                  <a:pt x="95250" y="142875"/>
                </a:moveTo>
                <a:cubicBezTo>
                  <a:pt x="108392" y="142875"/>
                  <a:pt x="119063" y="132205"/>
                  <a:pt x="119063" y="119063"/>
                </a:cubicBezTo>
                <a:cubicBezTo>
                  <a:pt x="119063" y="105920"/>
                  <a:pt x="108392" y="95250"/>
                  <a:pt x="95250" y="95250"/>
                </a:cubicBezTo>
                <a:cubicBezTo>
                  <a:pt x="82108" y="95250"/>
                  <a:pt x="71438" y="105920"/>
                  <a:pt x="71438" y="119063"/>
                </a:cubicBezTo>
                <a:cubicBezTo>
                  <a:pt x="71438" y="132205"/>
                  <a:pt x="82108" y="142875"/>
                  <a:pt x="95250" y="142875"/>
                </a:cubicBezTo>
                <a:close/>
                <a:moveTo>
                  <a:pt x="214313" y="71438"/>
                </a:moveTo>
                <a:cubicBezTo>
                  <a:pt x="214313" y="58295"/>
                  <a:pt x="203642" y="47625"/>
                  <a:pt x="190500" y="47625"/>
                </a:cubicBezTo>
                <a:cubicBezTo>
                  <a:pt x="177358" y="47625"/>
                  <a:pt x="166688" y="58295"/>
                  <a:pt x="166688" y="71438"/>
                </a:cubicBezTo>
                <a:cubicBezTo>
                  <a:pt x="166688" y="84580"/>
                  <a:pt x="177358" y="95250"/>
                  <a:pt x="190500" y="95250"/>
                </a:cubicBezTo>
                <a:cubicBezTo>
                  <a:pt x="203642" y="95250"/>
                  <a:pt x="214313" y="84580"/>
                  <a:pt x="214313" y="71438"/>
                </a:cubicBezTo>
                <a:close/>
                <a:moveTo>
                  <a:pt x="285750" y="142875"/>
                </a:moveTo>
                <a:cubicBezTo>
                  <a:pt x="298892" y="142875"/>
                  <a:pt x="309563" y="132205"/>
                  <a:pt x="309563" y="119063"/>
                </a:cubicBezTo>
                <a:cubicBezTo>
                  <a:pt x="309563" y="105920"/>
                  <a:pt x="298892" y="95250"/>
                  <a:pt x="285750" y="95250"/>
                </a:cubicBezTo>
                <a:cubicBezTo>
                  <a:pt x="272608" y="95250"/>
                  <a:pt x="261938" y="105920"/>
                  <a:pt x="261938" y="119063"/>
                </a:cubicBezTo>
                <a:cubicBezTo>
                  <a:pt x="261938" y="132205"/>
                  <a:pt x="272608" y="142875"/>
                  <a:pt x="285750" y="142875"/>
                </a:cubicBezTo>
                <a:close/>
              </a:path>
            </a:pathLst>
          </a:custGeom>
          <a:solidFill>
            <a:srgbClr val="F9B79B"/>
          </a:solidFill>
          <a:ln/>
        </p:spPr>
      </p:sp>
      <p:sp>
        <p:nvSpPr>
          <p:cNvPr id="8" name="Text 5"/>
          <p:cNvSpPr/>
          <p:nvPr/>
        </p:nvSpPr>
        <p:spPr>
          <a:xfrm>
            <a:off x="1416248" y="4292600"/>
            <a:ext cx="1435100" cy="355600"/>
          </a:xfrm>
          <a:prstGeom prst="rect">
            <a:avLst/>
          </a:prstGeom>
          <a:noFill/>
          <a:ln/>
        </p:spPr>
        <p:txBody>
          <a:bodyPr wrap="square" lIns="0" tIns="0" rIns="0" bIns="0" rtlCol="0" anchor="ctr"/>
          <a:lstStyle/>
          <a:p>
            <a:pPr algn="ctr" indent="0" marL="0">
              <a:lnSpc>
                <a:spcPct val="120000"/>
              </a:lnSpc>
              <a:buNone/>
            </a:pPr>
            <a:r>
              <a:rPr lang="en-US" sz="2000" dirty="0">
                <a:solidFill>
                  <a:srgbClr val="333333"/>
                </a:solidFill>
                <a:latin typeface="MiSans" pitchFamily="34" charset="0"/>
                <a:ea typeface="MiSans" pitchFamily="34" charset="-122"/>
                <a:cs typeface="MiSans" pitchFamily="34" charset="-120"/>
              </a:rPr>
              <a:t>DESIGN</a:t>
            </a:r>
            <a:endParaRPr lang="en-US" sz="1600" dirty="0"/>
          </a:p>
        </p:txBody>
      </p:sp>
      <p:sp>
        <p:nvSpPr>
          <p:cNvPr id="9" name="Text 6"/>
          <p:cNvSpPr/>
          <p:nvPr/>
        </p:nvSpPr>
        <p:spPr>
          <a:xfrm>
            <a:off x="428427" y="4749800"/>
            <a:ext cx="3416300" cy="254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UX approach using “Material Design”</a:t>
            </a:r>
            <a:endParaRPr lang="en-US" sz="1600" dirty="0"/>
          </a:p>
        </p:txBody>
      </p:sp>
      <p:sp>
        <p:nvSpPr>
          <p:cNvPr id="10" name="Shape 7"/>
          <p:cNvSpPr/>
          <p:nvPr/>
        </p:nvSpPr>
        <p:spPr>
          <a:xfrm>
            <a:off x="4216400" y="2870200"/>
            <a:ext cx="3759200" cy="2336800"/>
          </a:xfrm>
          <a:custGeom>
            <a:avLst/>
            <a:gdLst/>
            <a:ahLst/>
            <a:cxnLst/>
            <a:rect l="l" t="t" r="r" b="b"/>
            <a:pathLst>
              <a:path w="3759200" h="2336800">
                <a:moveTo>
                  <a:pt x="101604" y="0"/>
                </a:moveTo>
                <a:lnTo>
                  <a:pt x="3657596" y="0"/>
                </a:lnTo>
                <a:cubicBezTo>
                  <a:pt x="3713710" y="0"/>
                  <a:pt x="3759200" y="45490"/>
                  <a:pt x="3759200" y="101604"/>
                </a:cubicBezTo>
                <a:lnTo>
                  <a:pt x="3759200" y="2235196"/>
                </a:lnTo>
                <a:cubicBezTo>
                  <a:pt x="3759200" y="2291310"/>
                  <a:pt x="3713710" y="2336800"/>
                  <a:pt x="3657596" y="2336800"/>
                </a:cubicBezTo>
                <a:lnTo>
                  <a:pt x="101604" y="2336800"/>
                </a:lnTo>
                <a:cubicBezTo>
                  <a:pt x="45490" y="2336800"/>
                  <a:pt x="0" y="2291310"/>
                  <a:pt x="0" y="2235196"/>
                </a:cubicBezTo>
                <a:lnTo>
                  <a:pt x="0" y="101604"/>
                </a:lnTo>
                <a:cubicBezTo>
                  <a:pt x="0" y="45527"/>
                  <a:pt x="45527" y="0"/>
                  <a:pt x="101604" y="0"/>
                </a:cubicBezTo>
                <a:close/>
              </a:path>
            </a:pathLst>
          </a:custGeom>
          <a:solidFill>
            <a:srgbClr val="BACBD3"/>
          </a:solidFill>
          <a:ln/>
          <a:effectLst>
            <a:outerShdw sx="100000" sy="100000" kx="0" ky="0" algn="bl" rotWithShape="0" blurRad="190500" dist="127000" dir="5400000">
              <a:srgbClr val="000000">
                <a:alpha val="10196"/>
              </a:srgbClr>
            </a:outerShdw>
          </a:effectLst>
        </p:spPr>
      </p:sp>
      <p:sp>
        <p:nvSpPr>
          <p:cNvPr id="11" name="Shape 8"/>
          <p:cNvSpPr/>
          <p:nvPr/>
        </p:nvSpPr>
        <p:spPr>
          <a:xfrm>
            <a:off x="5689600" y="31242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D7E3E9">
              <a:alpha val="66667"/>
            </a:srgbClr>
          </a:solidFill>
          <a:ln/>
        </p:spPr>
      </p:sp>
      <p:sp>
        <p:nvSpPr>
          <p:cNvPr id="12" name="Shape 9"/>
          <p:cNvSpPr/>
          <p:nvPr/>
        </p:nvSpPr>
        <p:spPr>
          <a:xfrm>
            <a:off x="5861050" y="3341370"/>
            <a:ext cx="428625" cy="381000"/>
          </a:xfrm>
          <a:custGeom>
            <a:avLst/>
            <a:gdLst/>
            <a:ahLst/>
            <a:cxnLst/>
            <a:rect l="l" t="t" r="r" b="b"/>
            <a:pathLst>
              <a:path w="428625" h="381000">
                <a:moveTo>
                  <a:pt x="268486" y="893"/>
                </a:moveTo>
                <a:cubicBezTo>
                  <a:pt x="255836" y="-2753"/>
                  <a:pt x="242664" y="4614"/>
                  <a:pt x="239018" y="17264"/>
                </a:cubicBezTo>
                <a:lnTo>
                  <a:pt x="143768" y="350639"/>
                </a:lnTo>
                <a:cubicBezTo>
                  <a:pt x="140122" y="363289"/>
                  <a:pt x="147489" y="376461"/>
                  <a:pt x="160139" y="380107"/>
                </a:cubicBezTo>
                <a:cubicBezTo>
                  <a:pt x="172789" y="383753"/>
                  <a:pt x="185961" y="376386"/>
                  <a:pt x="189607" y="363736"/>
                </a:cubicBezTo>
                <a:lnTo>
                  <a:pt x="284857" y="30361"/>
                </a:lnTo>
                <a:cubicBezTo>
                  <a:pt x="288503" y="17711"/>
                  <a:pt x="281136" y="4539"/>
                  <a:pt x="268486" y="893"/>
                </a:cubicBezTo>
                <a:close/>
                <a:moveTo>
                  <a:pt x="316557" y="102171"/>
                </a:moveTo>
                <a:cubicBezTo>
                  <a:pt x="307256" y="111472"/>
                  <a:pt x="307256" y="126578"/>
                  <a:pt x="316557" y="135880"/>
                </a:cubicBezTo>
                <a:lnTo>
                  <a:pt x="371177" y="190500"/>
                </a:lnTo>
                <a:lnTo>
                  <a:pt x="316557" y="245120"/>
                </a:lnTo>
                <a:cubicBezTo>
                  <a:pt x="307256" y="254422"/>
                  <a:pt x="307256" y="269528"/>
                  <a:pt x="316557" y="278829"/>
                </a:cubicBezTo>
                <a:cubicBezTo>
                  <a:pt x="325859" y="288131"/>
                  <a:pt x="340965" y="288131"/>
                  <a:pt x="350267" y="278829"/>
                </a:cubicBezTo>
                <a:lnTo>
                  <a:pt x="421704" y="207392"/>
                </a:lnTo>
                <a:cubicBezTo>
                  <a:pt x="431006" y="198090"/>
                  <a:pt x="431006" y="182984"/>
                  <a:pt x="421704" y="173682"/>
                </a:cubicBezTo>
                <a:lnTo>
                  <a:pt x="350267" y="102245"/>
                </a:lnTo>
                <a:cubicBezTo>
                  <a:pt x="340965" y="92943"/>
                  <a:pt x="325859" y="92943"/>
                  <a:pt x="316557" y="102245"/>
                </a:cubicBezTo>
                <a:close/>
                <a:moveTo>
                  <a:pt x="112142" y="102171"/>
                </a:moveTo>
                <a:cubicBezTo>
                  <a:pt x="102840" y="92869"/>
                  <a:pt x="87734" y="92869"/>
                  <a:pt x="78432" y="102171"/>
                </a:cubicBezTo>
                <a:lnTo>
                  <a:pt x="6995" y="173608"/>
                </a:lnTo>
                <a:cubicBezTo>
                  <a:pt x="-2307" y="182910"/>
                  <a:pt x="-2307" y="198016"/>
                  <a:pt x="6995" y="207318"/>
                </a:cubicBezTo>
                <a:lnTo>
                  <a:pt x="78432" y="278755"/>
                </a:lnTo>
                <a:cubicBezTo>
                  <a:pt x="87734" y="288057"/>
                  <a:pt x="102840" y="288057"/>
                  <a:pt x="112142" y="278755"/>
                </a:cubicBezTo>
                <a:cubicBezTo>
                  <a:pt x="121444" y="269453"/>
                  <a:pt x="121444" y="254347"/>
                  <a:pt x="112142" y="245046"/>
                </a:cubicBezTo>
                <a:lnTo>
                  <a:pt x="57522" y="190500"/>
                </a:lnTo>
                <a:lnTo>
                  <a:pt x="112068" y="135880"/>
                </a:lnTo>
                <a:cubicBezTo>
                  <a:pt x="121369" y="126578"/>
                  <a:pt x="121369" y="111472"/>
                  <a:pt x="112068" y="102171"/>
                </a:cubicBezTo>
                <a:close/>
              </a:path>
            </a:pathLst>
          </a:custGeom>
          <a:solidFill>
            <a:srgbClr val="F9B79B"/>
          </a:solidFill>
          <a:ln/>
        </p:spPr>
      </p:sp>
      <p:sp>
        <p:nvSpPr>
          <p:cNvPr id="13" name="Text 10"/>
          <p:cNvSpPr/>
          <p:nvPr/>
        </p:nvSpPr>
        <p:spPr>
          <a:xfrm>
            <a:off x="5313997" y="4114800"/>
            <a:ext cx="1612900" cy="355600"/>
          </a:xfrm>
          <a:prstGeom prst="rect">
            <a:avLst/>
          </a:prstGeom>
          <a:noFill/>
          <a:ln/>
        </p:spPr>
        <p:txBody>
          <a:bodyPr wrap="square" lIns="0" tIns="0" rIns="0" bIns="0" rtlCol="0" anchor="ctr"/>
          <a:lstStyle/>
          <a:p>
            <a:pPr algn="ctr" indent="0" marL="0">
              <a:lnSpc>
                <a:spcPct val="120000"/>
              </a:lnSpc>
              <a:buNone/>
            </a:pPr>
            <a:r>
              <a:rPr lang="en-US" sz="2000" b="1" dirty="0">
                <a:solidFill>
                  <a:srgbClr val="333333"/>
                </a:solidFill>
                <a:latin typeface="MiSans" pitchFamily="34" charset="0"/>
                <a:ea typeface="MiSans" pitchFamily="34" charset="-122"/>
                <a:cs typeface="MiSans" pitchFamily="34" charset="-120"/>
              </a:rPr>
              <a:t>DEVELOP</a:t>
            </a:r>
            <a:endParaRPr lang="en-US" sz="1600" dirty="0"/>
          </a:p>
        </p:txBody>
      </p:sp>
      <p:sp>
        <p:nvSpPr>
          <p:cNvPr id="14" name="Text 11"/>
          <p:cNvSpPr/>
          <p:nvPr/>
        </p:nvSpPr>
        <p:spPr>
          <a:xfrm>
            <a:off x="4444048" y="4495800"/>
            <a:ext cx="3352800" cy="508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Software Developer Info, trainings, tutorials, sample code, reference</a:t>
            </a:r>
            <a:endParaRPr lang="en-US" sz="1600" dirty="0"/>
          </a:p>
        </p:txBody>
      </p:sp>
      <p:sp>
        <p:nvSpPr>
          <p:cNvPr id="15" name="Shape 12"/>
          <p:cNvSpPr/>
          <p:nvPr/>
        </p:nvSpPr>
        <p:spPr>
          <a:xfrm>
            <a:off x="8178800" y="3124200"/>
            <a:ext cx="3759200" cy="2082800"/>
          </a:xfrm>
          <a:custGeom>
            <a:avLst/>
            <a:gdLst/>
            <a:ahLst/>
            <a:cxnLst/>
            <a:rect l="l" t="t" r="r" b="b"/>
            <a:pathLst>
              <a:path w="3759200" h="2082800">
                <a:moveTo>
                  <a:pt x="101599" y="0"/>
                </a:moveTo>
                <a:lnTo>
                  <a:pt x="3657601" y="0"/>
                </a:lnTo>
                <a:cubicBezTo>
                  <a:pt x="3713713" y="0"/>
                  <a:pt x="3759200" y="45487"/>
                  <a:pt x="3759200" y="101599"/>
                </a:cubicBezTo>
                <a:lnTo>
                  <a:pt x="3759200" y="1981201"/>
                </a:lnTo>
                <a:cubicBezTo>
                  <a:pt x="3759200" y="2037313"/>
                  <a:pt x="3713713" y="2082800"/>
                  <a:pt x="3657601" y="2082800"/>
                </a:cubicBezTo>
                <a:lnTo>
                  <a:pt x="101599" y="2082800"/>
                </a:lnTo>
                <a:cubicBezTo>
                  <a:pt x="45487" y="2082800"/>
                  <a:pt x="0" y="2037313"/>
                  <a:pt x="0" y="1981201"/>
                </a:cubicBezTo>
                <a:lnTo>
                  <a:pt x="0" y="101599"/>
                </a:lnTo>
                <a:cubicBezTo>
                  <a:pt x="0" y="45525"/>
                  <a:pt x="45525" y="0"/>
                  <a:pt x="101599" y="0"/>
                </a:cubicBezTo>
                <a:close/>
              </a:path>
            </a:pathLst>
          </a:custGeom>
          <a:solidFill>
            <a:srgbClr val="D7E3E9">
              <a:alpha val="66667"/>
            </a:srgbClr>
          </a:solidFill>
          <a:ln/>
        </p:spPr>
      </p:sp>
      <p:sp>
        <p:nvSpPr>
          <p:cNvPr id="16" name="Shape 13"/>
          <p:cNvSpPr/>
          <p:nvPr/>
        </p:nvSpPr>
        <p:spPr>
          <a:xfrm>
            <a:off x="9652000" y="3327400"/>
            <a:ext cx="812800" cy="812800"/>
          </a:xfrm>
          <a:custGeom>
            <a:avLst/>
            <a:gdLst/>
            <a:ahLst/>
            <a:cxnLst/>
            <a:rect l="l" t="t" r="r" b="b"/>
            <a:pathLst>
              <a:path w="812800" h="812800">
                <a:moveTo>
                  <a:pt x="406400" y="0"/>
                </a:moveTo>
                <a:lnTo>
                  <a:pt x="406400" y="0"/>
                </a:lnTo>
                <a:cubicBezTo>
                  <a:pt x="630698" y="0"/>
                  <a:pt x="812800" y="182102"/>
                  <a:pt x="812800" y="406400"/>
                </a:cubicBezTo>
                <a:lnTo>
                  <a:pt x="812800" y="406400"/>
                </a:lnTo>
                <a:cubicBezTo>
                  <a:pt x="812800" y="630698"/>
                  <a:pt x="630698" y="812800"/>
                  <a:pt x="406400" y="812800"/>
                </a:cubicBezTo>
                <a:lnTo>
                  <a:pt x="406400" y="812800"/>
                </a:lnTo>
                <a:cubicBezTo>
                  <a:pt x="182102" y="812800"/>
                  <a:pt x="0" y="630698"/>
                  <a:pt x="0" y="406400"/>
                </a:cubicBezTo>
                <a:lnTo>
                  <a:pt x="0" y="406400"/>
                </a:lnTo>
                <a:cubicBezTo>
                  <a:pt x="0" y="182102"/>
                  <a:pt x="182102" y="0"/>
                  <a:pt x="406400" y="0"/>
                </a:cubicBezTo>
                <a:close/>
              </a:path>
            </a:pathLst>
          </a:custGeom>
          <a:solidFill>
            <a:srgbClr val="BACBD3"/>
          </a:solidFill>
          <a:ln/>
        </p:spPr>
      </p:sp>
      <p:sp>
        <p:nvSpPr>
          <p:cNvPr id="17" name="Shape 14"/>
          <p:cNvSpPr/>
          <p:nvPr/>
        </p:nvSpPr>
        <p:spPr>
          <a:xfrm>
            <a:off x="9894888" y="3543300"/>
            <a:ext cx="333375" cy="381000"/>
          </a:xfrm>
          <a:custGeom>
            <a:avLst/>
            <a:gdLst/>
            <a:ahLst/>
            <a:cxnLst/>
            <a:rect l="l" t="t" r="r" b="b"/>
            <a:pathLst>
              <a:path w="333375" h="381000">
                <a:moveTo>
                  <a:pt x="190500" y="81335"/>
                </a:moveTo>
                <a:lnTo>
                  <a:pt x="190500" y="238125"/>
                </a:lnTo>
                <a:cubicBezTo>
                  <a:pt x="190500" y="251296"/>
                  <a:pt x="179859" y="261938"/>
                  <a:pt x="166688" y="261938"/>
                </a:cubicBezTo>
                <a:cubicBezTo>
                  <a:pt x="153516" y="261938"/>
                  <a:pt x="142875" y="251296"/>
                  <a:pt x="142875" y="238125"/>
                </a:cubicBezTo>
                <a:lnTo>
                  <a:pt x="142875" y="81335"/>
                </a:lnTo>
                <a:lnTo>
                  <a:pt x="112068" y="112142"/>
                </a:lnTo>
                <a:cubicBezTo>
                  <a:pt x="102766" y="121444"/>
                  <a:pt x="87660" y="121444"/>
                  <a:pt x="78358" y="112142"/>
                </a:cubicBezTo>
                <a:cubicBezTo>
                  <a:pt x="69056" y="102840"/>
                  <a:pt x="69056" y="87734"/>
                  <a:pt x="78358" y="78432"/>
                </a:cubicBezTo>
                <a:lnTo>
                  <a:pt x="149796" y="6995"/>
                </a:lnTo>
                <a:cubicBezTo>
                  <a:pt x="159097" y="-2307"/>
                  <a:pt x="174203" y="-2307"/>
                  <a:pt x="183505" y="6995"/>
                </a:cubicBezTo>
                <a:lnTo>
                  <a:pt x="254943" y="78432"/>
                </a:lnTo>
                <a:cubicBezTo>
                  <a:pt x="264244" y="87734"/>
                  <a:pt x="264244" y="102840"/>
                  <a:pt x="254943" y="112142"/>
                </a:cubicBezTo>
                <a:cubicBezTo>
                  <a:pt x="245641" y="121444"/>
                  <a:pt x="230535" y="121444"/>
                  <a:pt x="221233" y="112142"/>
                </a:cubicBezTo>
                <a:lnTo>
                  <a:pt x="190500" y="81335"/>
                </a:lnTo>
                <a:close/>
                <a:moveTo>
                  <a:pt x="166688" y="297656"/>
                </a:moveTo>
                <a:cubicBezTo>
                  <a:pt x="199579" y="297656"/>
                  <a:pt x="226219" y="271016"/>
                  <a:pt x="226219" y="238125"/>
                </a:cubicBezTo>
                <a:lnTo>
                  <a:pt x="285750" y="238125"/>
                </a:lnTo>
                <a:cubicBezTo>
                  <a:pt x="312018" y="238125"/>
                  <a:pt x="333375" y="259482"/>
                  <a:pt x="333375" y="285750"/>
                </a:cubicBezTo>
                <a:lnTo>
                  <a:pt x="333375" y="309563"/>
                </a:lnTo>
                <a:cubicBezTo>
                  <a:pt x="333375" y="335831"/>
                  <a:pt x="312018" y="357188"/>
                  <a:pt x="285750" y="357188"/>
                </a:cubicBezTo>
                <a:lnTo>
                  <a:pt x="47625" y="357188"/>
                </a:lnTo>
                <a:cubicBezTo>
                  <a:pt x="21357" y="357188"/>
                  <a:pt x="0" y="335831"/>
                  <a:pt x="0" y="309563"/>
                </a:cubicBezTo>
                <a:lnTo>
                  <a:pt x="0" y="285750"/>
                </a:lnTo>
                <a:cubicBezTo>
                  <a:pt x="0" y="259482"/>
                  <a:pt x="21357" y="238125"/>
                  <a:pt x="47625" y="238125"/>
                </a:cubicBezTo>
                <a:lnTo>
                  <a:pt x="107156" y="238125"/>
                </a:lnTo>
                <a:cubicBezTo>
                  <a:pt x="107156" y="271016"/>
                  <a:pt x="133796" y="297656"/>
                  <a:pt x="166688" y="297656"/>
                </a:cubicBezTo>
                <a:close/>
                <a:moveTo>
                  <a:pt x="273844" y="315516"/>
                </a:moveTo>
                <a:cubicBezTo>
                  <a:pt x="283701" y="315516"/>
                  <a:pt x="291703" y="307513"/>
                  <a:pt x="291703" y="297656"/>
                </a:cubicBezTo>
                <a:cubicBezTo>
                  <a:pt x="291703" y="287799"/>
                  <a:pt x="283701" y="279797"/>
                  <a:pt x="273844" y="279797"/>
                </a:cubicBezTo>
                <a:cubicBezTo>
                  <a:pt x="263987" y="279797"/>
                  <a:pt x="255984" y="287799"/>
                  <a:pt x="255984" y="297656"/>
                </a:cubicBezTo>
                <a:cubicBezTo>
                  <a:pt x="255984" y="307513"/>
                  <a:pt x="263987" y="315516"/>
                  <a:pt x="273844" y="315516"/>
                </a:cubicBezTo>
                <a:close/>
              </a:path>
            </a:pathLst>
          </a:custGeom>
          <a:solidFill>
            <a:srgbClr val="F9B79B"/>
          </a:solidFill>
          <a:ln/>
        </p:spPr>
      </p:sp>
      <p:sp>
        <p:nvSpPr>
          <p:cNvPr id="18" name="Text 15"/>
          <p:cNvSpPr/>
          <p:nvPr/>
        </p:nvSpPr>
        <p:spPr>
          <a:xfrm>
            <a:off x="9086453" y="4292600"/>
            <a:ext cx="1943100" cy="355600"/>
          </a:xfrm>
          <a:prstGeom prst="rect">
            <a:avLst/>
          </a:prstGeom>
          <a:noFill/>
          <a:ln/>
        </p:spPr>
        <p:txBody>
          <a:bodyPr wrap="square" lIns="0" tIns="0" rIns="0" bIns="0" rtlCol="0" anchor="ctr"/>
          <a:lstStyle/>
          <a:p>
            <a:pPr algn="ctr" indent="0" marL="0">
              <a:lnSpc>
                <a:spcPct val="120000"/>
              </a:lnSpc>
              <a:buNone/>
            </a:pPr>
            <a:r>
              <a:rPr lang="en-US" sz="2000" dirty="0">
                <a:solidFill>
                  <a:srgbClr val="333333"/>
                </a:solidFill>
                <a:latin typeface="MiSans" pitchFamily="34" charset="0"/>
                <a:ea typeface="MiSans" pitchFamily="34" charset="-122"/>
                <a:cs typeface="MiSans" pitchFamily="34" charset="-120"/>
              </a:rPr>
              <a:t>DISTRIBUTE</a:t>
            </a:r>
            <a:endParaRPr lang="en-US" sz="1600" dirty="0"/>
          </a:p>
        </p:txBody>
      </p:sp>
      <p:sp>
        <p:nvSpPr>
          <p:cNvPr id="19" name="Text 16"/>
          <p:cNvSpPr/>
          <p:nvPr/>
        </p:nvSpPr>
        <p:spPr>
          <a:xfrm>
            <a:off x="8862417" y="4749800"/>
            <a:ext cx="2387600" cy="254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Delivering apps to users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Cộng đồng và blog chính thức</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02</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Shape 0"/>
          <p:cNvSpPr/>
          <p:nvPr/>
        </p:nvSpPr>
        <p:spPr>
          <a:xfrm>
            <a:off x="387350" y="2284413"/>
            <a:ext cx="342900" cy="457200"/>
          </a:xfrm>
          <a:custGeom>
            <a:avLst/>
            <a:gdLst/>
            <a:ahLst/>
            <a:cxnLst/>
            <a:rect l="l" t="t" r="r" b="b"/>
            <a:pathLst>
              <a:path w="342900" h="457200">
                <a:moveTo>
                  <a:pt x="259854" y="277713"/>
                </a:moveTo>
                <a:lnTo>
                  <a:pt x="85100" y="240834"/>
                </a:lnTo>
                <a:lnTo>
                  <a:pt x="77778" y="275927"/>
                </a:lnTo>
                <a:lnTo>
                  <a:pt x="252532" y="312539"/>
                </a:lnTo>
                <a:lnTo>
                  <a:pt x="259854" y="277713"/>
                </a:lnTo>
                <a:close/>
                <a:moveTo>
                  <a:pt x="305395" y="200025"/>
                </a:moveTo>
                <a:lnTo>
                  <a:pt x="168325" y="85457"/>
                </a:lnTo>
                <a:lnTo>
                  <a:pt x="145554" y="112961"/>
                </a:lnTo>
                <a:lnTo>
                  <a:pt x="282625" y="227528"/>
                </a:lnTo>
                <a:lnTo>
                  <a:pt x="305395" y="200025"/>
                </a:lnTo>
                <a:close/>
                <a:moveTo>
                  <a:pt x="277535" y="235476"/>
                </a:moveTo>
                <a:lnTo>
                  <a:pt x="115639" y="159841"/>
                </a:lnTo>
                <a:lnTo>
                  <a:pt x="100727" y="192435"/>
                </a:lnTo>
                <a:lnTo>
                  <a:pt x="262533" y="267891"/>
                </a:lnTo>
                <a:lnTo>
                  <a:pt x="277535" y="235476"/>
                </a:lnTo>
                <a:close/>
                <a:moveTo>
                  <a:pt x="234226" y="28575"/>
                </a:moveTo>
                <a:lnTo>
                  <a:pt x="205651" y="50006"/>
                </a:lnTo>
                <a:lnTo>
                  <a:pt x="312182" y="193149"/>
                </a:lnTo>
                <a:lnTo>
                  <a:pt x="340757" y="171718"/>
                </a:lnTo>
                <a:lnTo>
                  <a:pt x="234226" y="28575"/>
                </a:lnTo>
                <a:close/>
                <a:moveTo>
                  <a:pt x="252532" y="321469"/>
                </a:moveTo>
                <a:lnTo>
                  <a:pt x="73938" y="321469"/>
                </a:lnTo>
                <a:lnTo>
                  <a:pt x="73938" y="356920"/>
                </a:lnTo>
                <a:lnTo>
                  <a:pt x="252532" y="356920"/>
                </a:lnTo>
                <a:lnTo>
                  <a:pt x="252532" y="321469"/>
                </a:lnTo>
                <a:close/>
                <a:moveTo>
                  <a:pt x="287982" y="392906"/>
                </a:moveTo>
                <a:lnTo>
                  <a:pt x="38398" y="392906"/>
                </a:lnTo>
                <a:lnTo>
                  <a:pt x="38398" y="285750"/>
                </a:lnTo>
                <a:lnTo>
                  <a:pt x="2679" y="285750"/>
                </a:lnTo>
                <a:lnTo>
                  <a:pt x="2679" y="428625"/>
                </a:lnTo>
                <a:lnTo>
                  <a:pt x="323701" y="428625"/>
                </a:lnTo>
                <a:lnTo>
                  <a:pt x="323701" y="285750"/>
                </a:lnTo>
                <a:lnTo>
                  <a:pt x="287982" y="285750"/>
                </a:lnTo>
                <a:lnTo>
                  <a:pt x="287982" y="392906"/>
                </a:lnTo>
                <a:close/>
              </a:path>
            </a:pathLst>
          </a:custGeom>
          <a:solidFill>
            <a:srgbClr val="F9B79B"/>
          </a:solidFill>
          <a:ln/>
        </p:spPr>
      </p:sp>
      <p:sp>
        <p:nvSpPr>
          <p:cNvPr id="4" name="Text 1"/>
          <p:cNvSpPr/>
          <p:nvPr/>
        </p:nvSpPr>
        <p:spPr>
          <a:xfrm>
            <a:off x="1066800" y="2309813"/>
            <a:ext cx="2679700" cy="406400"/>
          </a:xfrm>
          <a:prstGeom prst="rect">
            <a:avLst/>
          </a:prstGeom>
          <a:noFill/>
          <a:ln/>
        </p:spPr>
        <p:txBody>
          <a:bodyPr wrap="square" lIns="0" tIns="0" rIns="0" bIns="0" rtlCol="0" anchor="ctr"/>
          <a:lstStyle/>
          <a:p>
            <a:pPr indent="0" marL="0">
              <a:lnSpc>
                <a:spcPct val="110000"/>
              </a:lnSpc>
              <a:buNone/>
            </a:pPr>
            <a:r>
              <a:rPr lang="en-US" sz="2400" dirty="0">
                <a:solidFill>
                  <a:srgbClr val="333333"/>
                </a:solidFill>
                <a:latin typeface="MiSans" pitchFamily="34" charset="0"/>
                <a:ea typeface="MiSans" pitchFamily="34" charset="-122"/>
                <a:cs typeface="MiSans" pitchFamily="34" charset="-120"/>
              </a:rPr>
              <a:t>Stack Overflow</a:t>
            </a:r>
            <a:endParaRPr lang="en-US" sz="1600" dirty="0"/>
          </a:p>
        </p:txBody>
      </p:sp>
      <p:sp>
        <p:nvSpPr>
          <p:cNvPr id="5" name="Text 2"/>
          <p:cNvSpPr/>
          <p:nvPr/>
        </p:nvSpPr>
        <p:spPr>
          <a:xfrm>
            <a:off x="254000" y="3021013"/>
            <a:ext cx="5638800" cy="863600"/>
          </a:xfrm>
          <a:prstGeom prst="rect">
            <a:avLst/>
          </a:prstGeom>
          <a:noFill/>
          <a:ln/>
        </p:spPr>
        <p:txBody>
          <a:bodyPr wrap="square" lIns="0" tIns="0" rIns="0" bIns="0" rtlCol="0" anchor="ctr"/>
          <a:lstStyle/>
          <a:p>
            <a:pPr indent="0" marL="0">
              <a:lnSpc>
                <a:spcPct val="140000"/>
              </a:lnSpc>
              <a:buNone/>
            </a:pPr>
            <a:r>
              <a:rPr lang="en-US" sz="1400" dirty="0">
                <a:solidFill>
                  <a:srgbClr val="333333"/>
                </a:solidFill>
                <a:latin typeface="MiSans" pitchFamily="34" charset="0"/>
                <a:ea typeface="MiSans" pitchFamily="34" charset="-122"/>
                <a:cs typeface="MiSans" pitchFamily="34" charset="-120"/>
              </a:rPr>
              <a:t>Diễn đàn hỏi đáp lớn nhất cho lập trình viên. Nơi bạn tìm thấy lời giải cho mọi vấn đề cụ thể về Android, Java, Kotlin và các chủ đề lập trình khác.</a:t>
            </a:r>
            <a:endParaRPr lang="en-US" sz="1600" dirty="0"/>
          </a:p>
        </p:txBody>
      </p:sp>
      <p:sp>
        <p:nvSpPr>
          <p:cNvPr id="6" name="Shape 3"/>
          <p:cNvSpPr/>
          <p:nvPr/>
        </p:nvSpPr>
        <p:spPr>
          <a:xfrm>
            <a:off x="254000" y="4090987"/>
            <a:ext cx="5638800" cy="558800"/>
          </a:xfrm>
          <a:custGeom>
            <a:avLst/>
            <a:gdLst/>
            <a:ahLst/>
            <a:cxnLst/>
            <a:rect l="l" t="t" r="r" b="b"/>
            <a:pathLst>
              <a:path w="5638800" h="558800">
                <a:moveTo>
                  <a:pt x="101601" y="0"/>
                </a:moveTo>
                <a:lnTo>
                  <a:pt x="5537199" y="0"/>
                </a:lnTo>
                <a:cubicBezTo>
                  <a:pt x="5593312" y="0"/>
                  <a:pt x="5638800" y="45488"/>
                  <a:pt x="5638800" y="101601"/>
                </a:cubicBezTo>
                <a:lnTo>
                  <a:pt x="5638800" y="457199"/>
                </a:lnTo>
                <a:cubicBezTo>
                  <a:pt x="5638800" y="513312"/>
                  <a:pt x="5593312" y="558800"/>
                  <a:pt x="5537199" y="558800"/>
                </a:cubicBezTo>
                <a:lnTo>
                  <a:pt x="101601" y="558800"/>
                </a:lnTo>
                <a:cubicBezTo>
                  <a:pt x="45488" y="558800"/>
                  <a:pt x="0" y="513312"/>
                  <a:pt x="0" y="457199"/>
                </a:cubicBezTo>
                <a:lnTo>
                  <a:pt x="0" y="101601"/>
                </a:lnTo>
                <a:cubicBezTo>
                  <a:pt x="0" y="45526"/>
                  <a:pt x="45526" y="0"/>
                  <a:pt x="101601" y="0"/>
                </a:cubicBezTo>
                <a:close/>
              </a:path>
            </a:pathLst>
          </a:custGeom>
          <a:solidFill>
            <a:srgbClr val="D7E3E9">
              <a:alpha val="66667"/>
            </a:srgbClr>
          </a:solidFill>
          <a:ln/>
        </p:spPr>
      </p:sp>
      <p:sp>
        <p:nvSpPr>
          <p:cNvPr id="7" name="Text 4"/>
          <p:cNvSpPr/>
          <p:nvPr/>
        </p:nvSpPr>
        <p:spPr>
          <a:xfrm>
            <a:off x="152400" y="4243388"/>
            <a:ext cx="5842000" cy="254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stackoverflow.com/questions/tagged/android</a:t>
            </a:r>
            <a:endParaRPr lang="en-US" sz="1600" dirty="0"/>
          </a:p>
        </p:txBody>
      </p:sp>
      <p:sp>
        <p:nvSpPr>
          <p:cNvPr id="8" name="Shape 5"/>
          <p:cNvSpPr/>
          <p:nvPr/>
        </p:nvSpPr>
        <p:spPr>
          <a:xfrm>
            <a:off x="6403975" y="2284413"/>
            <a:ext cx="400050" cy="457200"/>
          </a:xfrm>
          <a:custGeom>
            <a:avLst/>
            <a:gdLst/>
            <a:ahLst/>
            <a:cxnLst/>
            <a:rect l="l" t="t" r="r" b="b"/>
            <a:pathLst>
              <a:path w="400050" h="457200">
                <a:moveTo>
                  <a:pt x="398800" y="198864"/>
                </a:moveTo>
                <a:cubicBezTo>
                  <a:pt x="397193" y="191720"/>
                  <a:pt x="392728" y="185112"/>
                  <a:pt x="387638" y="182344"/>
                </a:cubicBezTo>
                <a:cubicBezTo>
                  <a:pt x="386030" y="181451"/>
                  <a:pt x="376029" y="180380"/>
                  <a:pt x="365314" y="179933"/>
                </a:cubicBezTo>
                <a:cubicBezTo>
                  <a:pt x="347365" y="179130"/>
                  <a:pt x="345400" y="178772"/>
                  <a:pt x="339685" y="175468"/>
                </a:cubicBezTo>
                <a:cubicBezTo>
                  <a:pt x="330666" y="170200"/>
                  <a:pt x="328255" y="164485"/>
                  <a:pt x="328166" y="149126"/>
                </a:cubicBezTo>
                <a:cubicBezTo>
                  <a:pt x="328077" y="119658"/>
                  <a:pt x="315843" y="92244"/>
                  <a:pt x="291644" y="67598"/>
                </a:cubicBezTo>
                <a:cubicBezTo>
                  <a:pt x="274409" y="50006"/>
                  <a:pt x="255121" y="38130"/>
                  <a:pt x="233154" y="31433"/>
                </a:cubicBezTo>
                <a:cubicBezTo>
                  <a:pt x="227886" y="29825"/>
                  <a:pt x="216098" y="29289"/>
                  <a:pt x="176629" y="28843"/>
                </a:cubicBezTo>
                <a:cubicBezTo>
                  <a:pt x="114657" y="28129"/>
                  <a:pt x="100905" y="29379"/>
                  <a:pt x="79831" y="37773"/>
                </a:cubicBezTo>
                <a:cubicBezTo>
                  <a:pt x="40987" y="53132"/>
                  <a:pt x="13127" y="85814"/>
                  <a:pt x="2947" y="127605"/>
                </a:cubicBezTo>
                <a:cubicBezTo>
                  <a:pt x="1072" y="135463"/>
                  <a:pt x="625" y="148054"/>
                  <a:pt x="179" y="220385"/>
                </a:cubicBezTo>
                <a:cubicBezTo>
                  <a:pt x="-357" y="311021"/>
                  <a:pt x="268" y="324326"/>
                  <a:pt x="5894" y="342275"/>
                </a:cubicBezTo>
                <a:cubicBezTo>
                  <a:pt x="19824" y="386566"/>
                  <a:pt x="59382" y="419338"/>
                  <a:pt x="99120" y="426482"/>
                </a:cubicBezTo>
                <a:cubicBezTo>
                  <a:pt x="112335" y="428893"/>
                  <a:pt x="275302" y="429429"/>
                  <a:pt x="292001" y="427196"/>
                </a:cubicBezTo>
                <a:cubicBezTo>
                  <a:pt x="321022" y="423267"/>
                  <a:pt x="343793" y="411569"/>
                  <a:pt x="365135" y="389781"/>
                </a:cubicBezTo>
                <a:cubicBezTo>
                  <a:pt x="380583" y="373975"/>
                  <a:pt x="390227" y="356920"/>
                  <a:pt x="396567" y="334328"/>
                </a:cubicBezTo>
                <a:cubicBezTo>
                  <a:pt x="400943" y="318611"/>
                  <a:pt x="400586" y="206812"/>
                  <a:pt x="398800" y="198864"/>
                </a:cubicBezTo>
                <a:close/>
                <a:moveTo>
                  <a:pt x="111175" y="142071"/>
                </a:moveTo>
                <a:cubicBezTo>
                  <a:pt x="118140" y="135017"/>
                  <a:pt x="120104" y="134749"/>
                  <a:pt x="163681" y="134749"/>
                </a:cubicBezTo>
                <a:cubicBezTo>
                  <a:pt x="202883" y="134749"/>
                  <a:pt x="204222" y="134838"/>
                  <a:pt x="209937" y="137785"/>
                </a:cubicBezTo>
                <a:cubicBezTo>
                  <a:pt x="218242" y="141982"/>
                  <a:pt x="221903" y="147876"/>
                  <a:pt x="221903" y="157341"/>
                </a:cubicBezTo>
                <a:cubicBezTo>
                  <a:pt x="221903" y="165824"/>
                  <a:pt x="218509" y="171807"/>
                  <a:pt x="210919" y="176629"/>
                </a:cubicBezTo>
                <a:cubicBezTo>
                  <a:pt x="206812" y="179219"/>
                  <a:pt x="204401" y="179397"/>
                  <a:pt x="166003" y="179576"/>
                </a:cubicBezTo>
                <a:cubicBezTo>
                  <a:pt x="142339" y="179755"/>
                  <a:pt x="123408" y="179219"/>
                  <a:pt x="120640" y="178504"/>
                </a:cubicBezTo>
                <a:cubicBezTo>
                  <a:pt x="105817" y="174308"/>
                  <a:pt x="100280" y="153055"/>
                  <a:pt x="111175" y="142071"/>
                </a:cubicBezTo>
                <a:close/>
                <a:moveTo>
                  <a:pt x="282446" y="320486"/>
                </a:moveTo>
                <a:lnTo>
                  <a:pt x="269141" y="322630"/>
                </a:lnTo>
                <a:lnTo>
                  <a:pt x="199936" y="323433"/>
                </a:lnTo>
                <a:cubicBezTo>
                  <a:pt x="139125" y="324148"/>
                  <a:pt x="121980" y="323076"/>
                  <a:pt x="118765" y="321647"/>
                </a:cubicBezTo>
                <a:cubicBezTo>
                  <a:pt x="112425" y="318879"/>
                  <a:pt x="106442" y="311200"/>
                  <a:pt x="105460" y="304324"/>
                </a:cubicBezTo>
                <a:cubicBezTo>
                  <a:pt x="104477" y="297805"/>
                  <a:pt x="107781" y="288875"/>
                  <a:pt x="112782" y="284321"/>
                </a:cubicBezTo>
                <a:cubicBezTo>
                  <a:pt x="119122" y="278606"/>
                  <a:pt x="121890" y="278428"/>
                  <a:pt x="199668" y="278338"/>
                </a:cubicBezTo>
                <a:cubicBezTo>
                  <a:pt x="279678" y="278249"/>
                  <a:pt x="279231" y="278249"/>
                  <a:pt x="286822" y="285304"/>
                </a:cubicBezTo>
                <a:cubicBezTo>
                  <a:pt x="297626" y="295394"/>
                  <a:pt x="295305" y="313164"/>
                  <a:pt x="282446" y="320486"/>
                </a:cubicBezTo>
                <a:close/>
              </a:path>
            </a:pathLst>
          </a:custGeom>
          <a:solidFill>
            <a:srgbClr val="F9B79B"/>
          </a:solidFill>
          <a:ln/>
        </p:spPr>
      </p:sp>
      <p:sp>
        <p:nvSpPr>
          <p:cNvPr id="9" name="Text 6"/>
          <p:cNvSpPr/>
          <p:nvPr/>
        </p:nvSpPr>
        <p:spPr>
          <a:xfrm>
            <a:off x="7112000" y="2309813"/>
            <a:ext cx="2413000" cy="406400"/>
          </a:xfrm>
          <a:prstGeom prst="rect">
            <a:avLst/>
          </a:prstGeom>
          <a:noFill/>
          <a:ln/>
        </p:spPr>
        <p:txBody>
          <a:bodyPr wrap="square" lIns="0" tIns="0" rIns="0" bIns="0" rtlCol="0" anchor="ctr"/>
          <a:lstStyle/>
          <a:p>
            <a:pPr indent="0" marL="0">
              <a:lnSpc>
                <a:spcPct val="110000"/>
              </a:lnSpc>
              <a:buNone/>
            </a:pPr>
            <a:r>
              <a:rPr lang="en-US" sz="2400" dirty="0">
                <a:solidFill>
                  <a:srgbClr val="333333"/>
                </a:solidFill>
                <a:latin typeface="MiSans" pitchFamily="34" charset="0"/>
                <a:ea typeface="MiSans" pitchFamily="34" charset="-122"/>
                <a:cs typeface="MiSans" pitchFamily="34" charset="-120"/>
              </a:rPr>
              <a:t>Android Blog</a:t>
            </a:r>
            <a:endParaRPr lang="en-US" sz="1600" dirty="0"/>
          </a:p>
        </p:txBody>
      </p:sp>
      <p:sp>
        <p:nvSpPr>
          <p:cNvPr id="10" name="Text 7"/>
          <p:cNvSpPr/>
          <p:nvPr/>
        </p:nvSpPr>
        <p:spPr>
          <a:xfrm>
            <a:off x="6299200" y="3021013"/>
            <a:ext cx="5638800" cy="863600"/>
          </a:xfrm>
          <a:prstGeom prst="rect">
            <a:avLst/>
          </a:prstGeom>
          <a:noFill/>
          <a:ln/>
        </p:spPr>
        <p:txBody>
          <a:bodyPr wrap="square" lIns="0" tIns="0" rIns="0" bIns="0" rtlCol="0" anchor="ctr"/>
          <a:lstStyle/>
          <a:p>
            <a:pPr indent="0" marL="0">
              <a:lnSpc>
                <a:spcPct val="140000"/>
              </a:lnSpc>
              <a:buNone/>
            </a:pPr>
            <a:r>
              <a:rPr lang="en-US" sz="1400" dirty="0">
                <a:solidFill>
                  <a:srgbClr val="333333"/>
                </a:solidFill>
                <a:latin typeface="MiSans" pitchFamily="34" charset="0"/>
                <a:ea typeface="MiSans" pitchFamily="34" charset="-122"/>
                <a:cs typeface="MiSans" pitchFamily="34" charset="-120"/>
              </a:rPr>
              <a:t>Cung cấp tin tức cập nhật, case-study và chiến lược làm app thành công. Giúp bạn vừa giải quyết vấn đề kỹ thuật, vừa nắm bắt xu hướng thị trường.</a:t>
            </a:r>
            <a:endParaRPr lang="en-US" sz="1600" dirty="0"/>
          </a:p>
        </p:txBody>
      </p:sp>
      <p:sp>
        <p:nvSpPr>
          <p:cNvPr id="11" name="Shape 8"/>
          <p:cNvSpPr/>
          <p:nvPr/>
        </p:nvSpPr>
        <p:spPr>
          <a:xfrm>
            <a:off x="6299200" y="4090987"/>
            <a:ext cx="5638800" cy="558800"/>
          </a:xfrm>
          <a:custGeom>
            <a:avLst/>
            <a:gdLst/>
            <a:ahLst/>
            <a:cxnLst/>
            <a:rect l="l" t="t" r="r" b="b"/>
            <a:pathLst>
              <a:path w="5638800" h="558800">
                <a:moveTo>
                  <a:pt x="101601" y="0"/>
                </a:moveTo>
                <a:lnTo>
                  <a:pt x="5537199" y="0"/>
                </a:lnTo>
                <a:cubicBezTo>
                  <a:pt x="5593312" y="0"/>
                  <a:pt x="5638800" y="45488"/>
                  <a:pt x="5638800" y="101601"/>
                </a:cubicBezTo>
                <a:lnTo>
                  <a:pt x="5638800" y="457199"/>
                </a:lnTo>
                <a:cubicBezTo>
                  <a:pt x="5638800" y="513312"/>
                  <a:pt x="5593312" y="558800"/>
                  <a:pt x="5537199" y="558800"/>
                </a:cubicBezTo>
                <a:lnTo>
                  <a:pt x="101601" y="558800"/>
                </a:lnTo>
                <a:cubicBezTo>
                  <a:pt x="45488" y="558800"/>
                  <a:pt x="0" y="513312"/>
                  <a:pt x="0" y="457199"/>
                </a:cubicBezTo>
                <a:lnTo>
                  <a:pt x="0" y="101601"/>
                </a:lnTo>
                <a:cubicBezTo>
                  <a:pt x="0" y="45526"/>
                  <a:pt x="45526" y="0"/>
                  <a:pt x="101601" y="0"/>
                </a:cubicBezTo>
                <a:close/>
              </a:path>
            </a:pathLst>
          </a:custGeom>
          <a:solidFill>
            <a:srgbClr val="BACBD3"/>
          </a:solidFill>
          <a:ln/>
        </p:spPr>
      </p:sp>
      <p:sp>
        <p:nvSpPr>
          <p:cNvPr id="12" name="Text 9"/>
          <p:cNvSpPr/>
          <p:nvPr/>
        </p:nvSpPr>
        <p:spPr>
          <a:xfrm>
            <a:off x="6197600" y="4243388"/>
            <a:ext cx="5842000" cy="254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android-developers.blogspot.com</a:t>
            </a:r>
            <a:endParaRPr lang="en-US" sz="1600" dirty="0"/>
          </a:p>
        </p:txBody>
      </p:sp>
      <p:pic>
        <p:nvPicPr>
          <p:cNvPr id="13" name="Image 1" descr="https://kimi-img.moonshot.cn/pub/slides/25-09-17-23:03:53-d35crmcpm1t68cfdd5b0.png">    </p:cNvPr>
          <p:cNvPicPr>
            <a:picLocks noChangeAspect="1"/>
          </p:cNvPicPr>
          <p:nvPr/>
        </p:nvPicPr>
        <p:blipFill>
          <a:blip r:embed="rId2"/>
          <a:stretch>
            <a:fillRect/>
          </a:stretch>
        </p:blipFill>
        <p:spPr>
          <a:xfrm>
            <a:off x="608043" y="4754982"/>
            <a:ext cx="4930713" cy="1843663"/>
          </a:xfrm>
          <a:prstGeom prst="rect">
            <a:avLst/>
          </a:prstGeom>
        </p:spPr>
      </p:pic>
      <p:pic>
        <p:nvPicPr>
          <p:cNvPr id="14" name="Image 2" descr="https://kimi-img.moonshot.cn/pub/slides/25-09-17-23:04:11-d35crqos8jdnrofb1h10.png">    </p:cNvPr>
          <p:cNvPicPr>
            <a:picLocks noChangeAspect="1"/>
          </p:cNvPicPr>
          <p:nvPr/>
        </p:nvPicPr>
        <p:blipFill>
          <a:blip r:embed="rId3"/>
          <a:stretch>
            <a:fillRect/>
          </a:stretch>
        </p:blipFill>
        <p:spPr>
          <a:xfrm>
            <a:off x="6555276" y="4754982"/>
            <a:ext cx="5126647" cy="18568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254000" y="1446213"/>
            <a:ext cx="5638800" cy="914400"/>
          </a:xfrm>
          <a:prstGeom prst="rect">
            <a:avLst/>
          </a:prstGeom>
          <a:noFill/>
          <a:ln/>
        </p:spPr>
        <p:txBody>
          <a:bodyPr wrap="square" lIns="0" tIns="0" rIns="0" bIns="0" rtlCol="0" anchor="ctr"/>
          <a:lstStyle/>
          <a:p>
            <a:pPr indent="0" marL="0">
              <a:lnSpc>
                <a:spcPct val="100000"/>
              </a:lnSpc>
              <a:buNone/>
            </a:pPr>
            <a:r>
              <a:rPr lang="en-US" sz="3000" dirty="0">
                <a:solidFill>
                  <a:srgbClr val="333333"/>
                </a:solidFill>
                <a:latin typeface="MiSans" pitchFamily="34" charset="0"/>
                <a:ea typeface="MiSans" pitchFamily="34" charset="-122"/>
                <a:cs typeface="MiSans" pitchFamily="34" charset="-120"/>
              </a:rPr>
              <a:t>Kênh YouTube </a:t>
            </a:r>
            <a:pPr indent="0" marL="0">
              <a:lnSpc>
                <a:spcPct val="100000"/>
              </a:lnSpc>
              <a:buNone/>
            </a:pPr>
            <a:r>
              <a:rPr lang="en-US" sz="3000" dirty="0">
                <a:solidFill>
                  <a:srgbClr val="333333"/>
                </a:solidFill>
                <a:latin typeface="MiSans" pitchFamily="34" charset="0"/>
                <a:ea typeface="MiSans" pitchFamily="34" charset="-122"/>
                <a:cs typeface="MiSans" pitchFamily="34" charset="-120"/>
              </a:rPr>
              <a:t>Android Developers</a:t>
            </a:r>
            <a:endParaRPr lang="en-US" sz="1600" dirty="0"/>
          </a:p>
        </p:txBody>
      </p:sp>
      <p:sp>
        <p:nvSpPr>
          <p:cNvPr id="4" name="Text 1"/>
          <p:cNvSpPr/>
          <p:nvPr/>
        </p:nvSpPr>
        <p:spPr>
          <a:xfrm>
            <a:off x="254000" y="2563813"/>
            <a:ext cx="5638800" cy="863600"/>
          </a:xfrm>
          <a:prstGeom prst="rect">
            <a:avLst/>
          </a:prstGeom>
          <a:noFill/>
          <a:ln/>
        </p:spPr>
        <p:txBody>
          <a:bodyPr wrap="square" lIns="0" tIns="0" rIns="0" bIns="0" rtlCol="0" anchor="ctr"/>
          <a:lstStyle/>
          <a:p>
            <a:pPr indent="0" marL="0">
              <a:lnSpc>
                <a:spcPct val="140000"/>
              </a:lnSpc>
              <a:buNone/>
            </a:pPr>
            <a:r>
              <a:rPr lang="en-US" sz="1400" dirty="0">
                <a:solidFill>
                  <a:srgbClr val="333333"/>
                </a:solidFill>
                <a:latin typeface="MiSans" pitchFamily="34" charset="0"/>
                <a:ea typeface="MiSans" pitchFamily="34" charset="-122"/>
                <a:cs typeface="MiSans" pitchFamily="34" charset="-120"/>
              </a:rPr>
              <a:t>Kênh video chính thức cung cấp playlist theo chủ đề như Android Developer Patterns, Performance Patterns, Developer Stories. Nội dung ngắn gọn, trực quan, có phụ đề, giúp bạn học mọi lúc mọi nơi.</a:t>
            </a:r>
            <a:endParaRPr lang="en-US" sz="1600" dirty="0"/>
          </a:p>
        </p:txBody>
      </p:sp>
      <p:sp>
        <p:nvSpPr>
          <p:cNvPr id="5" name="Shape 2"/>
          <p:cNvSpPr/>
          <p:nvPr/>
        </p:nvSpPr>
        <p:spPr>
          <a:xfrm>
            <a:off x="254000" y="3735388"/>
            <a:ext cx="5638800" cy="457200"/>
          </a:xfrm>
          <a:custGeom>
            <a:avLst/>
            <a:gdLst/>
            <a:ahLst/>
            <a:cxnLst/>
            <a:rect l="l" t="t" r="r" b="b"/>
            <a:pathLst>
              <a:path w="5638800" h="457200">
                <a:moveTo>
                  <a:pt x="101599" y="0"/>
                </a:moveTo>
                <a:lnTo>
                  <a:pt x="5537201" y="0"/>
                </a:lnTo>
                <a:cubicBezTo>
                  <a:pt x="5593313" y="0"/>
                  <a:pt x="5638800" y="45487"/>
                  <a:pt x="5638800" y="101599"/>
                </a:cubicBezTo>
                <a:lnTo>
                  <a:pt x="5638800" y="355601"/>
                </a:lnTo>
                <a:cubicBezTo>
                  <a:pt x="5638800" y="411713"/>
                  <a:pt x="5593313" y="457200"/>
                  <a:pt x="5537201" y="457200"/>
                </a:cubicBezTo>
                <a:lnTo>
                  <a:pt x="101599" y="457200"/>
                </a:lnTo>
                <a:cubicBezTo>
                  <a:pt x="45525" y="457200"/>
                  <a:pt x="0" y="411675"/>
                  <a:pt x="0" y="355601"/>
                </a:cubicBezTo>
                <a:lnTo>
                  <a:pt x="0" y="101599"/>
                </a:lnTo>
                <a:cubicBezTo>
                  <a:pt x="0" y="45525"/>
                  <a:pt x="45525" y="0"/>
                  <a:pt x="101599" y="0"/>
                </a:cubicBezTo>
                <a:close/>
              </a:path>
            </a:pathLst>
          </a:custGeom>
          <a:solidFill>
            <a:srgbClr val="D7E3E9">
              <a:alpha val="66667"/>
            </a:srgbClr>
          </a:solidFill>
          <a:ln/>
        </p:spPr>
      </p:sp>
      <p:sp>
        <p:nvSpPr>
          <p:cNvPr id="6" name="Shape 3"/>
          <p:cNvSpPr/>
          <p:nvPr/>
        </p:nvSpPr>
        <p:spPr>
          <a:xfrm>
            <a:off x="387350" y="3836988"/>
            <a:ext cx="254000" cy="254000"/>
          </a:xfrm>
          <a:custGeom>
            <a:avLst/>
            <a:gdLst/>
            <a:ahLst/>
            <a:cxnLst/>
            <a:rect l="l" t="t" r="r" b="b"/>
            <a:pathLst>
              <a:path w="254000" h="254000">
                <a:moveTo>
                  <a:pt x="0" y="127000"/>
                </a:moveTo>
                <a:cubicBezTo>
                  <a:pt x="0" y="56907"/>
                  <a:pt x="56907" y="0"/>
                  <a:pt x="127000" y="0"/>
                </a:cubicBezTo>
                <a:cubicBezTo>
                  <a:pt x="197093" y="0"/>
                  <a:pt x="254000" y="56907"/>
                  <a:pt x="254000" y="127000"/>
                </a:cubicBezTo>
                <a:cubicBezTo>
                  <a:pt x="254000" y="197093"/>
                  <a:pt x="197093" y="254000"/>
                  <a:pt x="127000" y="254000"/>
                </a:cubicBezTo>
                <a:cubicBezTo>
                  <a:pt x="56907" y="254000"/>
                  <a:pt x="0" y="197093"/>
                  <a:pt x="0" y="127000"/>
                </a:cubicBezTo>
                <a:close/>
                <a:moveTo>
                  <a:pt x="93414" y="72975"/>
                </a:moveTo>
                <a:cubicBezTo>
                  <a:pt x="89644" y="75059"/>
                  <a:pt x="87313" y="79077"/>
                  <a:pt x="87313" y="83344"/>
                </a:cubicBezTo>
                <a:lnTo>
                  <a:pt x="87313" y="170656"/>
                </a:lnTo>
                <a:cubicBezTo>
                  <a:pt x="87313" y="174972"/>
                  <a:pt x="89644" y="178941"/>
                  <a:pt x="93414" y="181025"/>
                </a:cubicBezTo>
                <a:cubicBezTo>
                  <a:pt x="97185" y="183108"/>
                  <a:pt x="101749" y="183059"/>
                  <a:pt x="105470" y="180777"/>
                </a:cubicBezTo>
                <a:lnTo>
                  <a:pt x="176907" y="137120"/>
                </a:lnTo>
                <a:cubicBezTo>
                  <a:pt x="180429" y="134938"/>
                  <a:pt x="182612" y="131118"/>
                  <a:pt x="182612" y="126950"/>
                </a:cubicBezTo>
                <a:cubicBezTo>
                  <a:pt x="182612" y="122783"/>
                  <a:pt x="180429" y="118963"/>
                  <a:pt x="176907" y="116780"/>
                </a:cubicBezTo>
                <a:lnTo>
                  <a:pt x="105470" y="73124"/>
                </a:lnTo>
                <a:cubicBezTo>
                  <a:pt x="101798" y="70892"/>
                  <a:pt x="97185" y="70793"/>
                  <a:pt x="93414" y="72876"/>
                </a:cubicBezTo>
                <a:close/>
              </a:path>
            </a:pathLst>
          </a:custGeom>
          <a:solidFill>
            <a:srgbClr val="F9B79B"/>
          </a:solidFill>
          <a:ln/>
        </p:spPr>
      </p:sp>
      <p:sp>
        <p:nvSpPr>
          <p:cNvPr id="7" name="Text 4"/>
          <p:cNvSpPr/>
          <p:nvPr/>
        </p:nvSpPr>
        <p:spPr>
          <a:xfrm>
            <a:off x="825500" y="3836988"/>
            <a:ext cx="27432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Android Developer Patterns</a:t>
            </a:r>
            <a:endParaRPr lang="en-US" sz="1600" dirty="0"/>
          </a:p>
        </p:txBody>
      </p:sp>
      <p:sp>
        <p:nvSpPr>
          <p:cNvPr id="8" name="Shape 5"/>
          <p:cNvSpPr/>
          <p:nvPr/>
        </p:nvSpPr>
        <p:spPr>
          <a:xfrm>
            <a:off x="254000" y="4344988"/>
            <a:ext cx="5638800" cy="457200"/>
          </a:xfrm>
          <a:custGeom>
            <a:avLst/>
            <a:gdLst/>
            <a:ahLst/>
            <a:cxnLst/>
            <a:rect l="l" t="t" r="r" b="b"/>
            <a:pathLst>
              <a:path w="5638800" h="457200">
                <a:moveTo>
                  <a:pt x="101599" y="0"/>
                </a:moveTo>
                <a:lnTo>
                  <a:pt x="5537201" y="0"/>
                </a:lnTo>
                <a:cubicBezTo>
                  <a:pt x="5593313" y="0"/>
                  <a:pt x="5638800" y="45487"/>
                  <a:pt x="5638800" y="101599"/>
                </a:cubicBezTo>
                <a:lnTo>
                  <a:pt x="5638800" y="355601"/>
                </a:lnTo>
                <a:cubicBezTo>
                  <a:pt x="5638800" y="411713"/>
                  <a:pt x="5593313" y="457200"/>
                  <a:pt x="5537201" y="457200"/>
                </a:cubicBezTo>
                <a:lnTo>
                  <a:pt x="101599" y="457200"/>
                </a:lnTo>
                <a:cubicBezTo>
                  <a:pt x="45525" y="457200"/>
                  <a:pt x="0" y="411675"/>
                  <a:pt x="0" y="355601"/>
                </a:cubicBezTo>
                <a:lnTo>
                  <a:pt x="0" y="101599"/>
                </a:lnTo>
                <a:cubicBezTo>
                  <a:pt x="0" y="45525"/>
                  <a:pt x="45525" y="0"/>
                  <a:pt x="101599" y="0"/>
                </a:cubicBezTo>
                <a:close/>
              </a:path>
            </a:pathLst>
          </a:custGeom>
          <a:solidFill>
            <a:srgbClr val="D7E3E9">
              <a:alpha val="66667"/>
            </a:srgbClr>
          </a:solidFill>
          <a:ln/>
        </p:spPr>
      </p:sp>
      <p:sp>
        <p:nvSpPr>
          <p:cNvPr id="9" name="Shape 6"/>
          <p:cNvSpPr/>
          <p:nvPr/>
        </p:nvSpPr>
        <p:spPr>
          <a:xfrm>
            <a:off x="387350" y="4446588"/>
            <a:ext cx="254000" cy="254000"/>
          </a:xfrm>
          <a:custGeom>
            <a:avLst/>
            <a:gdLst/>
            <a:ahLst/>
            <a:cxnLst/>
            <a:rect l="l" t="t" r="r" b="b"/>
            <a:pathLst>
              <a:path w="254000" h="254000">
                <a:moveTo>
                  <a:pt x="0" y="127000"/>
                </a:moveTo>
                <a:cubicBezTo>
                  <a:pt x="0" y="56907"/>
                  <a:pt x="56907" y="0"/>
                  <a:pt x="127000" y="0"/>
                </a:cubicBezTo>
                <a:cubicBezTo>
                  <a:pt x="197093" y="0"/>
                  <a:pt x="254000" y="56907"/>
                  <a:pt x="254000" y="127000"/>
                </a:cubicBezTo>
                <a:cubicBezTo>
                  <a:pt x="254000" y="197093"/>
                  <a:pt x="197093" y="254000"/>
                  <a:pt x="127000" y="254000"/>
                </a:cubicBezTo>
                <a:cubicBezTo>
                  <a:pt x="56907" y="254000"/>
                  <a:pt x="0" y="197093"/>
                  <a:pt x="0" y="127000"/>
                </a:cubicBezTo>
                <a:close/>
                <a:moveTo>
                  <a:pt x="142875" y="47625"/>
                </a:moveTo>
                <a:cubicBezTo>
                  <a:pt x="142875" y="38863"/>
                  <a:pt x="135762" y="31750"/>
                  <a:pt x="127000" y="31750"/>
                </a:cubicBezTo>
                <a:cubicBezTo>
                  <a:pt x="118238" y="31750"/>
                  <a:pt x="111125" y="38863"/>
                  <a:pt x="111125" y="47625"/>
                </a:cubicBezTo>
                <a:cubicBezTo>
                  <a:pt x="111125" y="56387"/>
                  <a:pt x="118238" y="63500"/>
                  <a:pt x="127000" y="63500"/>
                </a:cubicBezTo>
                <a:cubicBezTo>
                  <a:pt x="135762" y="63500"/>
                  <a:pt x="142875" y="56387"/>
                  <a:pt x="142875" y="47625"/>
                </a:cubicBezTo>
                <a:close/>
                <a:moveTo>
                  <a:pt x="127000" y="206375"/>
                </a:moveTo>
                <a:cubicBezTo>
                  <a:pt x="144512" y="206375"/>
                  <a:pt x="158750" y="192137"/>
                  <a:pt x="158750" y="174625"/>
                </a:cubicBezTo>
                <a:cubicBezTo>
                  <a:pt x="158750" y="166588"/>
                  <a:pt x="155773" y="159196"/>
                  <a:pt x="150813" y="153640"/>
                </a:cubicBezTo>
                <a:lnTo>
                  <a:pt x="185291" y="84733"/>
                </a:lnTo>
                <a:cubicBezTo>
                  <a:pt x="188218" y="78829"/>
                  <a:pt x="185837" y="71686"/>
                  <a:pt x="179983" y="68759"/>
                </a:cubicBezTo>
                <a:cubicBezTo>
                  <a:pt x="174129" y="65832"/>
                  <a:pt x="166936" y="68213"/>
                  <a:pt x="164009" y="74067"/>
                </a:cubicBezTo>
                <a:lnTo>
                  <a:pt x="129530" y="142974"/>
                </a:lnTo>
                <a:cubicBezTo>
                  <a:pt x="128687" y="142925"/>
                  <a:pt x="127843" y="142875"/>
                  <a:pt x="127000" y="142875"/>
                </a:cubicBezTo>
                <a:cubicBezTo>
                  <a:pt x="109488" y="142875"/>
                  <a:pt x="95250" y="157113"/>
                  <a:pt x="95250" y="174625"/>
                </a:cubicBezTo>
                <a:cubicBezTo>
                  <a:pt x="95250" y="192137"/>
                  <a:pt x="109488" y="206375"/>
                  <a:pt x="127000" y="206375"/>
                </a:cubicBezTo>
                <a:close/>
                <a:moveTo>
                  <a:pt x="87313" y="71438"/>
                </a:moveTo>
                <a:cubicBezTo>
                  <a:pt x="87313" y="62676"/>
                  <a:pt x="80199" y="55563"/>
                  <a:pt x="71438" y="55563"/>
                </a:cubicBezTo>
                <a:cubicBezTo>
                  <a:pt x="62676" y="55563"/>
                  <a:pt x="55563" y="62676"/>
                  <a:pt x="55563" y="71438"/>
                </a:cubicBezTo>
                <a:cubicBezTo>
                  <a:pt x="55563" y="80199"/>
                  <a:pt x="62676" y="87313"/>
                  <a:pt x="71438" y="87313"/>
                </a:cubicBezTo>
                <a:cubicBezTo>
                  <a:pt x="80199" y="87313"/>
                  <a:pt x="87313" y="80199"/>
                  <a:pt x="87313" y="71438"/>
                </a:cubicBezTo>
                <a:close/>
                <a:moveTo>
                  <a:pt x="47625" y="142875"/>
                </a:moveTo>
                <a:cubicBezTo>
                  <a:pt x="56387" y="142875"/>
                  <a:pt x="63500" y="135762"/>
                  <a:pt x="63500" y="127000"/>
                </a:cubicBezTo>
                <a:cubicBezTo>
                  <a:pt x="63500" y="118238"/>
                  <a:pt x="56387" y="111125"/>
                  <a:pt x="47625" y="111125"/>
                </a:cubicBezTo>
                <a:cubicBezTo>
                  <a:pt x="38863" y="111125"/>
                  <a:pt x="31750" y="118238"/>
                  <a:pt x="31750" y="127000"/>
                </a:cubicBezTo>
                <a:cubicBezTo>
                  <a:pt x="31750" y="135762"/>
                  <a:pt x="38863" y="142875"/>
                  <a:pt x="47625" y="142875"/>
                </a:cubicBezTo>
                <a:close/>
                <a:moveTo>
                  <a:pt x="222250" y="127000"/>
                </a:moveTo>
                <a:cubicBezTo>
                  <a:pt x="222250" y="118238"/>
                  <a:pt x="215137" y="111125"/>
                  <a:pt x="206375" y="111125"/>
                </a:cubicBezTo>
                <a:cubicBezTo>
                  <a:pt x="197613" y="111125"/>
                  <a:pt x="190500" y="118238"/>
                  <a:pt x="190500" y="127000"/>
                </a:cubicBezTo>
                <a:cubicBezTo>
                  <a:pt x="190500" y="135762"/>
                  <a:pt x="197613" y="142875"/>
                  <a:pt x="206375" y="142875"/>
                </a:cubicBezTo>
                <a:cubicBezTo>
                  <a:pt x="215137" y="142875"/>
                  <a:pt x="222250" y="135762"/>
                  <a:pt x="222250" y="127000"/>
                </a:cubicBezTo>
                <a:close/>
              </a:path>
            </a:pathLst>
          </a:custGeom>
          <a:solidFill>
            <a:srgbClr val="F9B79B"/>
          </a:solidFill>
          <a:ln/>
        </p:spPr>
      </p:sp>
      <p:sp>
        <p:nvSpPr>
          <p:cNvPr id="10" name="Text 7"/>
          <p:cNvSpPr/>
          <p:nvPr/>
        </p:nvSpPr>
        <p:spPr>
          <a:xfrm>
            <a:off x="825500" y="4446588"/>
            <a:ext cx="29464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Android Performance Patterns</a:t>
            </a:r>
            <a:endParaRPr lang="en-US" sz="1600" dirty="0"/>
          </a:p>
        </p:txBody>
      </p:sp>
      <p:sp>
        <p:nvSpPr>
          <p:cNvPr id="11" name="Shape 8"/>
          <p:cNvSpPr/>
          <p:nvPr/>
        </p:nvSpPr>
        <p:spPr>
          <a:xfrm>
            <a:off x="254000" y="4954588"/>
            <a:ext cx="5638800" cy="457200"/>
          </a:xfrm>
          <a:custGeom>
            <a:avLst/>
            <a:gdLst/>
            <a:ahLst/>
            <a:cxnLst/>
            <a:rect l="l" t="t" r="r" b="b"/>
            <a:pathLst>
              <a:path w="5638800" h="457200">
                <a:moveTo>
                  <a:pt x="101599" y="0"/>
                </a:moveTo>
                <a:lnTo>
                  <a:pt x="5537201" y="0"/>
                </a:lnTo>
                <a:cubicBezTo>
                  <a:pt x="5593313" y="0"/>
                  <a:pt x="5638800" y="45487"/>
                  <a:pt x="5638800" y="101599"/>
                </a:cubicBezTo>
                <a:lnTo>
                  <a:pt x="5638800" y="355601"/>
                </a:lnTo>
                <a:cubicBezTo>
                  <a:pt x="5638800" y="411713"/>
                  <a:pt x="5593313" y="457200"/>
                  <a:pt x="5537201" y="457200"/>
                </a:cubicBezTo>
                <a:lnTo>
                  <a:pt x="101599" y="457200"/>
                </a:lnTo>
                <a:cubicBezTo>
                  <a:pt x="45525" y="457200"/>
                  <a:pt x="0" y="411675"/>
                  <a:pt x="0" y="355601"/>
                </a:cubicBezTo>
                <a:lnTo>
                  <a:pt x="0" y="101599"/>
                </a:lnTo>
                <a:cubicBezTo>
                  <a:pt x="0" y="45525"/>
                  <a:pt x="45525" y="0"/>
                  <a:pt x="101599" y="0"/>
                </a:cubicBezTo>
                <a:close/>
              </a:path>
            </a:pathLst>
          </a:custGeom>
          <a:solidFill>
            <a:srgbClr val="D7E3E9">
              <a:alpha val="66667"/>
            </a:srgbClr>
          </a:solidFill>
          <a:ln/>
        </p:spPr>
      </p:sp>
      <p:sp>
        <p:nvSpPr>
          <p:cNvPr id="12" name="Shape 9"/>
          <p:cNvSpPr/>
          <p:nvPr/>
        </p:nvSpPr>
        <p:spPr>
          <a:xfrm>
            <a:off x="403225" y="5056188"/>
            <a:ext cx="222250" cy="254000"/>
          </a:xfrm>
          <a:custGeom>
            <a:avLst/>
            <a:gdLst/>
            <a:ahLst/>
            <a:cxnLst/>
            <a:rect l="l" t="t" r="r" b="b"/>
            <a:pathLst>
              <a:path w="222250" h="254000">
                <a:moveTo>
                  <a:pt x="111125" y="123031"/>
                </a:moveTo>
                <a:cubicBezTo>
                  <a:pt x="78269" y="123031"/>
                  <a:pt x="51594" y="96356"/>
                  <a:pt x="51594" y="63500"/>
                </a:cubicBezTo>
                <a:cubicBezTo>
                  <a:pt x="51594" y="30644"/>
                  <a:pt x="78269" y="3969"/>
                  <a:pt x="111125" y="3969"/>
                </a:cubicBezTo>
                <a:cubicBezTo>
                  <a:pt x="143981" y="3969"/>
                  <a:pt x="170656" y="30644"/>
                  <a:pt x="170656" y="63500"/>
                </a:cubicBezTo>
                <a:cubicBezTo>
                  <a:pt x="170656" y="96356"/>
                  <a:pt x="143981" y="123031"/>
                  <a:pt x="111125" y="123031"/>
                </a:cubicBezTo>
                <a:close/>
                <a:moveTo>
                  <a:pt x="95994" y="150813"/>
                </a:moveTo>
                <a:lnTo>
                  <a:pt x="126256" y="150813"/>
                </a:lnTo>
                <a:cubicBezTo>
                  <a:pt x="131068" y="150813"/>
                  <a:pt x="134938" y="154682"/>
                  <a:pt x="134938" y="159494"/>
                </a:cubicBezTo>
                <a:cubicBezTo>
                  <a:pt x="134938" y="161578"/>
                  <a:pt x="134193" y="163562"/>
                  <a:pt x="132854" y="165150"/>
                </a:cubicBezTo>
                <a:lnTo>
                  <a:pt x="119261" y="181025"/>
                </a:lnTo>
                <a:lnTo>
                  <a:pt x="134640" y="238125"/>
                </a:lnTo>
                <a:lnTo>
                  <a:pt x="134938" y="238125"/>
                </a:lnTo>
                <a:lnTo>
                  <a:pt x="152102" y="169416"/>
                </a:lnTo>
                <a:cubicBezTo>
                  <a:pt x="153194" y="165100"/>
                  <a:pt x="157609" y="162471"/>
                  <a:pt x="161776" y="164058"/>
                </a:cubicBezTo>
                <a:cubicBezTo>
                  <a:pt x="192484" y="175766"/>
                  <a:pt x="214313" y="205532"/>
                  <a:pt x="214313" y="240357"/>
                </a:cubicBezTo>
                <a:cubicBezTo>
                  <a:pt x="214313" y="247848"/>
                  <a:pt x="208211" y="253950"/>
                  <a:pt x="200720" y="253950"/>
                </a:cubicBezTo>
                <a:lnTo>
                  <a:pt x="21530" y="254000"/>
                </a:lnTo>
                <a:cubicBezTo>
                  <a:pt x="14039" y="254000"/>
                  <a:pt x="7938" y="247898"/>
                  <a:pt x="7938" y="240407"/>
                </a:cubicBezTo>
                <a:cubicBezTo>
                  <a:pt x="7938" y="205581"/>
                  <a:pt x="29766" y="175816"/>
                  <a:pt x="60474" y="164108"/>
                </a:cubicBezTo>
                <a:cubicBezTo>
                  <a:pt x="64641" y="162520"/>
                  <a:pt x="69056" y="165150"/>
                  <a:pt x="70148" y="169466"/>
                </a:cubicBezTo>
                <a:lnTo>
                  <a:pt x="87313" y="238175"/>
                </a:lnTo>
                <a:lnTo>
                  <a:pt x="87610" y="238175"/>
                </a:lnTo>
                <a:lnTo>
                  <a:pt x="102989" y="181074"/>
                </a:lnTo>
                <a:lnTo>
                  <a:pt x="89396" y="165199"/>
                </a:lnTo>
                <a:cubicBezTo>
                  <a:pt x="88057" y="163612"/>
                  <a:pt x="87313" y="161627"/>
                  <a:pt x="87313" y="159544"/>
                </a:cubicBezTo>
                <a:cubicBezTo>
                  <a:pt x="87313" y="154732"/>
                  <a:pt x="91182" y="150862"/>
                  <a:pt x="95994" y="150862"/>
                </a:cubicBezTo>
                <a:close/>
              </a:path>
            </a:pathLst>
          </a:custGeom>
          <a:solidFill>
            <a:srgbClr val="F9B79B"/>
          </a:solidFill>
          <a:ln/>
        </p:spPr>
      </p:sp>
      <p:sp>
        <p:nvSpPr>
          <p:cNvPr id="13" name="Text 10"/>
          <p:cNvSpPr/>
          <p:nvPr/>
        </p:nvSpPr>
        <p:spPr>
          <a:xfrm>
            <a:off x="825500" y="5056188"/>
            <a:ext cx="2628900" cy="254000"/>
          </a:xfrm>
          <a:prstGeom prst="rect">
            <a:avLst/>
          </a:prstGeom>
          <a:noFill/>
          <a:ln/>
        </p:spPr>
        <p:txBody>
          <a:bodyPr wrap="square" lIns="0" tIns="0" rIns="0" bIns="0" rtlCol="0" anchor="ctr"/>
          <a:lstStyle/>
          <a:p>
            <a:pPr indent="0" marL="0">
              <a:lnSpc>
                <a:spcPct val="120000"/>
              </a:lnSpc>
              <a:buNone/>
            </a:pPr>
            <a:r>
              <a:rPr lang="en-US" sz="1400" dirty="0">
                <a:solidFill>
                  <a:srgbClr val="333333"/>
                </a:solidFill>
                <a:latin typeface="MiSans" pitchFamily="34" charset="0"/>
                <a:ea typeface="MiSans" pitchFamily="34" charset="-122"/>
                <a:cs typeface="MiSans" pitchFamily="34" charset="-120"/>
              </a:rPr>
              <a:t>Android Developer Stories</a:t>
            </a:r>
            <a:endParaRPr lang="en-US" sz="1600" dirty="0"/>
          </a:p>
        </p:txBody>
      </p:sp>
      <p:pic>
        <p:nvPicPr>
          <p:cNvPr id="14" name="Image 1" descr="https://kimi-img.moonshot.cn/pub/slides/25-09-17-23:03:20-d35cre0l3dcaq74m2e3g.png">    </p:cNvPr>
          <p:cNvPicPr>
            <a:picLocks noChangeAspect="1"/>
          </p:cNvPicPr>
          <p:nvPr/>
        </p:nvPicPr>
        <p:blipFill>
          <a:blip r:embed="rId2"/>
          <a:stretch>
            <a:fillRect/>
          </a:stretch>
        </p:blipFill>
        <p:spPr>
          <a:xfrm>
            <a:off x="6487838" y="2275681"/>
            <a:ext cx="5384956" cy="31226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Khóa học và codelab thực hành</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03</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0" y="1344613"/>
            <a:ext cx="12192000" cy="457200"/>
          </a:xfrm>
          <a:prstGeom prst="rect">
            <a:avLst/>
          </a:prstGeom>
          <a:noFill/>
          <a:ln/>
        </p:spPr>
        <p:txBody>
          <a:bodyPr wrap="square" lIns="0" tIns="0" rIns="0" bIns="0" rtlCol="0" anchor="ctr"/>
          <a:lstStyle/>
          <a:p>
            <a:pPr algn="ctr" indent="0" marL="0">
              <a:lnSpc>
                <a:spcPct val="100000"/>
              </a:lnSpc>
              <a:buNone/>
            </a:pPr>
            <a:r>
              <a:rPr lang="en-US" sz="3000" dirty="0">
                <a:solidFill>
                  <a:srgbClr val="333333"/>
                </a:solidFill>
                <a:latin typeface="MiSans" pitchFamily="34" charset="0"/>
                <a:ea typeface="MiSans" pitchFamily="34" charset="-122"/>
                <a:cs typeface="MiSans" pitchFamily="34" charset="-120"/>
              </a:rPr>
              <a:t>Thực Hành Là Cách Học Tốt Nhất</a:t>
            </a:r>
            <a:endParaRPr lang="en-US" sz="1600" dirty="0"/>
          </a:p>
        </p:txBody>
      </p:sp>
      <p:sp>
        <p:nvSpPr>
          <p:cNvPr id="4" name="Shape 1"/>
          <p:cNvSpPr/>
          <p:nvPr/>
        </p:nvSpPr>
        <p:spPr>
          <a:xfrm>
            <a:off x="254000" y="2208213"/>
            <a:ext cx="5689600" cy="3302000"/>
          </a:xfrm>
          <a:custGeom>
            <a:avLst/>
            <a:gdLst/>
            <a:ahLst/>
            <a:cxnLst/>
            <a:rect l="l" t="t" r="r" b="b"/>
            <a:pathLst>
              <a:path w="5689600" h="3302000">
                <a:moveTo>
                  <a:pt x="101603" y="0"/>
                </a:moveTo>
                <a:lnTo>
                  <a:pt x="5587997" y="0"/>
                </a:lnTo>
                <a:cubicBezTo>
                  <a:pt x="5644111" y="0"/>
                  <a:pt x="5689600" y="45489"/>
                  <a:pt x="5689600" y="101603"/>
                </a:cubicBezTo>
                <a:lnTo>
                  <a:pt x="5689600" y="3200397"/>
                </a:lnTo>
                <a:cubicBezTo>
                  <a:pt x="5689600" y="3256511"/>
                  <a:pt x="5644111" y="3302000"/>
                  <a:pt x="5587997" y="3302000"/>
                </a:cubicBezTo>
                <a:lnTo>
                  <a:pt x="101603" y="3302000"/>
                </a:lnTo>
                <a:cubicBezTo>
                  <a:pt x="45489" y="3302000"/>
                  <a:pt x="0" y="3256511"/>
                  <a:pt x="0" y="3200397"/>
                </a:cubicBezTo>
                <a:lnTo>
                  <a:pt x="0" y="101603"/>
                </a:lnTo>
                <a:cubicBezTo>
                  <a:pt x="0" y="45527"/>
                  <a:pt x="45527" y="0"/>
                  <a:pt x="101603" y="0"/>
                </a:cubicBezTo>
                <a:close/>
              </a:path>
            </a:pathLst>
          </a:custGeom>
          <a:solidFill>
            <a:srgbClr val="D7E3E9">
              <a:alpha val="66667"/>
            </a:srgbClr>
          </a:solidFill>
          <a:ln/>
        </p:spPr>
      </p:sp>
      <p:sp>
        <p:nvSpPr>
          <p:cNvPr id="5" name="Shape 2"/>
          <p:cNvSpPr/>
          <p:nvPr/>
        </p:nvSpPr>
        <p:spPr>
          <a:xfrm>
            <a:off x="2717800" y="2513013"/>
            <a:ext cx="762000" cy="609600"/>
          </a:xfrm>
          <a:custGeom>
            <a:avLst/>
            <a:gdLst/>
            <a:ahLst/>
            <a:cxnLst/>
            <a:rect l="l" t="t" r="r" b="b"/>
            <a:pathLst>
              <a:path w="762000" h="609600">
                <a:moveTo>
                  <a:pt x="76200" y="114300"/>
                </a:moveTo>
                <a:cubicBezTo>
                  <a:pt x="76200" y="72271"/>
                  <a:pt x="110371" y="38100"/>
                  <a:pt x="152400" y="38100"/>
                </a:cubicBezTo>
                <a:lnTo>
                  <a:pt x="609600" y="38100"/>
                </a:lnTo>
                <a:cubicBezTo>
                  <a:pt x="651629" y="38100"/>
                  <a:pt x="685800" y="72271"/>
                  <a:pt x="685800" y="114300"/>
                </a:cubicBezTo>
                <a:lnTo>
                  <a:pt x="685800" y="400050"/>
                </a:lnTo>
                <a:lnTo>
                  <a:pt x="609600" y="400050"/>
                </a:lnTo>
                <a:lnTo>
                  <a:pt x="609600" y="114300"/>
                </a:lnTo>
                <a:lnTo>
                  <a:pt x="152400" y="114300"/>
                </a:lnTo>
                <a:lnTo>
                  <a:pt x="152400" y="400050"/>
                </a:lnTo>
                <a:lnTo>
                  <a:pt x="76200" y="400050"/>
                </a:lnTo>
                <a:lnTo>
                  <a:pt x="76200" y="114300"/>
                </a:lnTo>
                <a:close/>
                <a:moveTo>
                  <a:pt x="0" y="480060"/>
                </a:moveTo>
                <a:cubicBezTo>
                  <a:pt x="0" y="467439"/>
                  <a:pt x="10239" y="457200"/>
                  <a:pt x="22860" y="457200"/>
                </a:cubicBezTo>
                <a:lnTo>
                  <a:pt x="739140" y="457200"/>
                </a:lnTo>
                <a:cubicBezTo>
                  <a:pt x="751761" y="457200"/>
                  <a:pt x="762000" y="467439"/>
                  <a:pt x="762000" y="480060"/>
                </a:cubicBezTo>
                <a:cubicBezTo>
                  <a:pt x="762000" y="530542"/>
                  <a:pt x="721043" y="571500"/>
                  <a:pt x="670560" y="571500"/>
                </a:cubicBezTo>
                <a:lnTo>
                  <a:pt x="91440" y="571500"/>
                </a:lnTo>
                <a:cubicBezTo>
                  <a:pt x="40957" y="571500"/>
                  <a:pt x="0" y="530543"/>
                  <a:pt x="0" y="480060"/>
                </a:cubicBezTo>
                <a:close/>
                <a:moveTo>
                  <a:pt x="334566" y="248841"/>
                </a:moveTo>
                <a:lnTo>
                  <a:pt x="297656" y="285750"/>
                </a:lnTo>
                <a:lnTo>
                  <a:pt x="334566" y="322659"/>
                </a:lnTo>
                <a:cubicBezTo>
                  <a:pt x="345758" y="333851"/>
                  <a:pt x="345758" y="351949"/>
                  <a:pt x="334566" y="363022"/>
                </a:cubicBezTo>
                <a:cubicBezTo>
                  <a:pt x="323374" y="374094"/>
                  <a:pt x="305276" y="374213"/>
                  <a:pt x="294203" y="363022"/>
                </a:cubicBezTo>
                <a:lnTo>
                  <a:pt x="237053" y="305872"/>
                </a:lnTo>
                <a:cubicBezTo>
                  <a:pt x="225862" y="294680"/>
                  <a:pt x="225862" y="276582"/>
                  <a:pt x="237053" y="265509"/>
                </a:cubicBezTo>
                <a:lnTo>
                  <a:pt x="294203" y="208359"/>
                </a:lnTo>
                <a:cubicBezTo>
                  <a:pt x="305395" y="197167"/>
                  <a:pt x="323493" y="197167"/>
                  <a:pt x="334566" y="208359"/>
                </a:cubicBezTo>
                <a:cubicBezTo>
                  <a:pt x="345638" y="219551"/>
                  <a:pt x="345758" y="237649"/>
                  <a:pt x="334566" y="248722"/>
                </a:cubicBezTo>
                <a:close/>
                <a:moveTo>
                  <a:pt x="467916" y="208359"/>
                </a:moveTo>
                <a:lnTo>
                  <a:pt x="525066" y="265509"/>
                </a:lnTo>
                <a:cubicBezTo>
                  <a:pt x="536258" y="276701"/>
                  <a:pt x="536258" y="294799"/>
                  <a:pt x="525066" y="305872"/>
                </a:cubicBezTo>
                <a:lnTo>
                  <a:pt x="467916" y="363022"/>
                </a:lnTo>
                <a:cubicBezTo>
                  <a:pt x="456724" y="374213"/>
                  <a:pt x="438626" y="374213"/>
                  <a:pt x="427553" y="363022"/>
                </a:cubicBezTo>
                <a:cubicBezTo>
                  <a:pt x="416481" y="351830"/>
                  <a:pt x="416362" y="333732"/>
                  <a:pt x="427553" y="322659"/>
                </a:cubicBezTo>
                <a:lnTo>
                  <a:pt x="464463" y="285750"/>
                </a:lnTo>
                <a:lnTo>
                  <a:pt x="427553" y="248841"/>
                </a:lnTo>
                <a:cubicBezTo>
                  <a:pt x="416362" y="237649"/>
                  <a:pt x="416362" y="219551"/>
                  <a:pt x="427553" y="208478"/>
                </a:cubicBezTo>
                <a:cubicBezTo>
                  <a:pt x="438745" y="197406"/>
                  <a:pt x="456843" y="197287"/>
                  <a:pt x="467916" y="208478"/>
                </a:cubicBezTo>
                <a:close/>
              </a:path>
            </a:pathLst>
          </a:custGeom>
          <a:solidFill>
            <a:srgbClr val="F9B79B"/>
          </a:solidFill>
          <a:ln/>
        </p:spPr>
      </p:sp>
      <p:sp>
        <p:nvSpPr>
          <p:cNvPr id="6" name="Text 3"/>
          <p:cNvSpPr/>
          <p:nvPr/>
        </p:nvSpPr>
        <p:spPr>
          <a:xfrm>
            <a:off x="304800" y="3325813"/>
            <a:ext cx="5588000" cy="406400"/>
          </a:xfrm>
          <a:prstGeom prst="rect">
            <a:avLst/>
          </a:prstGeom>
          <a:noFill/>
          <a:ln/>
        </p:spPr>
        <p:txBody>
          <a:bodyPr wrap="square" lIns="0" tIns="0" rIns="0" bIns="0" rtlCol="0" anchor="ctr"/>
          <a:lstStyle/>
          <a:p>
            <a:pPr algn="ctr" indent="0" marL="0">
              <a:lnSpc>
                <a:spcPct val="110000"/>
              </a:lnSpc>
              <a:buNone/>
            </a:pPr>
            <a:r>
              <a:rPr lang="en-US" sz="2400" dirty="0">
                <a:solidFill>
                  <a:srgbClr val="333333"/>
                </a:solidFill>
                <a:latin typeface="MiSans" pitchFamily="34" charset="0"/>
                <a:ea typeface="MiSans" pitchFamily="34" charset="-122"/>
                <a:cs typeface="MiSans" pitchFamily="34" charset="-120"/>
              </a:rPr>
              <a:t>Google I/O Codelabs</a:t>
            </a:r>
            <a:endParaRPr lang="en-US" sz="1600" dirty="0"/>
          </a:p>
        </p:txBody>
      </p:sp>
      <p:sp>
        <p:nvSpPr>
          <p:cNvPr id="7" name="Text 4"/>
          <p:cNvSpPr/>
          <p:nvPr/>
        </p:nvSpPr>
        <p:spPr>
          <a:xfrm>
            <a:off x="558800" y="3884613"/>
            <a:ext cx="5080000" cy="863600"/>
          </a:xfrm>
          <a:prstGeom prst="rect">
            <a:avLst/>
          </a:prstGeom>
          <a:noFill/>
          <a:ln/>
        </p:spPr>
        <p:txBody>
          <a:bodyPr wrap="square" lIns="0" tIns="0" rIns="0" bIns="0" rtlCol="0" anchor="ctr"/>
          <a:lstStyle/>
          <a:p>
            <a:pPr algn="ctr" indent="0" marL="0">
              <a:lnSpc>
                <a:spcPct val="140000"/>
              </a:lnSpc>
              <a:buNone/>
            </a:pPr>
            <a:r>
              <a:rPr lang="en-US" sz="1400" dirty="0">
                <a:solidFill>
                  <a:srgbClr val="333333"/>
                </a:solidFill>
                <a:latin typeface="MiSans" pitchFamily="34" charset="0"/>
                <a:ea typeface="MiSans" pitchFamily="34" charset="-122"/>
                <a:cs typeface="MiSans" pitchFamily="34" charset="-120"/>
              </a:rPr>
              <a:t>Bài lab ngắn, tập trung vào một kỹ thuật cụ thể như Room, WorkManager, Navigation Component. Mỗi lab đều có mã nguồn mẫu, hướng dẫn từng bước và bài kiểm tra cuối cùng.</a:t>
            </a:r>
            <a:endParaRPr lang="en-US" sz="1600" dirty="0"/>
          </a:p>
        </p:txBody>
      </p:sp>
      <p:sp>
        <p:nvSpPr>
          <p:cNvPr id="8" name="Text 5"/>
          <p:cNvSpPr/>
          <p:nvPr/>
        </p:nvSpPr>
        <p:spPr>
          <a:xfrm>
            <a:off x="304800" y="4954588"/>
            <a:ext cx="5588000" cy="254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codelabs.developers.google.com</a:t>
            </a:r>
            <a:endParaRPr lang="en-US" sz="1600" dirty="0"/>
          </a:p>
        </p:txBody>
      </p:sp>
      <p:sp>
        <p:nvSpPr>
          <p:cNvPr id="9" name="Shape 6"/>
          <p:cNvSpPr/>
          <p:nvPr/>
        </p:nvSpPr>
        <p:spPr>
          <a:xfrm>
            <a:off x="6248400" y="2208213"/>
            <a:ext cx="5689600" cy="3302000"/>
          </a:xfrm>
          <a:custGeom>
            <a:avLst/>
            <a:gdLst/>
            <a:ahLst/>
            <a:cxnLst/>
            <a:rect l="l" t="t" r="r" b="b"/>
            <a:pathLst>
              <a:path w="5689600" h="3302000">
                <a:moveTo>
                  <a:pt x="101603" y="0"/>
                </a:moveTo>
                <a:lnTo>
                  <a:pt x="5587997" y="0"/>
                </a:lnTo>
                <a:cubicBezTo>
                  <a:pt x="5644111" y="0"/>
                  <a:pt x="5689600" y="45489"/>
                  <a:pt x="5689600" y="101603"/>
                </a:cubicBezTo>
                <a:lnTo>
                  <a:pt x="5689600" y="3200397"/>
                </a:lnTo>
                <a:cubicBezTo>
                  <a:pt x="5689600" y="3256511"/>
                  <a:pt x="5644111" y="3302000"/>
                  <a:pt x="5587997" y="3302000"/>
                </a:cubicBezTo>
                <a:lnTo>
                  <a:pt x="101603" y="3302000"/>
                </a:lnTo>
                <a:cubicBezTo>
                  <a:pt x="45489" y="3302000"/>
                  <a:pt x="0" y="3256511"/>
                  <a:pt x="0" y="3200397"/>
                </a:cubicBezTo>
                <a:lnTo>
                  <a:pt x="0" y="101603"/>
                </a:lnTo>
                <a:cubicBezTo>
                  <a:pt x="0" y="45527"/>
                  <a:pt x="45527" y="0"/>
                  <a:pt x="101603" y="0"/>
                </a:cubicBezTo>
                <a:close/>
              </a:path>
            </a:pathLst>
          </a:custGeom>
          <a:solidFill>
            <a:srgbClr val="BACBD3"/>
          </a:solidFill>
          <a:ln/>
        </p:spPr>
      </p:sp>
      <p:sp>
        <p:nvSpPr>
          <p:cNvPr id="10" name="Shape 7"/>
          <p:cNvSpPr/>
          <p:nvPr/>
        </p:nvSpPr>
        <p:spPr>
          <a:xfrm>
            <a:off x="8750300" y="2513013"/>
            <a:ext cx="685800" cy="609600"/>
          </a:xfrm>
          <a:custGeom>
            <a:avLst/>
            <a:gdLst/>
            <a:ahLst/>
            <a:cxnLst/>
            <a:rect l="l" t="t" r="r" b="b"/>
            <a:pathLst>
              <a:path w="685800" h="609600">
                <a:moveTo>
                  <a:pt x="57150" y="233124"/>
                </a:moveTo>
                <a:lnTo>
                  <a:pt x="306229" y="335637"/>
                </a:lnTo>
                <a:cubicBezTo>
                  <a:pt x="317897" y="340400"/>
                  <a:pt x="330279" y="342900"/>
                  <a:pt x="342900" y="342900"/>
                </a:cubicBezTo>
                <a:cubicBezTo>
                  <a:pt x="355521" y="342900"/>
                  <a:pt x="367903" y="340400"/>
                  <a:pt x="379571" y="335637"/>
                </a:cubicBezTo>
                <a:lnTo>
                  <a:pt x="668179" y="216813"/>
                </a:lnTo>
                <a:cubicBezTo>
                  <a:pt x="678894" y="212407"/>
                  <a:pt x="685800" y="202049"/>
                  <a:pt x="685800" y="190500"/>
                </a:cubicBezTo>
                <a:cubicBezTo>
                  <a:pt x="685800" y="178951"/>
                  <a:pt x="678894" y="168592"/>
                  <a:pt x="668179" y="164187"/>
                </a:cubicBezTo>
                <a:lnTo>
                  <a:pt x="379571" y="45363"/>
                </a:lnTo>
                <a:cubicBezTo>
                  <a:pt x="367903" y="40600"/>
                  <a:pt x="355521" y="38100"/>
                  <a:pt x="342900" y="38100"/>
                </a:cubicBezTo>
                <a:cubicBezTo>
                  <a:pt x="330279" y="38100"/>
                  <a:pt x="317897" y="40600"/>
                  <a:pt x="306229" y="45363"/>
                </a:cubicBezTo>
                <a:lnTo>
                  <a:pt x="17621" y="164187"/>
                </a:lnTo>
                <a:cubicBezTo>
                  <a:pt x="6906" y="168592"/>
                  <a:pt x="0" y="178951"/>
                  <a:pt x="0" y="190500"/>
                </a:cubicBezTo>
                <a:lnTo>
                  <a:pt x="0" y="542925"/>
                </a:lnTo>
                <a:cubicBezTo>
                  <a:pt x="0" y="558760"/>
                  <a:pt x="12740" y="571500"/>
                  <a:pt x="28575" y="571500"/>
                </a:cubicBezTo>
                <a:cubicBezTo>
                  <a:pt x="44410" y="571500"/>
                  <a:pt x="57150" y="558760"/>
                  <a:pt x="57150" y="542925"/>
                </a:cubicBezTo>
                <a:lnTo>
                  <a:pt x="57150" y="233124"/>
                </a:lnTo>
                <a:close/>
                <a:moveTo>
                  <a:pt x="114300" y="318492"/>
                </a:moveTo>
                <a:lnTo>
                  <a:pt x="114300" y="457200"/>
                </a:lnTo>
                <a:cubicBezTo>
                  <a:pt x="114300" y="520303"/>
                  <a:pt x="216694" y="571500"/>
                  <a:pt x="342900" y="571500"/>
                </a:cubicBezTo>
                <a:cubicBezTo>
                  <a:pt x="469106" y="571500"/>
                  <a:pt x="571500" y="520303"/>
                  <a:pt x="571500" y="457200"/>
                </a:cubicBezTo>
                <a:lnTo>
                  <a:pt x="571500" y="318373"/>
                </a:lnTo>
                <a:lnTo>
                  <a:pt x="401360" y="388501"/>
                </a:lnTo>
                <a:cubicBezTo>
                  <a:pt x="382786" y="396121"/>
                  <a:pt x="363022" y="400050"/>
                  <a:pt x="342900" y="400050"/>
                </a:cubicBezTo>
                <a:cubicBezTo>
                  <a:pt x="322778" y="400050"/>
                  <a:pt x="303014" y="396121"/>
                  <a:pt x="284440" y="388501"/>
                </a:cubicBezTo>
                <a:lnTo>
                  <a:pt x="114300" y="318373"/>
                </a:lnTo>
                <a:close/>
              </a:path>
            </a:pathLst>
          </a:custGeom>
          <a:solidFill>
            <a:srgbClr val="F9B79B"/>
          </a:solidFill>
          <a:ln/>
        </p:spPr>
      </p:sp>
      <p:sp>
        <p:nvSpPr>
          <p:cNvPr id="11" name="Text 8"/>
          <p:cNvSpPr/>
          <p:nvPr/>
        </p:nvSpPr>
        <p:spPr>
          <a:xfrm>
            <a:off x="6299200" y="3325813"/>
            <a:ext cx="5588000" cy="406400"/>
          </a:xfrm>
          <a:prstGeom prst="rect">
            <a:avLst/>
          </a:prstGeom>
          <a:noFill/>
          <a:ln/>
        </p:spPr>
        <p:txBody>
          <a:bodyPr wrap="square" lIns="0" tIns="0" rIns="0" bIns="0" rtlCol="0" anchor="ctr"/>
          <a:lstStyle/>
          <a:p>
            <a:pPr algn="ctr" indent="0" marL="0">
              <a:lnSpc>
                <a:spcPct val="110000"/>
              </a:lnSpc>
              <a:buNone/>
            </a:pPr>
            <a:r>
              <a:rPr lang="en-US" sz="2400" dirty="0">
                <a:solidFill>
                  <a:srgbClr val="333333"/>
                </a:solidFill>
                <a:latin typeface="MiSans" pitchFamily="34" charset="0"/>
                <a:ea typeface="MiSans" pitchFamily="34" charset="-122"/>
                <a:cs typeface="MiSans" pitchFamily="34" charset="-120"/>
              </a:rPr>
              <a:t>Udacity Courses</a:t>
            </a:r>
            <a:endParaRPr lang="en-US" sz="1600" dirty="0"/>
          </a:p>
        </p:txBody>
      </p:sp>
      <p:sp>
        <p:nvSpPr>
          <p:cNvPr id="12" name="Text 9"/>
          <p:cNvSpPr/>
          <p:nvPr/>
        </p:nvSpPr>
        <p:spPr>
          <a:xfrm>
            <a:off x="6553200" y="3884613"/>
            <a:ext cx="5080000" cy="863600"/>
          </a:xfrm>
          <a:prstGeom prst="rect">
            <a:avLst/>
          </a:prstGeom>
          <a:noFill/>
          <a:ln/>
        </p:spPr>
        <p:txBody>
          <a:bodyPr wrap="square" lIns="0" tIns="0" rIns="0" bIns="0" rtlCol="0" anchor="ctr"/>
          <a:lstStyle/>
          <a:p>
            <a:pPr algn="ctr" indent="0" marL="0">
              <a:lnSpc>
                <a:spcPct val="140000"/>
              </a:lnSpc>
              <a:buNone/>
            </a:pPr>
            <a:r>
              <a:rPr lang="en-US" sz="1400" dirty="0">
                <a:solidFill>
                  <a:srgbClr val="333333"/>
                </a:solidFill>
                <a:latin typeface="MiSans" pitchFamily="34" charset="0"/>
                <a:ea typeface="MiSans" pitchFamily="34" charset="-122"/>
                <a:cs typeface="MiSans" pitchFamily="34" charset="-120"/>
              </a:rPr>
              <a:t>Khóa học video tương tác, từ cơ bản đến nâng cao, do chính Google xây dựng. Các khóa học riêng lẻ hoàn toàn miễn phí, giúp bạn xây dựng portfolio ngay từ đầu.</a:t>
            </a:r>
            <a:endParaRPr lang="en-US" sz="1600" dirty="0"/>
          </a:p>
        </p:txBody>
      </p:sp>
      <p:sp>
        <p:nvSpPr>
          <p:cNvPr id="13" name="Text 10"/>
          <p:cNvSpPr/>
          <p:nvPr/>
        </p:nvSpPr>
        <p:spPr>
          <a:xfrm>
            <a:off x="6299200" y="4954588"/>
            <a:ext cx="5588000" cy="254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www.udacity.com/courses/android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254000" y="1903413"/>
            <a:ext cx="6146800" cy="457200"/>
          </a:xfrm>
          <a:prstGeom prst="rect">
            <a:avLst/>
          </a:prstGeom>
          <a:noFill/>
          <a:ln/>
        </p:spPr>
        <p:txBody>
          <a:bodyPr wrap="square" lIns="0" tIns="0" rIns="0" bIns="0" rtlCol="0" anchor="ctr"/>
          <a:lstStyle/>
          <a:p>
            <a:pPr indent="0" marL="0">
              <a:lnSpc>
                <a:spcPct val="100000"/>
              </a:lnSpc>
              <a:buNone/>
            </a:pPr>
            <a:r>
              <a:rPr lang="en-US" sz="3000" dirty="0">
                <a:solidFill>
                  <a:srgbClr val="333333"/>
                </a:solidFill>
                <a:latin typeface="MiSans" pitchFamily="34" charset="0"/>
                <a:ea typeface="MiSans" pitchFamily="34" charset="-122"/>
                <a:cs typeface="MiSans" pitchFamily="34" charset="-120"/>
              </a:rPr>
              <a:t>Chứng Chỉ &amp; Đào Tạo</a:t>
            </a:r>
            <a:endParaRPr lang="en-US" sz="1600" dirty="0"/>
          </a:p>
        </p:txBody>
      </p:sp>
      <p:sp>
        <p:nvSpPr>
          <p:cNvPr id="4" name="Text 1"/>
          <p:cNvSpPr/>
          <p:nvPr/>
        </p:nvSpPr>
        <p:spPr>
          <a:xfrm>
            <a:off x="254000" y="2563813"/>
            <a:ext cx="5638800" cy="863600"/>
          </a:xfrm>
          <a:prstGeom prst="rect">
            <a:avLst/>
          </a:prstGeom>
          <a:noFill/>
          <a:ln/>
        </p:spPr>
        <p:txBody>
          <a:bodyPr wrap="square" lIns="0" tIns="0" rIns="0" bIns="0" rtlCol="0" anchor="ctr"/>
          <a:lstStyle/>
          <a:p>
            <a:pPr indent="0" marL="0">
              <a:lnSpc>
                <a:spcPct val="140000"/>
              </a:lnSpc>
              <a:buNone/>
            </a:pPr>
            <a:r>
              <a:rPr lang="en-US" sz="1400" dirty="0">
                <a:solidFill>
                  <a:srgbClr val="333333"/>
                </a:solidFill>
                <a:latin typeface="MiSans" pitchFamily="34" charset="0"/>
                <a:ea typeface="MiSans" pitchFamily="34" charset="-122"/>
                <a:cs typeface="MiSans" pitchFamily="34" charset="-120"/>
              </a:rPr>
              <a:t>Trang Google Developer Training cung cấp thông tin về chương trình chứng chỉ </a:t>
            </a:r>
            <a:pPr indent="0" marL="0">
              <a:lnSpc>
                <a:spcPct val="140000"/>
              </a:lnSpc>
              <a:buNone/>
            </a:pPr>
            <a:r>
              <a:rPr lang="en-US" sz="1400" dirty="0">
                <a:solidFill>
                  <a:srgbClr val="333333"/>
                </a:solidFill>
                <a:highlight>
                  <a:srgbClr val="D7E3E9">
                    <a:alpha val="66667"/>
                  </a:srgbClr>
                </a:highlight>
                <a:latin typeface="MiSans" pitchFamily="34" charset="0"/>
                <a:ea typeface="MiSans" pitchFamily="34" charset="-122"/>
                <a:cs typeface="MiSans" pitchFamily="34" charset="-120"/>
              </a:rPr>
              <a:t> Associate Android Developer </a:t>
            </a:r>
            <a:pPr indent="0" marL="0">
              <a:lnSpc>
                <a:spcPct val="140000"/>
              </a:lnSpc>
              <a:buNone/>
            </a:pPr>
            <a:r>
              <a:rPr lang="en-US" sz="1400" dirty="0">
                <a:solidFill>
                  <a:srgbClr val="333333"/>
                </a:solidFill>
                <a:latin typeface="MiSans" pitchFamily="34" charset="0"/>
                <a:ea typeface="MiSans" pitchFamily="34" charset="-122"/>
                <a:cs typeface="MiSans" pitchFamily="34" charset="-120"/>
              </a:rPr>
              <a:t>, kỳ thi, học phí và các đối tác đào tạo được ủy quyền tại Việt Nam.</a:t>
            </a:r>
            <a:endParaRPr lang="en-US" sz="1600" dirty="0"/>
          </a:p>
        </p:txBody>
      </p:sp>
      <p:sp>
        <p:nvSpPr>
          <p:cNvPr id="5" name="Shape 2"/>
          <p:cNvSpPr/>
          <p:nvPr/>
        </p:nvSpPr>
        <p:spPr>
          <a:xfrm>
            <a:off x="271463" y="3773487"/>
            <a:ext cx="257175" cy="228600"/>
          </a:xfrm>
          <a:custGeom>
            <a:avLst/>
            <a:gdLst/>
            <a:ahLst/>
            <a:cxnLst/>
            <a:rect l="l" t="t" r="r" b="b"/>
            <a:pathLst>
              <a:path w="257175" h="228600">
                <a:moveTo>
                  <a:pt x="106799" y="-3572"/>
                </a:moveTo>
                <a:cubicBezTo>
                  <a:pt x="104076" y="-6340"/>
                  <a:pt x="100102" y="-7456"/>
                  <a:pt x="96351" y="-6429"/>
                </a:cubicBezTo>
                <a:cubicBezTo>
                  <a:pt x="92601" y="-5402"/>
                  <a:pt x="89699" y="-2500"/>
                  <a:pt x="88761" y="1250"/>
                </a:cubicBezTo>
                <a:lnTo>
                  <a:pt x="81930" y="28129"/>
                </a:lnTo>
                <a:cubicBezTo>
                  <a:pt x="81439" y="30093"/>
                  <a:pt x="79430" y="31254"/>
                  <a:pt x="77510" y="30673"/>
                </a:cubicBezTo>
                <a:lnTo>
                  <a:pt x="50810" y="23173"/>
                </a:lnTo>
                <a:cubicBezTo>
                  <a:pt x="47059" y="22101"/>
                  <a:pt x="43041" y="23173"/>
                  <a:pt x="40318" y="25896"/>
                </a:cubicBezTo>
                <a:cubicBezTo>
                  <a:pt x="37594" y="28620"/>
                  <a:pt x="36522" y="32638"/>
                  <a:pt x="37594" y="36388"/>
                </a:cubicBezTo>
                <a:lnTo>
                  <a:pt x="45140" y="63088"/>
                </a:lnTo>
                <a:cubicBezTo>
                  <a:pt x="45675" y="65008"/>
                  <a:pt x="44514" y="67017"/>
                  <a:pt x="42595" y="67508"/>
                </a:cubicBezTo>
                <a:lnTo>
                  <a:pt x="15672" y="74340"/>
                </a:lnTo>
                <a:cubicBezTo>
                  <a:pt x="11921" y="75277"/>
                  <a:pt x="8974" y="78224"/>
                  <a:pt x="7947" y="81975"/>
                </a:cubicBezTo>
                <a:cubicBezTo>
                  <a:pt x="6921" y="85725"/>
                  <a:pt x="8037" y="89699"/>
                  <a:pt x="10805" y="92422"/>
                </a:cubicBezTo>
                <a:lnTo>
                  <a:pt x="30673" y="111755"/>
                </a:lnTo>
                <a:cubicBezTo>
                  <a:pt x="32102" y="113139"/>
                  <a:pt x="32102" y="115461"/>
                  <a:pt x="30673" y="116890"/>
                </a:cubicBezTo>
                <a:lnTo>
                  <a:pt x="10850" y="136222"/>
                </a:lnTo>
                <a:cubicBezTo>
                  <a:pt x="8081" y="138946"/>
                  <a:pt x="6965" y="142920"/>
                  <a:pt x="7992" y="146670"/>
                </a:cubicBezTo>
                <a:cubicBezTo>
                  <a:pt x="9019" y="150421"/>
                  <a:pt x="11966" y="153323"/>
                  <a:pt x="15716" y="154305"/>
                </a:cubicBezTo>
                <a:lnTo>
                  <a:pt x="42595" y="161136"/>
                </a:lnTo>
                <a:cubicBezTo>
                  <a:pt x="44559" y="161627"/>
                  <a:pt x="45720" y="163637"/>
                  <a:pt x="45140" y="165556"/>
                </a:cubicBezTo>
                <a:lnTo>
                  <a:pt x="37594" y="192212"/>
                </a:lnTo>
                <a:cubicBezTo>
                  <a:pt x="36522" y="195962"/>
                  <a:pt x="37594" y="199980"/>
                  <a:pt x="40318" y="202704"/>
                </a:cubicBezTo>
                <a:cubicBezTo>
                  <a:pt x="43041" y="205427"/>
                  <a:pt x="47059" y="206499"/>
                  <a:pt x="50810" y="205427"/>
                </a:cubicBezTo>
                <a:lnTo>
                  <a:pt x="77510" y="197882"/>
                </a:lnTo>
                <a:cubicBezTo>
                  <a:pt x="79430" y="197346"/>
                  <a:pt x="81439" y="198507"/>
                  <a:pt x="81930" y="200427"/>
                </a:cubicBezTo>
                <a:lnTo>
                  <a:pt x="88761" y="227305"/>
                </a:lnTo>
                <a:cubicBezTo>
                  <a:pt x="89699" y="231056"/>
                  <a:pt x="92646" y="234002"/>
                  <a:pt x="96396" y="235029"/>
                </a:cubicBezTo>
                <a:cubicBezTo>
                  <a:pt x="100146" y="236056"/>
                  <a:pt x="104120" y="234940"/>
                  <a:pt x="106844" y="232172"/>
                </a:cubicBezTo>
                <a:lnTo>
                  <a:pt x="126176" y="212303"/>
                </a:lnTo>
                <a:cubicBezTo>
                  <a:pt x="127561" y="210875"/>
                  <a:pt x="129882" y="210875"/>
                  <a:pt x="131311" y="212303"/>
                </a:cubicBezTo>
                <a:lnTo>
                  <a:pt x="150599" y="232172"/>
                </a:lnTo>
                <a:cubicBezTo>
                  <a:pt x="153323" y="234940"/>
                  <a:pt x="157296" y="236056"/>
                  <a:pt x="161047" y="235029"/>
                </a:cubicBezTo>
                <a:cubicBezTo>
                  <a:pt x="164797" y="234002"/>
                  <a:pt x="167700" y="231056"/>
                  <a:pt x="168682" y="227305"/>
                </a:cubicBezTo>
                <a:lnTo>
                  <a:pt x="175513" y="200471"/>
                </a:lnTo>
                <a:cubicBezTo>
                  <a:pt x="176004" y="198507"/>
                  <a:pt x="178013" y="197346"/>
                  <a:pt x="179933" y="197927"/>
                </a:cubicBezTo>
                <a:lnTo>
                  <a:pt x="206633" y="205472"/>
                </a:lnTo>
                <a:cubicBezTo>
                  <a:pt x="210383" y="206544"/>
                  <a:pt x="214402" y="205472"/>
                  <a:pt x="217125" y="202749"/>
                </a:cubicBezTo>
                <a:cubicBezTo>
                  <a:pt x="219849" y="200025"/>
                  <a:pt x="220920" y="196007"/>
                  <a:pt x="219849" y="192256"/>
                </a:cubicBezTo>
                <a:lnTo>
                  <a:pt x="212303" y="165556"/>
                </a:lnTo>
                <a:cubicBezTo>
                  <a:pt x="211768" y="163637"/>
                  <a:pt x="212928" y="161627"/>
                  <a:pt x="214848" y="161136"/>
                </a:cubicBezTo>
                <a:lnTo>
                  <a:pt x="241727" y="154305"/>
                </a:lnTo>
                <a:cubicBezTo>
                  <a:pt x="245477" y="153367"/>
                  <a:pt x="248424" y="150421"/>
                  <a:pt x="249451" y="146670"/>
                </a:cubicBezTo>
                <a:cubicBezTo>
                  <a:pt x="250478" y="142920"/>
                  <a:pt x="249362" y="138901"/>
                  <a:pt x="246593" y="136222"/>
                </a:cubicBezTo>
                <a:lnTo>
                  <a:pt x="226725" y="116890"/>
                </a:lnTo>
                <a:cubicBezTo>
                  <a:pt x="225296" y="115506"/>
                  <a:pt x="225296" y="113184"/>
                  <a:pt x="226725" y="111755"/>
                </a:cubicBezTo>
                <a:lnTo>
                  <a:pt x="246593" y="92422"/>
                </a:lnTo>
                <a:cubicBezTo>
                  <a:pt x="249362" y="89699"/>
                  <a:pt x="250478" y="85725"/>
                  <a:pt x="249451" y="81975"/>
                </a:cubicBezTo>
                <a:cubicBezTo>
                  <a:pt x="248424" y="78224"/>
                  <a:pt x="245477" y="75322"/>
                  <a:pt x="241727" y="74340"/>
                </a:cubicBezTo>
                <a:lnTo>
                  <a:pt x="214848" y="67508"/>
                </a:lnTo>
                <a:cubicBezTo>
                  <a:pt x="212884" y="67017"/>
                  <a:pt x="211723" y="65008"/>
                  <a:pt x="212303" y="63088"/>
                </a:cubicBezTo>
                <a:lnTo>
                  <a:pt x="219849" y="36388"/>
                </a:lnTo>
                <a:cubicBezTo>
                  <a:pt x="220920" y="32638"/>
                  <a:pt x="219849" y="28620"/>
                  <a:pt x="217125" y="25896"/>
                </a:cubicBezTo>
                <a:cubicBezTo>
                  <a:pt x="214402" y="23173"/>
                  <a:pt x="210383" y="22101"/>
                  <a:pt x="206633" y="23173"/>
                </a:cubicBezTo>
                <a:lnTo>
                  <a:pt x="179933" y="30718"/>
                </a:lnTo>
                <a:cubicBezTo>
                  <a:pt x="178013" y="31254"/>
                  <a:pt x="176004" y="30093"/>
                  <a:pt x="175513" y="28173"/>
                </a:cubicBezTo>
                <a:lnTo>
                  <a:pt x="168682" y="1250"/>
                </a:lnTo>
                <a:cubicBezTo>
                  <a:pt x="167744" y="-2500"/>
                  <a:pt x="164797" y="-5447"/>
                  <a:pt x="161047" y="-6474"/>
                </a:cubicBezTo>
                <a:cubicBezTo>
                  <a:pt x="157296" y="-7501"/>
                  <a:pt x="153323" y="-6385"/>
                  <a:pt x="150599" y="-3617"/>
                </a:cubicBezTo>
                <a:lnTo>
                  <a:pt x="131266" y="16297"/>
                </a:lnTo>
                <a:cubicBezTo>
                  <a:pt x="129882" y="17725"/>
                  <a:pt x="127561" y="17725"/>
                  <a:pt x="126132" y="16297"/>
                </a:cubicBezTo>
                <a:lnTo>
                  <a:pt x="106799" y="-3572"/>
                </a:lnTo>
                <a:close/>
              </a:path>
            </a:pathLst>
          </a:custGeom>
          <a:solidFill>
            <a:srgbClr val="F9B79B"/>
          </a:solidFill>
          <a:ln/>
        </p:spPr>
      </p:sp>
      <p:sp>
        <p:nvSpPr>
          <p:cNvPr id="6" name="Text 3"/>
          <p:cNvSpPr/>
          <p:nvPr/>
        </p:nvSpPr>
        <p:spPr>
          <a:xfrm>
            <a:off x="692150" y="3735388"/>
            <a:ext cx="47752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Chứng chỉ toàn cầu, tăng uy tín khi ứng tuyển.</a:t>
            </a:r>
            <a:endParaRPr lang="en-US" sz="1600" dirty="0"/>
          </a:p>
        </p:txBody>
      </p:sp>
      <p:sp>
        <p:nvSpPr>
          <p:cNvPr id="7" name="Shape 4"/>
          <p:cNvSpPr/>
          <p:nvPr/>
        </p:nvSpPr>
        <p:spPr>
          <a:xfrm>
            <a:off x="285750" y="4230688"/>
            <a:ext cx="228600" cy="228600"/>
          </a:xfrm>
          <a:custGeom>
            <a:avLst/>
            <a:gdLst/>
            <a:ahLst/>
            <a:cxnLst/>
            <a:rect l="l" t="t" r="r" b="b"/>
            <a:pathLst>
              <a:path w="228600" h="228600">
                <a:moveTo>
                  <a:pt x="114300" y="63088"/>
                </a:moveTo>
                <a:lnTo>
                  <a:pt x="114300" y="201186"/>
                </a:lnTo>
                <a:lnTo>
                  <a:pt x="114523" y="201097"/>
                </a:lnTo>
                <a:cubicBezTo>
                  <a:pt x="138901" y="190961"/>
                  <a:pt x="165065" y="185738"/>
                  <a:pt x="191453" y="185738"/>
                </a:cubicBezTo>
                <a:lnTo>
                  <a:pt x="200025" y="185738"/>
                </a:lnTo>
                <a:lnTo>
                  <a:pt x="200025" y="42863"/>
                </a:lnTo>
                <a:lnTo>
                  <a:pt x="191453" y="42863"/>
                </a:lnTo>
                <a:cubicBezTo>
                  <a:pt x="172611" y="42863"/>
                  <a:pt x="153903" y="46613"/>
                  <a:pt x="136490" y="53846"/>
                </a:cubicBezTo>
                <a:cubicBezTo>
                  <a:pt x="128989" y="56971"/>
                  <a:pt x="121578" y="60052"/>
                  <a:pt x="114300" y="63088"/>
                </a:cubicBezTo>
                <a:close/>
                <a:moveTo>
                  <a:pt x="103093" y="27459"/>
                </a:moveTo>
                <a:lnTo>
                  <a:pt x="114300" y="32147"/>
                </a:lnTo>
                <a:lnTo>
                  <a:pt x="125507" y="27459"/>
                </a:lnTo>
                <a:cubicBezTo>
                  <a:pt x="146402" y="18752"/>
                  <a:pt x="168816" y="14288"/>
                  <a:pt x="191453" y="14288"/>
                </a:cubicBezTo>
                <a:lnTo>
                  <a:pt x="207169" y="14288"/>
                </a:lnTo>
                <a:cubicBezTo>
                  <a:pt x="219001" y="14288"/>
                  <a:pt x="228600" y="23887"/>
                  <a:pt x="228600" y="35719"/>
                </a:cubicBezTo>
                <a:lnTo>
                  <a:pt x="228600" y="192881"/>
                </a:lnTo>
                <a:cubicBezTo>
                  <a:pt x="228600" y="204713"/>
                  <a:pt x="219001" y="214313"/>
                  <a:pt x="207169" y="214313"/>
                </a:cubicBezTo>
                <a:lnTo>
                  <a:pt x="191453" y="214313"/>
                </a:lnTo>
                <a:cubicBezTo>
                  <a:pt x="168816" y="214313"/>
                  <a:pt x="146402" y="218777"/>
                  <a:pt x="125507" y="227484"/>
                </a:cubicBezTo>
                <a:lnTo>
                  <a:pt x="119792" y="229850"/>
                </a:lnTo>
                <a:cubicBezTo>
                  <a:pt x="116265" y="231324"/>
                  <a:pt x="112335" y="231324"/>
                  <a:pt x="108808" y="229850"/>
                </a:cubicBezTo>
                <a:lnTo>
                  <a:pt x="103093" y="227484"/>
                </a:lnTo>
                <a:cubicBezTo>
                  <a:pt x="82198" y="218777"/>
                  <a:pt x="59784" y="214313"/>
                  <a:pt x="37148" y="214313"/>
                </a:cubicBezTo>
                <a:lnTo>
                  <a:pt x="21431" y="214313"/>
                </a:lnTo>
                <a:cubicBezTo>
                  <a:pt x="9599" y="214313"/>
                  <a:pt x="0" y="204713"/>
                  <a:pt x="0" y="192881"/>
                </a:cubicBezTo>
                <a:lnTo>
                  <a:pt x="0" y="35719"/>
                </a:lnTo>
                <a:cubicBezTo>
                  <a:pt x="0" y="23887"/>
                  <a:pt x="9599" y="14288"/>
                  <a:pt x="21431" y="14288"/>
                </a:cubicBezTo>
                <a:lnTo>
                  <a:pt x="37148" y="14288"/>
                </a:lnTo>
                <a:cubicBezTo>
                  <a:pt x="59784" y="14288"/>
                  <a:pt x="82198" y="18752"/>
                  <a:pt x="103093" y="27459"/>
                </a:cubicBezTo>
                <a:close/>
              </a:path>
            </a:pathLst>
          </a:custGeom>
          <a:solidFill>
            <a:srgbClr val="F9B79B"/>
          </a:solidFill>
          <a:ln/>
        </p:spPr>
      </p:sp>
      <p:sp>
        <p:nvSpPr>
          <p:cNvPr id="8" name="Text 5"/>
          <p:cNvSpPr/>
          <p:nvPr/>
        </p:nvSpPr>
        <p:spPr>
          <a:xfrm>
            <a:off x="692150" y="4192588"/>
            <a:ext cx="42672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Tài liệu ôn tập và bộ câu hỏi thử nghiệm.</a:t>
            </a:r>
            <a:endParaRPr lang="en-US" sz="1600" dirty="0"/>
          </a:p>
        </p:txBody>
      </p:sp>
      <p:sp>
        <p:nvSpPr>
          <p:cNvPr id="9" name="Shape 6"/>
          <p:cNvSpPr/>
          <p:nvPr/>
        </p:nvSpPr>
        <p:spPr>
          <a:xfrm>
            <a:off x="314325" y="4687888"/>
            <a:ext cx="171450" cy="228600"/>
          </a:xfrm>
          <a:custGeom>
            <a:avLst/>
            <a:gdLst/>
            <a:ahLst/>
            <a:cxnLst/>
            <a:rect l="l" t="t" r="r" b="b"/>
            <a:pathLst>
              <a:path w="171450" h="228600">
                <a:moveTo>
                  <a:pt x="0" y="84207"/>
                </a:moveTo>
                <a:cubicBezTo>
                  <a:pt x="0" y="37683"/>
                  <a:pt x="38398" y="0"/>
                  <a:pt x="85725" y="0"/>
                </a:cubicBezTo>
                <a:cubicBezTo>
                  <a:pt x="133052" y="0"/>
                  <a:pt x="171450" y="37683"/>
                  <a:pt x="171450" y="84207"/>
                </a:cubicBezTo>
                <a:cubicBezTo>
                  <a:pt x="171450" y="137473"/>
                  <a:pt x="117783" y="201320"/>
                  <a:pt x="95369" y="225653"/>
                </a:cubicBezTo>
                <a:cubicBezTo>
                  <a:pt x="90101" y="231368"/>
                  <a:pt x="81305" y="231368"/>
                  <a:pt x="76036" y="225653"/>
                </a:cubicBezTo>
                <a:cubicBezTo>
                  <a:pt x="53623" y="201320"/>
                  <a:pt x="-45" y="137473"/>
                  <a:pt x="-45" y="84207"/>
                </a:cubicBezTo>
                <a:close/>
                <a:moveTo>
                  <a:pt x="85725" y="114300"/>
                </a:moveTo>
                <a:cubicBezTo>
                  <a:pt x="101496" y="114300"/>
                  <a:pt x="114300" y="101496"/>
                  <a:pt x="114300" y="85725"/>
                </a:cubicBezTo>
                <a:cubicBezTo>
                  <a:pt x="114300" y="69954"/>
                  <a:pt x="101496" y="57150"/>
                  <a:pt x="85725" y="57150"/>
                </a:cubicBezTo>
                <a:cubicBezTo>
                  <a:pt x="69954" y="57150"/>
                  <a:pt x="57150" y="69954"/>
                  <a:pt x="57150" y="85725"/>
                </a:cubicBezTo>
                <a:cubicBezTo>
                  <a:pt x="57150" y="101496"/>
                  <a:pt x="69954" y="114300"/>
                  <a:pt x="85725" y="114300"/>
                </a:cubicBezTo>
                <a:close/>
              </a:path>
            </a:pathLst>
          </a:custGeom>
          <a:solidFill>
            <a:srgbClr val="F9B79B"/>
          </a:solidFill>
          <a:ln/>
        </p:spPr>
      </p:sp>
      <p:sp>
        <p:nvSpPr>
          <p:cNvPr id="10" name="Text 7"/>
          <p:cNvSpPr/>
          <p:nvPr/>
        </p:nvSpPr>
        <p:spPr>
          <a:xfrm>
            <a:off x="692150" y="4649788"/>
            <a:ext cx="43942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Danh sách đối tác đào tạo được ủy quyền.</a:t>
            </a:r>
            <a:endParaRPr lang="en-US" sz="1600" dirty="0"/>
          </a:p>
        </p:txBody>
      </p:sp>
      <p:pic>
        <p:nvPicPr>
          <p:cNvPr id="11" name="Image 1" descr="https://kimi-web-img.moonshot.cn/img/www.alexans.com/42766df1cbd5dd4ac399f98172a1f3957fe67f94.jpg">    </p:cNvPr>
          <p:cNvPicPr>
            <a:picLocks noChangeAspect="1"/>
          </p:cNvPicPr>
          <p:nvPr/>
        </p:nvPicPr>
        <p:blipFill>
          <a:blip r:embed="rId2"/>
          <a:srcRect l="0" r="0" t="10586" b="10586"/>
          <a:stretch/>
        </p:blipFill>
        <p:spPr>
          <a:xfrm>
            <a:off x="6299200" y="254000"/>
            <a:ext cx="5638800" cy="6350000"/>
          </a:xfrm>
          <a:prstGeom prst="roundRect">
            <a:avLst>
              <a:gd name="adj" fmla="val 1802"/>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Mã nguồn và thực hành nâng cao</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04</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Shape 0"/>
          <p:cNvSpPr/>
          <p:nvPr/>
        </p:nvSpPr>
        <p:spPr>
          <a:xfrm>
            <a:off x="254000" y="1965325"/>
            <a:ext cx="609600" cy="609600"/>
          </a:xfrm>
          <a:custGeom>
            <a:avLst/>
            <a:gdLst/>
            <a:ahLst/>
            <a:cxnLst/>
            <a:rect l="l" t="t" r="r" b="b"/>
            <a:pathLst>
              <a:path w="609600" h="609600">
                <a:moveTo>
                  <a:pt x="207050" y="473154"/>
                </a:moveTo>
                <a:cubicBezTo>
                  <a:pt x="207050" y="475536"/>
                  <a:pt x="204311" y="477441"/>
                  <a:pt x="200858" y="477441"/>
                </a:cubicBezTo>
                <a:cubicBezTo>
                  <a:pt x="196929" y="477798"/>
                  <a:pt x="194191" y="475893"/>
                  <a:pt x="194191" y="473154"/>
                </a:cubicBezTo>
                <a:cubicBezTo>
                  <a:pt x="194191" y="470773"/>
                  <a:pt x="196929" y="468868"/>
                  <a:pt x="200382" y="468868"/>
                </a:cubicBezTo>
                <a:cubicBezTo>
                  <a:pt x="203954" y="468511"/>
                  <a:pt x="207050" y="470416"/>
                  <a:pt x="207050" y="473154"/>
                </a:cubicBezTo>
                <a:close/>
                <a:moveTo>
                  <a:pt x="170021" y="467797"/>
                </a:moveTo>
                <a:cubicBezTo>
                  <a:pt x="169188" y="470178"/>
                  <a:pt x="171569" y="472916"/>
                  <a:pt x="175141" y="473631"/>
                </a:cubicBezTo>
                <a:cubicBezTo>
                  <a:pt x="178237" y="474821"/>
                  <a:pt x="181808" y="473631"/>
                  <a:pt x="182523" y="471249"/>
                </a:cubicBezTo>
                <a:cubicBezTo>
                  <a:pt x="183237" y="468868"/>
                  <a:pt x="180975" y="466130"/>
                  <a:pt x="177403" y="465058"/>
                </a:cubicBezTo>
                <a:cubicBezTo>
                  <a:pt x="174308" y="464225"/>
                  <a:pt x="170855" y="465415"/>
                  <a:pt x="170021" y="467797"/>
                </a:cubicBezTo>
                <a:close/>
                <a:moveTo>
                  <a:pt x="222647" y="465773"/>
                </a:moveTo>
                <a:cubicBezTo>
                  <a:pt x="219194" y="466606"/>
                  <a:pt x="216813" y="468868"/>
                  <a:pt x="217170" y="471607"/>
                </a:cubicBezTo>
                <a:cubicBezTo>
                  <a:pt x="217527" y="473988"/>
                  <a:pt x="220623" y="475536"/>
                  <a:pt x="224195" y="474702"/>
                </a:cubicBezTo>
                <a:cubicBezTo>
                  <a:pt x="227648" y="473869"/>
                  <a:pt x="230029" y="471607"/>
                  <a:pt x="229672" y="469225"/>
                </a:cubicBezTo>
                <a:cubicBezTo>
                  <a:pt x="229314" y="466963"/>
                  <a:pt x="226100" y="465415"/>
                  <a:pt x="222647" y="465773"/>
                </a:cubicBezTo>
                <a:close/>
                <a:moveTo>
                  <a:pt x="300990" y="9525"/>
                </a:moveTo>
                <a:cubicBezTo>
                  <a:pt x="135850" y="9525"/>
                  <a:pt x="9525" y="134898"/>
                  <a:pt x="9525" y="300038"/>
                </a:cubicBezTo>
                <a:cubicBezTo>
                  <a:pt x="9525" y="432078"/>
                  <a:pt x="92631" y="545068"/>
                  <a:pt x="211336" y="584835"/>
                </a:cubicBezTo>
                <a:cubicBezTo>
                  <a:pt x="226576" y="587573"/>
                  <a:pt x="231934" y="578167"/>
                  <a:pt x="231934" y="570428"/>
                </a:cubicBezTo>
                <a:cubicBezTo>
                  <a:pt x="231934" y="563047"/>
                  <a:pt x="231577" y="522327"/>
                  <a:pt x="231577" y="497324"/>
                </a:cubicBezTo>
                <a:cubicBezTo>
                  <a:pt x="231577" y="497324"/>
                  <a:pt x="148233" y="515183"/>
                  <a:pt x="130731" y="461843"/>
                </a:cubicBezTo>
                <a:cubicBezTo>
                  <a:pt x="130731" y="461843"/>
                  <a:pt x="117157" y="427196"/>
                  <a:pt x="97631" y="418267"/>
                </a:cubicBezTo>
                <a:cubicBezTo>
                  <a:pt x="97631" y="418267"/>
                  <a:pt x="70366" y="399574"/>
                  <a:pt x="99536" y="399931"/>
                </a:cubicBezTo>
                <a:cubicBezTo>
                  <a:pt x="99536" y="399931"/>
                  <a:pt x="129183" y="402312"/>
                  <a:pt x="145494" y="430649"/>
                </a:cubicBezTo>
                <a:cubicBezTo>
                  <a:pt x="171569" y="476607"/>
                  <a:pt x="215265" y="463391"/>
                  <a:pt x="232291" y="455533"/>
                </a:cubicBezTo>
                <a:cubicBezTo>
                  <a:pt x="235029" y="436483"/>
                  <a:pt x="242768" y="423267"/>
                  <a:pt x="251341" y="415409"/>
                </a:cubicBezTo>
                <a:cubicBezTo>
                  <a:pt x="184785" y="408027"/>
                  <a:pt x="117634" y="398383"/>
                  <a:pt x="117634" y="283845"/>
                </a:cubicBezTo>
                <a:cubicBezTo>
                  <a:pt x="117634" y="251103"/>
                  <a:pt x="126682" y="234672"/>
                  <a:pt x="145733" y="213717"/>
                </a:cubicBezTo>
                <a:cubicBezTo>
                  <a:pt x="142637" y="205978"/>
                  <a:pt x="132517" y="174069"/>
                  <a:pt x="148828" y="132874"/>
                </a:cubicBezTo>
                <a:cubicBezTo>
                  <a:pt x="173712" y="125135"/>
                  <a:pt x="230981" y="165021"/>
                  <a:pt x="230981" y="165021"/>
                </a:cubicBezTo>
                <a:cubicBezTo>
                  <a:pt x="254794" y="158353"/>
                  <a:pt x="280392" y="154900"/>
                  <a:pt x="305753" y="154900"/>
                </a:cubicBezTo>
                <a:cubicBezTo>
                  <a:pt x="331113" y="154900"/>
                  <a:pt x="356711" y="158353"/>
                  <a:pt x="380524" y="165021"/>
                </a:cubicBezTo>
                <a:cubicBezTo>
                  <a:pt x="380524" y="165021"/>
                  <a:pt x="437793" y="125016"/>
                  <a:pt x="462677" y="132874"/>
                </a:cubicBezTo>
                <a:cubicBezTo>
                  <a:pt x="478988" y="174188"/>
                  <a:pt x="468868" y="205978"/>
                  <a:pt x="465773" y="213717"/>
                </a:cubicBezTo>
                <a:cubicBezTo>
                  <a:pt x="484823" y="234791"/>
                  <a:pt x="496491" y="251222"/>
                  <a:pt x="496491" y="283845"/>
                </a:cubicBezTo>
                <a:cubicBezTo>
                  <a:pt x="496491" y="398740"/>
                  <a:pt x="426363" y="407908"/>
                  <a:pt x="359807" y="415409"/>
                </a:cubicBezTo>
                <a:cubicBezTo>
                  <a:pt x="370761" y="424815"/>
                  <a:pt x="380048" y="442674"/>
                  <a:pt x="380048" y="470654"/>
                </a:cubicBezTo>
                <a:cubicBezTo>
                  <a:pt x="380048" y="510778"/>
                  <a:pt x="379690" y="560427"/>
                  <a:pt x="379690" y="570190"/>
                </a:cubicBezTo>
                <a:cubicBezTo>
                  <a:pt x="379690" y="577929"/>
                  <a:pt x="385167" y="587335"/>
                  <a:pt x="400288" y="584597"/>
                </a:cubicBezTo>
                <a:cubicBezTo>
                  <a:pt x="519351" y="545068"/>
                  <a:pt x="600075" y="432078"/>
                  <a:pt x="600075" y="300038"/>
                </a:cubicBezTo>
                <a:cubicBezTo>
                  <a:pt x="600075" y="134898"/>
                  <a:pt x="466130" y="9525"/>
                  <a:pt x="300990" y="9525"/>
                </a:cubicBezTo>
                <a:close/>
                <a:moveTo>
                  <a:pt x="125254" y="420172"/>
                </a:moveTo>
                <a:cubicBezTo>
                  <a:pt x="123706" y="421362"/>
                  <a:pt x="124063" y="424101"/>
                  <a:pt x="126087" y="426363"/>
                </a:cubicBezTo>
                <a:cubicBezTo>
                  <a:pt x="127992" y="428268"/>
                  <a:pt x="130731" y="429101"/>
                  <a:pt x="132278" y="427553"/>
                </a:cubicBezTo>
                <a:cubicBezTo>
                  <a:pt x="133826" y="426363"/>
                  <a:pt x="133469" y="423624"/>
                  <a:pt x="131445" y="421362"/>
                </a:cubicBezTo>
                <a:cubicBezTo>
                  <a:pt x="129540" y="419457"/>
                  <a:pt x="126802" y="418624"/>
                  <a:pt x="125254" y="420172"/>
                </a:cubicBezTo>
                <a:close/>
                <a:moveTo>
                  <a:pt x="112395" y="410527"/>
                </a:moveTo>
                <a:cubicBezTo>
                  <a:pt x="111562" y="412075"/>
                  <a:pt x="112752" y="413980"/>
                  <a:pt x="115133" y="415171"/>
                </a:cubicBezTo>
                <a:cubicBezTo>
                  <a:pt x="117038" y="416362"/>
                  <a:pt x="119420" y="416004"/>
                  <a:pt x="120253" y="414337"/>
                </a:cubicBezTo>
                <a:cubicBezTo>
                  <a:pt x="121087" y="412790"/>
                  <a:pt x="119896" y="410885"/>
                  <a:pt x="117515" y="409694"/>
                </a:cubicBezTo>
                <a:cubicBezTo>
                  <a:pt x="115133" y="408980"/>
                  <a:pt x="113228" y="409337"/>
                  <a:pt x="112395" y="410527"/>
                </a:cubicBezTo>
                <a:close/>
                <a:moveTo>
                  <a:pt x="150971" y="452914"/>
                </a:moveTo>
                <a:cubicBezTo>
                  <a:pt x="149066" y="454462"/>
                  <a:pt x="149781" y="458033"/>
                  <a:pt x="152519" y="460296"/>
                </a:cubicBezTo>
                <a:cubicBezTo>
                  <a:pt x="155258" y="463034"/>
                  <a:pt x="158710" y="463391"/>
                  <a:pt x="160258" y="461486"/>
                </a:cubicBezTo>
                <a:cubicBezTo>
                  <a:pt x="161806" y="459938"/>
                  <a:pt x="161092" y="456367"/>
                  <a:pt x="158710" y="454104"/>
                </a:cubicBezTo>
                <a:cubicBezTo>
                  <a:pt x="156091" y="451366"/>
                  <a:pt x="152519" y="451009"/>
                  <a:pt x="150971" y="452914"/>
                </a:cubicBezTo>
                <a:close/>
                <a:moveTo>
                  <a:pt x="137398" y="435412"/>
                </a:moveTo>
                <a:cubicBezTo>
                  <a:pt x="135493" y="436602"/>
                  <a:pt x="135493" y="439698"/>
                  <a:pt x="137398" y="442436"/>
                </a:cubicBezTo>
                <a:cubicBezTo>
                  <a:pt x="139303" y="445175"/>
                  <a:pt x="142518" y="446365"/>
                  <a:pt x="144066" y="445175"/>
                </a:cubicBezTo>
                <a:cubicBezTo>
                  <a:pt x="145971" y="443627"/>
                  <a:pt x="145971" y="440531"/>
                  <a:pt x="144066" y="437793"/>
                </a:cubicBezTo>
                <a:cubicBezTo>
                  <a:pt x="142399" y="435054"/>
                  <a:pt x="139303" y="433864"/>
                  <a:pt x="137398" y="435412"/>
                </a:cubicBezTo>
                <a:close/>
              </a:path>
            </a:pathLst>
          </a:custGeom>
          <a:solidFill>
            <a:srgbClr val="F9B79B"/>
          </a:solidFill>
          <a:ln/>
        </p:spPr>
      </p:sp>
      <p:sp>
        <p:nvSpPr>
          <p:cNvPr id="4" name="Text 1"/>
          <p:cNvSpPr/>
          <p:nvPr/>
        </p:nvSpPr>
        <p:spPr>
          <a:xfrm>
            <a:off x="1066800" y="2041525"/>
            <a:ext cx="7645400" cy="457200"/>
          </a:xfrm>
          <a:prstGeom prst="rect">
            <a:avLst/>
          </a:prstGeom>
          <a:noFill/>
          <a:ln/>
        </p:spPr>
        <p:txBody>
          <a:bodyPr wrap="square" lIns="0" tIns="0" rIns="0" bIns="0" rtlCol="0" anchor="ctr"/>
          <a:lstStyle/>
          <a:p>
            <a:pPr indent="0" marL="0">
              <a:lnSpc>
                <a:spcPct val="100000"/>
              </a:lnSpc>
              <a:buNone/>
            </a:pPr>
            <a:r>
              <a:rPr lang="en-US" sz="3000" dirty="0">
                <a:solidFill>
                  <a:srgbClr val="333333"/>
                </a:solidFill>
                <a:latin typeface="MiSans" pitchFamily="34" charset="0"/>
                <a:ea typeface="MiSans" pitchFamily="34" charset="-122"/>
                <a:cs typeface="MiSans" pitchFamily="34" charset="-120"/>
              </a:rPr>
              <a:t>Kho Mã Nguồn Chính Thức Trên GitHub</a:t>
            </a:r>
            <a:endParaRPr lang="en-US" sz="1600" dirty="0"/>
          </a:p>
        </p:txBody>
      </p:sp>
      <p:sp>
        <p:nvSpPr>
          <p:cNvPr id="5" name="Text 2"/>
          <p:cNvSpPr/>
          <p:nvPr/>
        </p:nvSpPr>
        <p:spPr>
          <a:xfrm>
            <a:off x="254000" y="2778125"/>
            <a:ext cx="9753600" cy="596900"/>
          </a:xfrm>
          <a:prstGeom prst="rect">
            <a:avLst/>
          </a:prstGeom>
          <a:noFill/>
          <a:ln/>
        </p:spPr>
        <p:txBody>
          <a:bodyPr wrap="square" lIns="0" tIns="0" rIns="0" bIns="0" rtlCol="0" anchor="ctr"/>
          <a:lstStyle/>
          <a:p>
            <a:pPr indent="0" marL="0">
              <a:lnSpc>
                <a:spcPct val="140000"/>
              </a:lnSpc>
              <a:buNone/>
            </a:pPr>
            <a:r>
              <a:rPr lang="en-US" sz="1400" dirty="0">
                <a:solidFill>
                  <a:srgbClr val="333333"/>
                </a:solidFill>
                <a:latin typeface="MiSans" pitchFamily="34" charset="0"/>
                <a:ea typeface="MiSans" pitchFamily="34" charset="-122"/>
                <a:cs typeface="MiSans" pitchFamily="34" charset="-120"/>
              </a:rPr>
              <a:t>Repository </a:t>
            </a:r>
            <a:pPr indent="0" marL="0">
              <a:lnSpc>
                <a:spcPct val="140000"/>
              </a:lnSpc>
              <a:buNone/>
            </a:pPr>
            <a:r>
              <a:rPr lang="en-US" sz="1400" dirty="0">
                <a:solidFill>
                  <a:srgbClr val="333333"/>
                </a:solidFill>
                <a:highlight>
                  <a:srgbClr val="BACBD3">
                    <a:alpha val="100000"/>
                  </a:srgbClr>
                </a:highlight>
                <a:latin typeface="MiSans" pitchFamily="34" charset="0"/>
                <a:ea typeface="MiSans" pitchFamily="34" charset="-122"/>
                <a:cs typeface="MiSans" pitchFamily="34" charset="-120"/>
              </a:rPr>
              <a:t> android-fundamentals </a:t>
            </a:r>
            <a:pPr indent="0" marL="0">
              <a:lnSpc>
                <a:spcPct val="140000"/>
              </a:lnSpc>
              <a:buNone/>
            </a:pPr>
            <a:r>
              <a:rPr lang="en-US" sz="1400" dirty="0">
                <a:solidFill>
                  <a:srgbClr val="333333"/>
                </a:solidFill>
                <a:latin typeface="MiSans" pitchFamily="34" charset="0"/>
                <a:ea typeface="MiSans" pitchFamily="34" charset="-122"/>
                <a:cs typeface="MiSans" pitchFamily="34" charset="-120"/>
              </a:rPr>
              <a:t> chứa toàn bộ starter code và solution cho các bài thực hành. Đây là nguồn tham khảo quý giá để học cách tổ chức code, convention và viết unit test.</a:t>
            </a:r>
            <a:endParaRPr lang="en-US" sz="1600" dirty="0"/>
          </a:p>
        </p:txBody>
      </p:sp>
      <p:sp>
        <p:nvSpPr>
          <p:cNvPr id="6" name="Shape 3"/>
          <p:cNvSpPr/>
          <p:nvPr/>
        </p:nvSpPr>
        <p:spPr>
          <a:xfrm>
            <a:off x="254000" y="3775075"/>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D7E3E9">
              <a:alpha val="66667"/>
            </a:srgbClr>
          </a:solidFill>
          <a:ln/>
        </p:spPr>
      </p:sp>
      <p:sp>
        <p:nvSpPr>
          <p:cNvPr id="7" name="Text 4"/>
          <p:cNvSpPr/>
          <p:nvPr/>
        </p:nvSpPr>
        <p:spPr>
          <a:xfrm>
            <a:off x="203200" y="3978275"/>
            <a:ext cx="3860800" cy="304800"/>
          </a:xfrm>
          <a:prstGeom prst="rect">
            <a:avLst/>
          </a:prstGeom>
          <a:noFill/>
          <a:ln/>
        </p:spPr>
        <p:txBody>
          <a:bodyPr wrap="square" lIns="0" tIns="0" rIns="0" bIns="0" rtlCol="0" anchor="ctr"/>
          <a:lstStyle/>
          <a:p>
            <a:pPr algn="ctr" indent="0" marL="0">
              <a:lnSpc>
                <a:spcPct val="130000"/>
              </a:lnSpc>
              <a:buNone/>
            </a:pPr>
            <a:r>
              <a:rPr lang="en-US" sz="1600" dirty="0">
                <a:solidFill>
                  <a:srgbClr val="333333"/>
                </a:solidFill>
                <a:latin typeface="MiSans" pitchFamily="34" charset="0"/>
                <a:ea typeface="MiSans" pitchFamily="34" charset="-122"/>
                <a:cs typeface="MiSans" pitchFamily="34" charset="-120"/>
              </a:rPr>
              <a:t>Bước 1: Clone hoặc Download ZIP</a:t>
            </a:r>
            <a:endParaRPr lang="en-US" sz="1600" dirty="0"/>
          </a:p>
        </p:txBody>
      </p:sp>
      <p:sp>
        <p:nvSpPr>
          <p:cNvPr id="8" name="Text 5"/>
          <p:cNvSpPr/>
          <p:nvPr/>
        </p:nvSpPr>
        <p:spPr>
          <a:xfrm>
            <a:off x="203200" y="4384675"/>
            <a:ext cx="3860800" cy="203200"/>
          </a:xfrm>
          <a:prstGeom prst="rect">
            <a:avLst/>
          </a:prstGeom>
          <a:noFill/>
          <a:ln/>
        </p:spPr>
        <p:txBody>
          <a:bodyPr wrap="square" lIns="0" tIns="0" rIns="0" bIns="0" rtlCol="0" anchor="ctr"/>
          <a:lstStyle/>
          <a:p>
            <a:pPr algn="ctr" indent="0" marL="0">
              <a:lnSpc>
                <a:spcPct val="110000"/>
              </a:lnSpc>
              <a:buNone/>
            </a:pPr>
            <a:r>
              <a:rPr lang="en-US" sz="1200" dirty="0">
                <a:solidFill>
                  <a:srgbClr val="333333"/>
                </a:solidFill>
                <a:latin typeface="MiSans" pitchFamily="34" charset="0"/>
                <a:ea typeface="MiSans" pitchFamily="34" charset="-122"/>
                <a:cs typeface="MiSans" pitchFamily="34" charset="-120"/>
              </a:rPr>
              <a:t>Tải về toàn bộ repository để học offline.</a:t>
            </a:r>
            <a:endParaRPr lang="en-US" sz="1600" dirty="0"/>
          </a:p>
        </p:txBody>
      </p:sp>
      <p:sp>
        <p:nvSpPr>
          <p:cNvPr id="9" name="Shape 6"/>
          <p:cNvSpPr/>
          <p:nvPr/>
        </p:nvSpPr>
        <p:spPr>
          <a:xfrm>
            <a:off x="4216400" y="3673475"/>
            <a:ext cx="3759200" cy="1219200"/>
          </a:xfrm>
          <a:custGeom>
            <a:avLst/>
            <a:gdLst/>
            <a:ahLst/>
            <a:cxnLst/>
            <a:rect l="l" t="t" r="r" b="b"/>
            <a:pathLst>
              <a:path w="3759200" h="1219200">
                <a:moveTo>
                  <a:pt x="101596" y="0"/>
                </a:moveTo>
                <a:lnTo>
                  <a:pt x="3657604" y="0"/>
                </a:lnTo>
                <a:cubicBezTo>
                  <a:pt x="3713714" y="0"/>
                  <a:pt x="3759200" y="45486"/>
                  <a:pt x="3759200" y="101596"/>
                </a:cubicBezTo>
                <a:lnTo>
                  <a:pt x="3759200" y="1117604"/>
                </a:lnTo>
                <a:cubicBezTo>
                  <a:pt x="3759200" y="1173714"/>
                  <a:pt x="3713714" y="1219200"/>
                  <a:pt x="3657604" y="1219200"/>
                </a:cubicBezTo>
                <a:lnTo>
                  <a:pt x="101596" y="1219200"/>
                </a:lnTo>
                <a:cubicBezTo>
                  <a:pt x="45486" y="1219200"/>
                  <a:pt x="0" y="1173714"/>
                  <a:pt x="0" y="1117604"/>
                </a:cubicBezTo>
                <a:lnTo>
                  <a:pt x="0" y="101596"/>
                </a:lnTo>
                <a:cubicBezTo>
                  <a:pt x="0" y="45486"/>
                  <a:pt x="45486" y="0"/>
                  <a:pt x="101596" y="0"/>
                </a:cubicBezTo>
                <a:close/>
              </a:path>
            </a:pathLst>
          </a:custGeom>
          <a:solidFill>
            <a:srgbClr val="D7E3E9">
              <a:alpha val="66667"/>
            </a:srgbClr>
          </a:solidFill>
          <a:ln/>
        </p:spPr>
      </p:sp>
      <p:sp>
        <p:nvSpPr>
          <p:cNvPr id="10" name="Text 7"/>
          <p:cNvSpPr/>
          <p:nvPr/>
        </p:nvSpPr>
        <p:spPr>
          <a:xfrm>
            <a:off x="4165600" y="3876675"/>
            <a:ext cx="3860800" cy="304800"/>
          </a:xfrm>
          <a:prstGeom prst="rect">
            <a:avLst/>
          </a:prstGeom>
          <a:noFill/>
          <a:ln/>
        </p:spPr>
        <p:txBody>
          <a:bodyPr wrap="square" lIns="0" tIns="0" rIns="0" bIns="0" rtlCol="0" anchor="ctr"/>
          <a:lstStyle/>
          <a:p>
            <a:pPr algn="ctr" indent="0" marL="0">
              <a:lnSpc>
                <a:spcPct val="130000"/>
              </a:lnSpc>
              <a:buNone/>
            </a:pPr>
            <a:r>
              <a:rPr lang="en-US" sz="1600" dirty="0">
                <a:solidFill>
                  <a:srgbClr val="333333"/>
                </a:solidFill>
                <a:latin typeface="MiSans" pitchFamily="34" charset="0"/>
                <a:ea typeface="MiSans" pitchFamily="34" charset="-122"/>
                <a:cs typeface="MiSans" pitchFamily="34" charset="-120"/>
              </a:rPr>
              <a:t>Bước 2: Import vào Android Studio</a:t>
            </a:r>
            <a:endParaRPr lang="en-US" sz="1600" dirty="0"/>
          </a:p>
        </p:txBody>
      </p:sp>
      <p:sp>
        <p:nvSpPr>
          <p:cNvPr id="11" name="Text 8"/>
          <p:cNvSpPr/>
          <p:nvPr/>
        </p:nvSpPr>
        <p:spPr>
          <a:xfrm>
            <a:off x="4419600" y="4283075"/>
            <a:ext cx="3352800" cy="406400"/>
          </a:xfrm>
          <a:prstGeom prst="rect">
            <a:avLst/>
          </a:prstGeom>
          <a:noFill/>
          <a:ln/>
        </p:spPr>
        <p:txBody>
          <a:bodyPr wrap="square" lIns="0" tIns="0" rIns="0" bIns="0" rtlCol="0" anchor="ctr"/>
          <a:lstStyle/>
          <a:p>
            <a:pPr algn="ctr" indent="0" marL="0">
              <a:lnSpc>
                <a:spcPct val="110000"/>
              </a:lnSpc>
              <a:buNone/>
            </a:pPr>
            <a:r>
              <a:rPr lang="en-US" sz="1200" dirty="0">
                <a:solidFill>
                  <a:srgbClr val="333333"/>
                </a:solidFill>
                <a:latin typeface="MiSans" pitchFamily="34" charset="0"/>
                <a:ea typeface="MiSans" pitchFamily="34" charset="-122"/>
                <a:cs typeface="MiSans" pitchFamily="34" charset="-120"/>
              </a:rPr>
              <a:t>Mỗi thư mục tương ứng một bài, có README hướng dẫn.</a:t>
            </a:r>
            <a:endParaRPr lang="en-US" sz="1600" dirty="0"/>
          </a:p>
        </p:txBody>
      </p:sp>
      <p:sp>
        <p:nvSpPr>
          <p:cNvPr id="12" name="Shape 9"/>
          <p:cNvSpPr/>
          <p:nvPr/>
        </p:nvSpPr>
        <p:spPr>
          <a:xfrm>
            <a:off x="8178800" y="3775075"/>
            <a:ext cx="3759200" cy="1016000"/>
          </a:xfrm>
          <a:custGeom>
            <a:avLst/>
            <a:gdLst/>
            <a:ahLst/>
            <a:cxnLst/>
            <a:rect l="l" t="t" r="r" b="b"/>
            <a:pathLst>
              <a:path w="3759200" h="1016000">
                <a:moveTo>
                  <a:pt x="101600" y="0"/>
                </a:moveTo>
                <a:lnTo>
                  <a:pt x="3657600" y="0"/>
                </a:lnTo>
                <a:cubicBezTo>
                  <a:pt x="3713675" y="0"/>
                  <a:pt x="3759200" y="45525"/>
                  <a:pt x="3759200" y="101600"/>
                </a:cubicBezTo>
                <a:lnTo>
                  <a:pt x="3759200" y="914400"/>
                </a:lnTo>
                <a:cubicBezTo>
                  <a:pt x="3759200" y="970475"/>
                  <a:pt x="3713675" y="1016000"/>
                  <a:pt x="3657600" y="1016000"/>
                </a:cubicBezTo>
                <a:lnTo>
                  <a:pt x="101600" y="1016000"/>
                </a:lnTo>
                <a:cubicBezTo>
                  <a:pt x="45525" y="1016000"/>
                  <a:pt x="0" y="970475"/>
                  <a:pt x="0" y="914400"/>
                </a:cubicBezTo>
                <a:lnTo>
                  <a:pt x="0" y="101600"/>
                </a:lnTo>
                <a:cubicBezTo>
                  <a:pt x="0" y="45525"/>
                  <a:pt x="45525" y="0"/>
                  <a:pt x="101600" y="0"/>
                </a:cubicBezTo>
                <a:close/>
              </a:path>
            </a:pathLst>
          </a:custGeom>
          <a:solidFill>
            <a:srgbClr val="D7E3E9">
              <a:alpha val="66667"/>
            </a:srgbClr>
          </a:solidFill>
          <a:ln/>
        </p:spPr>
      </p:sp>
      <p:sp>
        <p:nvSpPr>
          <p:cNvPr id="13" name="Text 10"/>
          <p:cNvSpPr/>
          <p:nvPr/>
        </p:nvSpPr>
        <p:spPr>
          <a:xfrm>
            <a:off x="8128000" y="3978275"/>
            <a:ext cx="3860800" cy="304800"/>
          </a:xfrm>
          <a:prstGeom prst="rect">
            <a:avLst/>
          </a:prstGeom>
          <a:noFill/>
          <a:ln/>
        </p:spPr>
        <p:txBody>
          <a:bodyPr wrap="square" lIns="0" tIns="0" rIns="0" bIns="0" rtlCol="0" anchor="ctr"/>
          <a:lstStyle/>
          <a:p>
            <a:pPr algn="ctr" indent="0" marL="0">
              <a:lnSpc>
                <a:spcPct val="130000"/>
              </a:lnSpc>
              <a:buNone/>
            </a:pPr>
            <a:r>
              <a:rPr lang="en-US" sz="1600" dirty="0">
                <a:solidFill>
                  <a:srgbClr val="333333"/>
                </a:solidFill>
                <a:latin typeface="MiSans" pitchFamily="34" charset="0"/>
                <a:ea typeface="MiSans" pitchFamily="34" charset="-122"/>
                <a:cs typeface="MiSans" pitchFamily="34" charset="-120"/>
              </a:rPr>
              <a:t>Bước 3: Đọc và Phân tích Code</a:t>
            </a:r>
            <a:endParaRPr lang="en-US" sz="1600" dirty="0"/>
          </a:p>
        </p:txBody>
      </p:sp>
      <p:sp>
        <p:nvSpPr>
          <p:cNvPr id="14" name="Text 11"/>
          <p:cNvSpPr/>
          <p:nvPr/>
        </p:nvSpPr>
        <p:spPr>
          <a:xfrm>
            <a:off x="8128000" y="4384675"/>
            <a:ext cx="3860800" cy="203200"/>
          </a:xfrm>
          <a:prstGeom prst="rect">
            <a:avLst/>
          </a:prstGeom>
          <a:noFill/>
          <a:ln/>
        </p:spPr>
        <p:txBody>
          <a:bodyPr wrap="square" lIns="0" tIns="0" rIns="0" bIns="0" rtlCol="0" anchor="ctr"/>
          <a:lstStyle/>
          <a:p>
            <a:pPr algn="ctr" indent="0" marL="0">
              <a:lnSpc>
                <a:spcPct val="110000"/>
              </a:lnSpc>
              <a:buNone/>
            </a:pPr>
            <a:r>
              <a:rPr lang="en-US" sz="1200" dirty="0">
                <a:solidFill>
                  <a:srgbClr val="333333"/>
                </a:solidFill>
                <a:latin typeface="MiSans" pitchFamily="34" charset="0"/>
                <a:ea typeface="MiSans" pitchFamily="34" charset="-122"/>
                <a:cs typeface="MiSans" pitchFamily="34" charset="-120"/>
              </a:rPr>
              <a:t>Hiểu cách tổ chức package và logic chương trình.</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254000" y="1828800"/>
            <a:ext cx="12192000" cy="457200"/>
          </a:xfrm>
          <a:prstGeom prst="rect">
            <a:avLst/>
          </a:prstGeom>
          <a:noFill/>
          <a:ln/>
        </p:spPr>
        <p:txBody>
          <a:bodyPr wrap="square" lIns="0" tIns="0" rIns="0" bIns="0" rtlCol="0" anchor="ctr"/>
          <a:lstStyle/>
          <a:p>
            <a:pPr indent="0" marL="0">
              <a:lnSpc>
                <a:spcPct val="100000"/>
              </a:lnSpc>
              <a:buNone/>
            </a:pPr>
            <a:r>
              <a:rPr lang="en-US" sz="3000" dirty="0">
                <a:solidFill>
                  <a:srgbClr val="333333"/>
                </a:solidFill>
                <a:latin typeface="MiSans" pitchFamily="34" charset="0"/>
                <a:ea typeface="MiSans" pitchFamily="34" charset="-122"/>
                <a:cs typeface="MiSans" pitchFamily="34" charset="-120"/>
              </a:rPr>
              <a:t>Quy Trình Học Hiệu Quả Từ Thực Hành</a:t>
            </a:r>
            <a:endParaRPr lang="en-US" sz="1600" dirty="0"/>
          </a:p>
        </p:txBody>
      </p:sp>
      <p:sp>
        <p:nvSpPr>
          <p:cNvPr id="4" name="Text 1"/>
          <p:cNvSpPr/>
          <p:nvPr/>
        </p:nvSpPr>
        <p:spPr>
          <a:xfrm>
            <a:off x="254000" y="2489200"/>
            <a:ext cx="9753600" cy="508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Muốn thu được tối đa kiến thức từ mỗi bài lab, hãy tuân thủ quy trình "Học-Thực-Hành-Chinh-Phục" để ghi nhớ lâu và rèn kỹ năng chuyên nghiệp.</a:t>
            </a:r>
            <a:endParaRPr lang="en-US" sz="1600" dirty="0"/>
          </a:p>
        </p:txBody>
      </p:sp>
      <p:sp>
        <p:nvSpPr>
          <p:cNvPr id="5" name="Shape 2"/>
          <p:cNvSpPr/>
          <p:nvPr/>
        </p:nvSpPr>
        <p:spPr>
          <a:xfrm>
            <a:off x="1130300" y="3403600"/>
            <a:ext cx="965200" cy="965200"/>
          </a:xfrm>
          <a:custGeom>
            <a:avLst/>
            <a:gdLst/>
            <a:ahLst/>
            <a:cxnLst/>
            <a:rect l="l" t="t" r="r" b="b"/>
            <a:pathLst>
              <a:path w="965200" h="965200">
                <a:moveTo>
                  <a:pt x="482600" y="0"/>
                </a:moveTo>
                <a:lnTo>
                  <a:pt x="482600" y="0"/>
                </a:lnTo>
                <a:cubicBezTo>
                  <a:pt x="748954" y="0"/>
                  <a:pt x="965200" y="216246"/>
                  <a:pt x="965200" y="482600"/>
                </a:cubicBezTo>
                <a:lnTo>
                  <a:pt x="965200" y="482600"/>
                </a:lnTo>
                <a:cubicBezTo>
                  <a:pt x="965200" y="748954"/>
                  <a:pt x="748954" y="965200"/>
                  <a:pt x="482600" y="965200"/>
                </a:cubicBezTo>
                <a:lnTo>
                  <a:pt x="482600" y="965200"/>
                </a:lnTo>
                <a:cubicBezTo>
                  <a:pt x="216246" y="965200"/>
                  <a:pt x="0" y="748954"/>
                  <a:pt x="0" y="482600"/>
                </a:cubicBezTo>
                <a:lnTo>
                  <a:pt x="0" y="482600"/>
                </a:lnTo>
                <a:cubicBezTo>
                  <a:pt x="0" y="216246"/>
                  <a:pt x="216246" y="0"/>
                  <a:pt x="482600" y="0"/>
                </a:cubicBezTo>
                <a:close/>
              </a:path>
            </a:pathLst>
          </a:custGeom>
          <a:solidFill>
            <a:srgbClr val="D7E3E9">
              <a:alpha val="66667"/>
            </a:srgbClr>
          </a:solidFill>
          <a:ln w="25400">
            <a:solidFill>
              <a:srgbClr val="BACBD3"/>
            </a:solidFill>
            <a:prstDash val="solid"/>
          </a:ln>
        </p:spPr>
      </p:sp>
      <p:sp>
        <p:nvSpPr>
          <p:cNvPr id="6" name="Shape 3"/>
          <p:cNvSpPr/>
          <p:nvPr/>
        </p:nvSpPr>
        <p:spPr>
          <a:xfrm>
            <a:off x="1498600" y="3721100"/>
            <a:ext cx="285750" cy="381000"/>
          </a:xfrm>
          <a:custGeom>
            <a:avLst/>
            <a:gdLst/>
            <a:ahLst/>
            <a:cxnLst/>
            <a:rect l="l" t="t" r="r" b="b"/>
            <a:pathLst>
              <a:path w="285750" h="381000">
                <a:moveTo>
                  <a:pt x="185961" y="49709"/>
                </a:moveTo>
                <a:cubicBezTo>
                  <a:pt x="193700" y="39067"/>
                  <a:pt x="191319" y="24185"/>
                  <a:pt x="180677" y="16446"/>
                </a:cubicBezTo>
                <a:cubicBezTo>
                  <a:pt x="170036" y="8706"/>
                  <a:pt x="155153" y="11088"/>
                  <a:pt x="147414" y="21729"/>
                </a:cubicBezTo>
                <a:lnTo>
                  <a:pt x="68535" y="130150"/>
                </a:lnTo>
                <a:lnTo>
                  <a:pt x="40630" y="102245"/>
                </a:lnTo>
                <a:cubicBezTo>
                  <a:pt x="31328" y="92943"/>
                  <a:pt x="16222" y="92943"/>
                  <a:pt x="6921" y="102245"/>
                </a:cubicBezTo>
                <a:cubicBezTo>
                  <a:pt x="-2381" y="111547"/>
                  <a:pt x="-2381" y="126653"/>
                  <a:pt x="6921" y="135954"/>
                </a:cubicBezTo>
                <a:lnTo>
                  <a:pt x="54546" y="183579"/>
                </a:lnTo>
                <a:cubicBezTo>
                  <a:pt x="59457" y="188491"/>
                  <a:pt x="66303" y="191021"/>
                  <a:pt x="73223" y="190500"/>
                </a:cubicBezTo>
                <a:cubicBezTo>
                  <a:pt x="80144" y="189979"/>
                  <a:pt x="86544" y="186407"/>
                  <a:pt x="90636" y="180752"/>
                </a:cubicBezTo>
                <a:lnTo>
                  <a:pt x="185886" y="49783"/>
                </a:lnTo>
                <a:close/>
                <a:moveTo>
                  <a:pt x="281211" y="150912"/>
                </a:moveTo>
                <a:cubicBezTo>
                  <a:pt x="288950" y="140271"/>
                  <a:pt x="286569" y="125388"/>
                  <a:pt x="275927" y="117649"/>
                </a:cubicBezTo>
                <a:cubicBezTo>
                  <a:pt x="265286" y="109910"/>
                  <a:pt x="250403" y="112291"/>
                  <a:pt x="242664" y="122932"/>
                </a:cubicBezTo>
                <a:lnTo>
                  <a:pt x="116160" y="296838"/>
                </a:lnTo>
                <a:lnTo>
                  <a:pt x="64443" y="245120"/>
                </a:lnTo>
                <a:cubicBezTo>
                  <a:pt x="55141" y="235818"/>
                  <a:pt x="40035" y="235818"/>
                  <a:pt x="30733" y="245120"/>
                </a:cubicBezTo>
                <a:cubicBezTo>
                  <a:pt x="21431" y="254422"/>
                  <a:pt x="21431" y="269528"/>
                  <a:pt x="30733" y="278829"/>
                </a:cubicBezTo>
                <a:lnTo>
                  <a:pt x="102171" y="350267"/>
                </a:lnTo>
                <a:cubicBezTo>
                  <a:pt x="107082" y="355178"/>
                  <a:pt x="113928" y="357708"/>
                  <a:pt x="120848" y="357188"/>
                </a:cubicBezTo>
                <a:cubicBezTo>
                  <a:pt x="127769" y="356667"/>
                  <a:pt x="134169" y="353095"/>
                  <a:pt x="138261" y="347439"/>
                </a:cubicBezTo>
                <a:lnTo>
                  <a:pt x="281136" y="150986"/>
                </a:lnTo>
                <a:close/>
              </a:path>
            </a:pathLst>
          </a:custGeom>
          <a:solidFill>
            <a:srgbClr val="F9B79B"/>
          </a:solidFill>
          <a:ln/>
        </p:spPr>
      </p:sp>
      <p:sp>
        <p:nvSpPr>
          <p:cNvPr id="7" name="Text 4"/>
          <p:cNvSpPr/>
          <p:nvPr/>
        </p:nvSpPr>
        <p:spPr>
          <a:xfrm>
            <a:off x="361156" y="4521200"/>
            <a:ext cx="2552700" cy="304800"/>
          </a:xfrm>
          <a:prstGeom prst="rect">
            <a:avLst/>
          </a:prstGeom>
          <a:noFill/>
          <a:ln/>
        </p:spPr>
        <p:txBody>
          <a:bodyPr wrap="square" lIns="0" tIns="0" rIns="0" bIns="0" rtlCol="0" anchor="ctr"/>
          <a:lstStyle/>
          <a:p>
            <a:pPr algn="ctr" indent="0" marL="0">
              <a:lnSpc>
                <a:spcPct val="130000"/>
              </a:lnSpc>
              <a:buNone/>
            </a:pPr>
            <a:r>
              <a:rPr lang="en-US" sz="1600" dirty="0">
                <a:solidFill>
                  <a:srgbClr val="333333"/>
                </a:solidFill>
                <a:latin typeface="MiSans" pitchFamily="34" charset="0"/>
                <a:ea typeface="MiSans" pitchFamily="34" charset="-122"/>
                <a:cs typeface="MiSans" pitchFamily="34" charset="-120"/>
              </a:rPr>
              <a:t>1. Hoàn thành cơ bản</a:t>
            </a:r>
            <a:endParaRPr lang="en-US" sz="1600" dirty="0"/>
          </a:p>
        </p:txBody>
      </p:sp>
      <p:sp>
        <p:nvSpPr>
          <p:cNvPr id="8" name="Text 5"/>
          <p:cNvSpPr/>
          <p:nvPr/>
        </p:nvSpPr>
        <p:spPr>
          <a:xfrm>
            <a:off x="314722" y="4826000"/>
            <a:ext cx="2641600" cy="203200"/>
          </a:xfrm>
          <a:prstGeom prst="rect">
            <a:avLst/>
          </a:prstGeom>
          <a:noFill/>
          <a:ln/>
        </p:spPr>
        <p:txBody>
          <a:bodyPr wrap="square" lIns="0" tIns="0" rIns="0" bIns="0" rtlCol="0" anchor="ctr"/>
          <a:lstStyle/>
          <a:p>
            <a:pPr algn="ctr" indent="0" marL="0">
              <a:lnSpc>
                <a:spcPct val="110000"/>
              </a:lnSpc>
              <a:buNone/>
            </a:pPr>
            <a:r>
              <a:rPr lang="en-US" sz="1200" dirty="0">
                <a:solidFill>
                  <a:srgbClr val="333333"/>
                </a:solidFill>
                <a:latin typeface="MiSans" pitchFamily="34" charset="0"/>
                <a:ea typeface="MiSans" pitchFamily="34" charset="-122"/>
                <a:cs typeface="MiSans" pitchFamily="34" charset="-120"/>
              </a:rPr>
              <a:t>Làm đầy đủ yêu cầu của bài lab.</a:t>
            </a:r>
            <a:endParaRPr lang="en-US" sz="1600" dirty="0"/>
          </a:p>
        </p:txBody>
      </p:sp>
      <p:sp>
        <p:nvSpPr>
          <p:cNvPr id="9" name="Shape 6"/>
          <p:cNvSpPr/>
          <p:nvPr/>
        </p:nvSpPr>
        <p:spPr>
          <a:xfrm>
            <a:off x="3124200" y="4191000"/>
            <a:ext cx="0" cy="50800"/>
          </a:xfrm>
          <a:custGeom>
            <a:avLst/>
            <a:gdLst/>
            <a:ahLst/>
            <a:cxnLst/>
            <a:rect l="l" t="t" r="r" b="b"/>
            <a:pathLst>
              <a:path w="0" h="50800">
                <a:moveTo>
                  <a:pt x="0" y="0"/>
                </a:moveTo>
                <a:lnTo>
                  <a:pt x="0" y="0"/>
                </a:lnTo>
                <a:lnTo>
                  <a:pt x="0" y="50800"/>
                </a:lnTo>
                <a:lnTo>
                  <a:pt x="0" y="50800"/>
                </a:lnTo>
                <a:lnTo>
                  <a:pt x="0" y="0"/>
                </a:lnTo>
                <a:close/>
              </a:path>
            </a:pathLst>
          </a:custGeom>
          <a:solidFill>
            <a:srgbClr val="BACBD3"/>
          </a:solidFill>
          <a:ln/>
        </p:spPr>
      </p:sp>
      <p:sp>
        <p:nvSpPr>
          <p:cNvPr id="10" name="Shape 7"/>
          <p:cNvSpPr/>
          <p:nvPr/>
        </p:nvSpPr>
        <p:spPr>
          <a:xfrm>
            <a:off x="4102100" y="3403600"/>
            <a:ext cx="965200" cy="965200"/>
          </a:xfrm>
          <a:custGeom>
            <a:avLst/>
            <a:gdLst/>
            <a:ahLst/>
            <a:cxnLst/>
            <a:rect l="l" t="t" r="r" b="b"/>
            <a:pathLst>
              <a:path w="965200" h="965200">
                <a:moveTo>
                  <a:pt x="482600" y="0"/>
                </a:moveTo>
                <a:lnTo>
                  <a:pt x="482600" y="0"/>
                </a:lnTo>
                <a:cubicBezTo>
                  <a:pt x="748954" y="0"/>
                  <a:pt x="965200" y="216246"/>
                  <a:pt x="965200" y="482600"/>
                </a:cubicBezTo>
                <a:lnTo>
                  <a:pt x="965200" y="482600"/>
                </a:lnTo>
                <a:cubicBezTo>
                  <a:pt x="965200" y="748954"/>
                  <a:pt x="748954" y="965200"/>
                  <a:pt x="482600" y="965200"/>
                </a:cubicBezTo>
                <a:lnTo>
                  <a:pt x="482600" y="965200"/>
                </a:lnTo>
                <a:cubicBezTo>
                  <a:pt x="216246" y="965200"/>
                  <a:pt x="0" y="748954"/>
                  <a:pt x="0" y="482600"/>
                </a:cubicBezTo>
                <a:lnTo>
                  <a:pt x="0" y="482600"/>
                </a:lnTo>
                <a:cubicBezTo>
                  <a:pt x="0" y="216246"/>
                  <a:pt x="216246" y="0"/>
                  <a:pt x="482600" y="0"/>
                </a:cubicBezTo>
                <a:close/>
              </a:path>
            </a:pathLst>
          </a:custGeom>
          <a:solidFill>
            <a:srgbClr val="D7E3E9">
              <a:alpha val="66667"/>
            </a:srgbClr>
          </a:solidFill>
          <a:ln w="25400">
            <a:solidFill>
              <a:srgbClr val="BACBD3"/>
            </a:solidFill>
            <a:prstDash val="solid"/>
          </a:ln>
        </p:spPr>
      </p:sp>
      <p:sp>
        <p:nvSpPr>
          <p:cNvPr id="11" name="Shape 8"/>
          <p:cNvSpPr/>
          <p:nvPr/>
        </p:nvSpPr>
        <p:spPr>
          <a:xfrm>
            <a:off x="4422775" y="3721100"/>
            <a:ext cx="381000" cy="381000"/>
          </a:xfrm>
          <a:custGeom>
            <a:avLst/>
            <a:gdLst/>
            <a:ahLst/>
            <a:cxnLst/>
            <a:rect l="l" t="t" r="r" b="b"/>
            <a:pathLst>
              <a:path w="381000" h="381000">
                <a:moveTo>
                  <a:pt x="190500" y="113109"/>
                </a:moveTo>
                <a:cubicBezTo>
                  <a:pt x="226642" y="113109"/>
                  <a:pt x="255984" y="83767"/>
                  <a:pt x="255984" y="47625"/>
                </a:cubicBezTo>
                <a:cubicBezTo>
                  <a:pt x="255984" y="11483"/>
                  <a:pt x="226642" y="-17859"/>
                  <a:pt x="190500" y="-17859"/>
                </a:cubicBezTo>
                <a:cubicBezTo>
                  <a:pt x="154358" y="-17859"/>
                  <a:pt x="125016" y="11483"/>
                  <a:pt x="125016" y="47625"/>
                </a:cubicBezTo>
                <a:cubicBezTo>
                  <a:pt x="125016" y="83767"/>
                  <a:pt x="154358" y="113109"/>
                  <a:pt x="190500" y="113109"/>
                </a:cubicBezTo>
                <a:close/>
                <a:moveTo>
                  <a:pt x="190500" y="335384"/>
                </a:moveTo>
                <a:lnTo>
                  <a:pt x="190500" y="224284"/>
                </a:lnTo>
                <a:cubicBezTo>
                  <a:pt x="202629" y="219224"/>
                  <a:pt x="214982" y="214089"/>
                  <a:pt x="227484" y="208880"/>
                </a:cubicBezTo>
                <a:cubicBezTo>
                  <a:pt x="256505" y="196825"/>
                  <a:pt x="287610" y="190574"/>
                  <a:pt x="319088" y="190574"/>
                </a:cubicBezTo>
                <a:lnTo>
                  <a:pt x="333375" y="190574"/>
                </a:lnTo>
                <a:lnTo>
                  <a:pt x="333375" y="309637"/>
                </a:lnTo>
                <a:lnTo>
                  <a:pt x="319088" y="309637"/>
                </a:lnTo>
                <a:cubicBezTo>
                  <a:pt x="275109" y="309637"/>
                  <a:pt x="231502" y="318343"/>
                  <a:pt x="190872" y="335310"/>
                </a:cubicBezTo>
                <a:lnTo>
                  <a:pt x="190500" y="335459"/>
                </a:lnTo>
                <a:close/>
                <a:moveTo>
                  <a:pt x="190500" y="172641"/>
                </a:moveTo>
                <a:lnTo>
                  <a:pt x="171822" y="164827"/>
                </a:lnTo>
                <a:cubicBezTo>
                  <a:pt x="136996" y="150316"/>
                  <a:pt x="99640" y="142875"/>
                  <a:pt x="61913" y="142875"/>
                </a:cubicBezTo>
                <a:lnTo>
                  <a:pt x="35719" y="142875"/>
                </a:lnTo>
                <a:cubicBezTo>
                  <a:pt x="15999" y="142875"/>
                  <a:pt x="0" y="158874"/>
                  <a:pt x="0" y="178594"/>
                </a:cubicBezTo>
                <a:lnTo>
                  <a:pt x="0" y="321469"/>
                </a:lnTo>
                <a:cubicBezTo>
                  <a:pt x="0" y="341188"/>
                  <a:pt x="15999" y="357188"/>
                  <a:pt x="35719" y="357188"/>
                </a:cubicBezTo>
                <a:lnTo>
                  <a:pt x="61913" y="357188"/>
                </a:lnTo>
                <a:cubicBezTo>
                  <a:pt x="99640" y="357188"/>
                  <a:pt x="136996" y="364629"/>
                  <a:pt x="171822" y="379140"/>
                </a:cubicBezTo>
                <a:lnTo>
                  <a:pt x="181347" y="383084"/>
                </a:lnTo>
                <a:cubicBezTo>
                  <a:pt x="187226" y="385539"/>
                  <a:pt x="193774" y="385539"/>
                  <a:pt x="199653" y="383084"/>
                </a:cubicBezTo>
                <a:lnTo>
                  <a:pt x="209178" y="379140"/>
                </a:lnTo>
                <a:cubicBezTo>
                  <a:pt x="244004" y="364629"/>
                  <a:pt x="281360" y="357187"/>
                  <a:pt x="319088" y="357187"/>
                </a:cubicBezTo>
                <a:lnTo>
                  <a:pt x="345281" y="357187"/>
                </a:lnTo>
                <a:cubicBezTo>
                  <a:pt x="365001" y="357187"/>
                  <a:pt x="381000" y="341188"/>
                  <a:pt x="381000" y="321469"/>
                </a:cubicBezTo>
                <a:lnTo>
                  <a:pt x="381000" y="178594"/>
                </a:lnTo>
                <a:cubicBezTo>
                  <a:pt x="381000" y="158874"/>
                  <a:pt x="365001" y="142875"/>
                  <a:pt x="345281" y="142875"/>
                </a:cubicBezTo>
                <a:lnTo>
                  <a:pt x="319088" y="142875"/>
                </a:lnTo>
                <a:cubicBezTo>
                  <a:pt x="281360" y="142875"/>
                  <a:pt x="244004" y="150316"/>
                  <a:pt x="209178" y="164827"/>
                </a:cubicBezTo>
                <a:lnTo>
                  <a:pt x="190500" y="172641"/>
                </a:lnTo>
                <a:close/>
              </a:path>
            </a:pathLst>
          </a:custGeom>
          <a:solidFill>
            <a:srgbClr val="F9B79B"/>
          </a:solidFill>
          <a:ln/>
        </p:spPr>
      </p:sp>
      <p:sp>
        <p:nvSpPr>
          <p:cNvPr id="12" name="Text 9"/>
          <p:cNvSpPr/>
          <p:nvPr/>
        </p:nvSpPr>
        <p:spPr>
          <a:xfrm>
            <a:off x="3652639" y="4521200"/>
            <a:ext cx="1917700" cy="304800"/>
          </a:xfrm>
          <a:prstGeom prst="rect">
            <a:avLst/>
          </a:prstGeom>
          <a:noFill/>
          <a:ln/>
        </p:spPr>
        <p:txBody>
          <a:bodyPr wrap="square" lIns="0" tIns="0" rIns="0" bIns="0" rtlCol="0" anchor="ctr"/>
          <a:lstStyle/>
          <a:p>
            <a:pPr algn="ctr" indent="0" marL="0">
              <a:lnSpc>
                <a:spcPct val="130000"/>
              </a:lnSpc>
              <a:buNone/>
            </a:pPr>
            <a:r>
              <a:rPr lang="en-US" sz="1600" dirty="0">
                <a:solidFill>
                  <a:srgbClr val="333333"/>
                </a:solidFill>
                <a:latin typeface="MiSans" pitchFamily="34" charset="0"/>
                <a:ea typeface="MiSans" pitchFamily="34" charset="-122"/>
                <a:cs typeface="MiSans" pitchFamily="34" charset="-120"/>
              </a:rPr>
              <a:t>2. Ôn lý thuyết</a:t>
            </a:r>
            <a:endParaRPr lang="en-US" sz="1600" dirty="0"/>
          </a:p>
        </p:txBody>
      </p:sp>
      <p:sp>
        <p:nvSpPr>
          <p:cNvPr id="13" name="Text 10"/>
          <p:cNvSpPr/>
          <p:nvPr/>
        </p:nvSpPr>
        <p:spPr>
          <a:xfrm>
            <a:off x="3355975" y="4826000"/>
            <a:ext cx="2501900" cy="203200"/>
          </a:xfrm>
          <a:prstGeom prst="rect">
            <a:avLst/>
          </a:prstGeom>
          <a:noFill/>
          <a:ln/>
        </p:spPr>
        <p:txBody>
          <a:bodyPr wrap="square" lIns="0" tIns="0" rIns="0" bIns="0" rtlCol="0" anchor="ctr"/>
          <a:lstStyle/>
          <a:p>
            <a:pPr algn="ctr" indent="0" marL="0">
              <a:lnSpc>
                <a:spcPct val="110000"/>
              </a:lnSpc>
              <a:buNone/>
            </a:pPr>
            <a:r>
              <a:rPr lang="en-US" sz="1200" dirty="0">
                <a:solidFill>
                  <a:srgbClr val="333333"/>
                </a:solidFill>
                <a:latin typeface="MiSans" pitchFamily="34" charset="0"/>
                <a:ea typeface="MiSans" pitchFamily="34" charset="-122"/>
                <a:cs typeface="MiSans" pitchFamily="34" charset="-120"/>
              </a:rPr>
              <a:t>Quay lại đọc Docs tương ứng.</a:t>
            </a:r>
            <a:endParaRPr lang="en-US" sz="1600" dirty="0"/>
          </a:p>
        </p:txBody>
      </p:sp>
      <p:sp>
        <p:nvSpPr>
          <p:cNvPr id="14" name="Shape 11"/>
          <p:cNvSpPr/>
          <p:nvPr/>
        </p:nvSpPr>
        <p:spPr>
          <a:xfrm>
            <a:off x="6096000" y="4191000"/>
            <a:ext cx="0" cy="50800"/>
          </a:xfrm>
          <a:custGeom>
            <a:avLst/>
            <a:gdLst/>
            <a:ahLst/>
            <a:cxnLst/>
            <a:rect l="l" t="t" r="r" b="b"/>
            <a:pathLst>
              <a:path w="0" h="50800">
                <a:moveTo>
                  <a:pt x="0" y="0"/>
                </a:moveTo>
                <a:lnTo>
                  <a:pt x="0" y="0"/>
                </a:lnTo>
                <a:lnTo>
                  <a:pt x="0" y="50800"/>
                </a:lnTo>
                <a:lnTo>
                  <a:pt x="0" y="50800"/>
                </a:lnTo>
                <a:lnTo>
                  <a:pt x="0" y="0"/>
                </a:lnTo>
                <a:close/>
              </a:path>
            </a:pathLst>
          </a:custGeom>
          <a:solidFill>
            <a:srgbClr val="BACBD3"/>
          </a:solidFill>
          <a:ln/>
        </p:spPr>
      </p:sp>
      <p:sp>
        <p:nvSpPr>
          <p:cNvPr id="15" name="Shape 12"/>
          <p:cNvSpPr/>
          <p:nvPr/>
        </p:nvSpPr>
        <p:spPr>
          <a:xfrm>
            <a:off x="7073900" y="3403600"/>
            <a:ext cx="965200" cy="965200"/>
          </a:xfrm>
          <a:custGeom>
            <a:avLst/>
            <a:gdLst/>
            <a:ahLst/>
            <a:cxnLst/>
            <a:rect l="l" t="t" r="r" b="b"/>
            <a:pathLst>
              <a:path w="965200" h="965200">
                <a:moveTo>
                  <a:pt x="482600" y="0"/>
                </a:moveTo>
                <a:lnTo>
                  <a:pt x="482600" y="0"/>
                </a:lnTo>
                <a:cubicBezTo>
                  <a:pt x="748954" y="0"/>
                  <a:pt x="965200" y="216246"/>
                  <a:pt x="965200" y="482600"/>
                </a:cubicBezTo>
                <a:lnTo>
                  <a:pt x="965200" y="482600"/>
                </a:lnTo>
                <a:cubicBezTo>
                  <a:pt x="965200" y="748954"/>
                  <a:pt x="748954" y="965200"/>
                  <a:pt x="482600" y="965200"/>
                </a:cubicBezTo>
                <a:lnTo>
                  <a:pt x="482600" y="965200"/>
                </a:lnTo>
                <a:cubicBezTo>
                  <a:pt x="216246" y="965200"/>
                  <a:pt x="0" y="748954"/>
                  <a:pt x="0" y="482600"/>
                </a:cubicBezTo>
                <a:lnTo>
                  <a:pt x="0" y="482600"/>
                </a:lnTo>
                <a:cubicBezTo>
                  <a:pt x="0" y="216246"/>
                  <a:pt x="216246" y="0"/>
                  <a:pt x="482600" y="0"/>
                </a:cubicBezTo>
                <a:close/>
              </a:path>
            </a:pathLst>
          </a:custGeom>
          <a:solidFill>
            <a:srgbClr val="D7E3E9">
              <a:alpha val="66667"/>
            </a:srgbClr>
          </a:solidFill>
          <a:ln w="25400">
            <a:solidFill>
              <a:srgbClr val="BACBD3"/>
            </a:solidFill>
            <a:prstDash val="solid"/>
          </a:ln>
        </p:spPr>
      </p:sp>
      <p:sp>
        <p:nvSpPr>
          <p:cNvPr id="16" name="Shape 13"/>
          <p:cNvSpPr/>
          <p:nvPr/>
        </p:nvSpPr>
        <p:spPr>
          <a:xfrm>
            <a:off x="7394575" y="3721100"/>
            <a:ext cx="381000" cy="381000"/>
          </a:xfrm>
          <a:custGeom>
            <a:avLst/>
            <a:gdLst/>
            <a:ahLst/>
            <a:cxnLst/>
            <a:rect l="l" t="t" r="r" b="b"/>
            <a:pathLst>
              <a:path w="381000" h="381000">
                <a:moveTo>
                  <a:pt x="95250" y="238125"/>
                </a:moveTo>
                <a:lnTo>
                  <a:pt x="18231" y="238125"/>
                </a:lnTo>
                <a:cubicBezTo>
                  <a:pt x="-298" y="238125"/>
                  <a:pt x="-11683" y="217959"/>
                  <a:pt x="-2158" y="202034"/>
                </a:cubicBezTo>
                <a:lnTo>
                  <a:pt x="37207" y="136401"/>
                </a:lnTo>
                <a:cubicBezTo>
                  <a:pt x="43681" y="125611"/>
                  <a:pt x="55290" y="119063"/>
                  <a:pt x="67866" y="119063"/>
                </a:cubicBezTo>
                <a:lnTo>
                  <a:pt x="138559" y="119063"/>
                </a:lnTo>
                <a:cubicBezTo>
                  <a:pt x="195188" y="23143"/>
                  <a:pt x="279648" y="18306"/>
                  <a:pt x="336128" y="26566"/>
                </a:cubicBezTo>
                <a:cubicBezTo>
                  <a:pt x="345653" y="27980"/>
                  <a:pt x="353095" y="35421"/>
                  <a:pt x="354434" y="44872"/>
                </a:cubicBezTo>
                <a:cubicBezTo>
                  <a:pt x="362694" y="101352"/>
                  <a:pt x="357857" y="185812"/>
                  <a:pt x="261938" y="242441"/>
                </a:cubicBezTo>
                <a:lnTo>
                  <a:pt x="261938" y="313134"/>
                </a:lnTo>
                <a:cubicBezTo>
                  <a:pt x="261938" y="325710"/>
                  <a:pt x="255389" y="337319"/>
                  <a:pt x="244599" y="343793"/>
                </a:cubicBezTo>
                <a:lnTo>
                  <a:pt x="178966" y="383158"/>
                </a:lnTo>
                <a:cubicBezTo>
                  <a:pt x="163116" y="392683"/>
                  <a:pt x="142875" y="381223"/>
                  <a:pt x="142875" y="362769"/>
                </a:cubicBezTo>
                <a:lnTo>
                  <a:pt x="142875" y="285750"/>
                </a:lnTo>
                <a:cubicBezTo>
                  <a:pt x="142875" y="259482"/>
                  <a:pt x="121518" y="238125"/>
                  <a:pt x="95250" y="238125"/>
                </a:cubicBezTo>
                <a:lnTo>
                  <a:pt x="95176" y="238125"/>
                </a:lnTo>
                <a:close/>
                <a:moveTo>
                  <a:pt x="297656" y="119063"/>
                </a:moveTo>
                <a:cubicBezTo>
                  <a:pt x="297656" y="99349"/>
                  <a:pt x="281651" y="83344"/>
                  <a:pt x="261938" y="83344"/>
                </a:cubicBezTo>
                <a:cubicBezTo>
                  <a:pt x="242224" y="83344"/>
                  <a:pt x="226219" y="99349"/>
                  <a:pt x="226219" y="119063"/>
                </a:cubicBezTo>
                <a:cubicBezTo>
                  <a:pt x="226219" y="138776"/>
                  <a:pt x="242224" y="154781"/>
                  <a:pt x="261938" y="154781"/>
                </a:cubicBezTo>
                <a:cubicBezTo>
                  <a:pt x="281651" y="154781"/>
                  <a:pt x="297656" y="138776"/>
                  <a:pt x="297656" y="119063"/>
                </a:cubicBezTo>
                <a:close/>
              </a:path>
            </a:pathLst>
          </a:custGeom>
          <a:solidFill>
            <a:srgbClr val="F9B79B"/>
          </a:solidFill>
          <a:ln/>
        </p:spPr>
      </p:sp>
      <p:sp>
        <p:nvSpPr>
          <p:cNvPr id="17" name="Text 14"/>
          <p:cNvSpPr/>
          <p:nvPr/>
        </p:nvSpPr>
        <p:spPr>
          <a:xfrm>
            <a:off x="6514902" y="4521200"/>
            <a:ext cx="2133600" cy="304800"/>
          </a:xfrm>
          <a:prstGeom prst="rect">
            <a:avLst/>
          </a:prstGeom>
          <a:noFill/>
          <a:ln/>
        </p:spPr>
        <p:txBody>
          <a:bodyPr wrap="square" lIns="0" tIns="0" rIns="0" bIns="0" rtlCol="0" anchor="ctr"/>
          <a:lstStyle/>
          <a:p>
            <a:pPr algn="ctr" indent="0" marL="0">
              <a:lnSpc>
                <a:spcPct val="130000"/>
              </a:lnSpc>
              <a:buNone/>
            </a:pPr>
            <a:r>
              <a:rPr lang="en-US" sz="1600" dirty="0">
                <a:solidFill>
                  <a:srgbClr val="333333"/>
                </a:solidFill>
                <a:latin typeface="MiSans" pitchFamily="34" charset="0"/>
                <a:ea typeface="MiSans" pitchFamily="34" charset="-122"/>
                <a:cs typeface="MiSans" pitchFamily="34" charset="-120"/>
              </a:rPr>
              <a:t>3. Làm Challenge</a:t>
            </a:r>
            <a:endParaRPr lang="en-US" sz="1600" dirty="0"/>
          </a:p>
        </p:txBody>
      </p:sp>
      <p:sp>
        <p:nvSpPr>
          <p:cNvPr id="18" name="Text 15"/>
          <p:cNvSpPr/>
          <p:nvPr/>
        </p:nvSpPr>
        <p:spPr>
          <a:xfrm>
            <a:off x="6561931" y="4826000"/>
            <a:ext cx="2044700" cy="203200"/>
          </a:xfrm>
          <a:prstGeom prst="rect">
            <a:avLst/>
          </a:prstGeom>
          <a:noFill/>
          <a:ln/>
        </p:spPr>
        <p:txBody>
          <a:bodyPr wrap="square" lIns="0" tIns="0" rIns="0" bIns="0" rtlCol="0" anchor="ctr"/>
          <a:lstStyle/>
          <a:p>
            <a:pPr algn="ctr" indent="0" marL="0">
              <a:lnSpc>
                <a:spcPct val="110000"/>
              </a:lnSpc>
              <a:buNone/>
            </a:pPr>
            <a:r>
              <a:rPr lang="en-US" sz="1200" dirty="0">
                <a:solidFill>
                  <a:srgbClr val="333333"/>
                </a:solidFill>
                <a:latin typeface="MiSans" pitchFamily="34" charset="0"/>
                <a:ea typeface="MiSans" pitchFamily="34" charset="-122"/>
                <a:cs typeface="MiSans" pitchFamily="34" charset="-120"/>
              </a:rPr>
              <a:t>Tự làm phần nâng cao.</a:t>
            </a:r>
            <a:endParaRPr lang="en-US" sz="1600" dirty="0"/>
          </a:p>
        </p:txBody>
      </p:sp>
      <p:sp>
        <p:nvSpPr>
          <p:cNvPr id="19" name="Shape 16"/>
          <p:cNvSpPr/>
          <p:nvPr/>
        </p:nvSpPr>
        <p:spPr>
          <a:xfrm>
            <a:off x="9067800" y="4191000"/>
            <a:ext cx="0" cy="50800"/>
          </a:xfrm>
          <a:custGeom>
            <a:avLst/>
            <a:gdLst/>
            <a:ahLst/>
            <a:cxnLst/>
            <a:rect l="l" t="t" r="r" b="b"/>
            <a:pathLst>
              <a:path w="0" h="50800">
                <a:moveTo>
                  <a:pt x="0" y="0"/>
                </a:moveTo>
                <a:lnTo>
                  <a:pt x="0" y="0"/>
                </a:lnTo>
                <a:lnTo>
                  <a:pt x="0" y="50800"/>
                </a:lnTo>
                <a:lnTo>
                  <a:pt x="0" y="50800"/>
                </a:lnTo>
                <a:lnTo>
                  <a:pt x="0" y="0"/>
                </a:lnTo>
                <a:close/>
              </a:path>
            </a:pathLst>
          </a:custGeom>
          <a:solidFill>
            <a:srgbClr val="BACBD3"/>
          </a:solidFill>
          <a:ln/>
        </p:spPr>
      </p:sp>
      <p:sp>
        <p:nvSpPr>
          <p:cNvPr id="20" name="Shape 17"/>
          <p:cNvSpPr/>
          <p:nvPr/>
        </p:nvSpPr>
        <p:spPr>
          <a:xfrm>
            <a:off x="10045700" y="3403600"/>
            <a:ext cx="965200" cy="965200"/>
          </a:xfrm>
          <a:custGeom>
            <a:avLst/>
            <a:gdLst/>
            <a:ahLst/>
            <a:cxnLst/>
            <a:rect l="l" t="t" r="r" b="b"/>
            <a:pathLst>
              <a:path w="965200" h="965200">
                <a:moveTo>
                  <a:pt x="482600" y="0"/>
                </a:moveTo>
                <a:lnTo>
                  <a:pt x="482600" y="0"/>
                </a:lnTo>
                <a:cubicBezTo>
                  <a:pt x="748954" y="0"/>
                  <a:pt x="965200" y="216246"/>
                  <a:pt x="965200" y="482600"/>
                </a:cubicBezTo>
                <a:lnTo>
                  <a:pt x="965200" y="482600"/>
                </a:lnTo>
                <a:cubicBezTo>
                  <a:pt x="965200" y="748954"/>
                  <a:pt x="748954" y="965200"/>
                  <a:pt x="482600" y="965200"/>
                </a:cubicBezTo>
                <a:lnTo>
                  <a:pt x="482600" y="965200"/>
                </a:lnTo>
                <a:cubicBezTo>
                  <a:pt x="216246" y="965200"/>
                  <a:pt x="0" y="748954"/>
                  <a:pt x="0" y="482600"/>
                </a:cubicBezTo>
                <a:lnTo>
                  <a:pt x="0" y="482600"/>
                </a:lnTo>
                <a:cubicBezTo>
                  <a:pt x="0" y="216246"/>
                  <a:pt x="216246" y="0"/>
                  <a:pt x="482600" y="0"/>
                </a:cubicBezTo>
                <a:close/>
              </a:path>
            </a:pathLst>
          </a:custGeom>
          <a:solidFill>
            <a:srgbClr val="D7E3E9">
              <a:alpha val="66667"/>
            </a:srgbClr>
          </a:solidFill>
          <a:ln w="25400">
            <a:solidFill>
              <a:srgbClr val="BACBD3"/>
            </a:solidFill>
            <a:prstDash val="solid"/>
          </a:ln>
        </p:spPr>
      </p:sp>
      <p:sp>
        <p:nvSpPr>
          <p:cNvPr id="21" name="Shape 18"/>
          <p:cNvSpPr/>
          <p:nvPr/>
        </p:nvSpPr>
        <p:spPr>
          <a:xfrm>
            <a:off x="10366375" y="3721100"/>
            <a:ext cx="381000" cy="381000"/>
          </a:xfrm>
          <a:custGeom>
            <a:avLst/>
            <a:gdLst/>
            <a:ahLst/>
            <a:cxnLst/>
            <a:rect l="l" t="t" r="r" b="b"/>
            <a:pathLst>
              <a:path w="381000" h="381000">
                <a:moveTo>
                  <a:pt x="300633" y="0"/>
                </a:moveTo>
                <a:cubicBezTo>
                  <a:pt x="314920" y="0"/>
                  <a:pt x="328613" y="5655"/>
                  <a:pt x="338658" y="15776"/>
                </a:cubicBezTo>
                <a:lnTo>
                  <a:pt x="365224" y="42342"/>
                </a:lnTo>
                <a:cubicBezTo>
                  <a:pt x="375345" y="52388"/>
                  <a:pt x="381000" y="66080"/>
                  <a:pt x="381000" y="80367"/>
                </a:cubicBezTo>
                <a:cubicBezTo>
                  <a:pt x="381000" y="94655"/>
                  <a:pt x="375345" y="108347"/>
                  <a:pt x="365224" y="118393"/>
                </a:cubicBezTo>
                <a:lnTo>
                  <a:pt x="331812" y="151805"/>
                </a:lnTo>
                <a:lnTo>
                  <a:pt x="229195" y="49188"/>
                </a:lnTo>
                <a:lnTo>
                  <a:pt x="262607" y="15776"/>
                </a:lnTo>
                <a:cubicBezTo>
                  <a:pt x="272653" y="5655"/>
                  <a:pt x="286345" y="0"/>
                  <a:pt x="300633" y="0"/>
                </a:cubicBezTo>
                <a:close/>
                <a:moveTo>
                  <a:pt x="203969" y="74414"/>
                </a:moveTo>
                <a:lnTo>
                  <a:pt x="203969" y="74414"/>
                </a:lnTo>
                <a:lnTo>
                  <a:pt x="306586" y="177031"/>
                </a:lnTo>
                <a:lnTo>
                  <a:pt x="146521" y="337096"/>
                </a:lnTo>
                <a:cubicBezTo>
                  <a:pt x="138559" y="345058"/>
                  <a:pt x="128588" y="350862"/>
                  <a:pt x="117723" y="353913"/>
                </a:cubicBezTo>
                <a:lnTo>
                  <a:pt x="22622" y="380330"/>
                </a:lnTo>
                <a:cubicBezTo>
                  <a:pt x="16446" y="382042"/>
                  <a:pt x="9748" y="380330"/>
                  <a:pt x="5209" y="375717"/>
                </a:cubicBezTo>
                <a:cubicBezTo>
                  <a:pt x="670" y="371103"/>
                  <a:pt x="-1116" y="364480"/>
                  <a:pt x="595" y="358304"/>
                </a:cubicBezTo>
                <a:lnTo>
                  <a:pt x="27087" y="263277"/>
                </a:lnTo>
                <a:cubicBezTo>
                  <a:pt x="30138" y="252413"/>
                  <a:pt x="35868" y="242515"/>
                  <a:pt x="43904" y="234479"/>
                </a:cubicBezTo>
                <a:lnTo>
                  <a:pt x="178668" y="99640"/>
                </a:lnTo>
                <a:lnTo>
                  <a:pt x="165943" y="86990"/>
                </a:lnTo>
                <a:cubicBezTo>
                  <a:pt x="158948" y="79995"/>
                  <a:pt x="147638" y="79995"/>
                  <a:pt x="140717" y="86990"/>
                </a:cubicBezTo>
                <a:lnTo>
                  <a:pt x="66229" y="161479"/>
                </a:lnTo>
                <a:cubicBezTo>
                  <a:pt x="59234" y="168473"/>
                  <a:pt x="47923" y="168473"/>
                  <a:pt x="41002" y="161479"/>
                </a:cubicBezTo>
                <a:cubicBezTo>
                  <a:pt x="34082" y="154484"/>
                  <a:pt x="34007" y="143173"/>
                  <a:pt x="41002" y="136252"/>
                </a:cubicBezTo>
                <a:lnTo>
                  <a:pt x="115416" y="61689"/>
                </a:lnTo>
                <a:cubicBezTo>
                  <a:pt x="136327" y="40779"/>
                  <a:pt x="170259" y="40779"/>
                  <a:pt x="191170" y="61689"/>
                </a:cubicBezTo>
                <a:lnTo>
                  <a:pt x="203969" y="74414"/>
                </a:lnTo>
                <a:close/>
              </a:path>
            </a:pathLst>
          </a:custGeom>
          <a:solidFill>
            <a:srgbClr val="F9B79B"/>
          </a:solidFill>
          <a:ln/>
        </p:spPr>
      </p:sp>
      <p:sp>
        <p:nvSpPr>
          <p:cNvPr id="22" name="Text 19"/>
          <p:cNvSpPr/>
          <p:nvPr/>
        </p:nvSpPr>
        <p:spPr>
          <a:xfrm>
            <a:off x="9823847" y="4521200"/>
            <a:ext cx="1460500" cy="304800"/>
          </a:xfrm>
          <a:prstGeom prst="rect">
            <a:avLst/>
          </a:prstGeom>
          <a:noFill/>
          <a:ln/>
        </p:spPr>
        <p:txBody>
          <a:bodyPr wrap="square" lIns="0" tIns="0" rIns="0" bIns="0" rtlCol="0" anchor="ctr"/>
          <a:lstStyle/>
          <a:p>
            <a:pPr algn="ctr" indent="0" marL="0">
              <a:lnSpc>
                <a:spcPct val="130000"/>
              </a:lnSpc>
              <a:buNone/>
            </a:pPr>
            <a:r>
              <a:rPr lang="en-US" sz="1600" dirty="0">
                <a:solidFill>
                  <a:srgbClr val="333333"/>
                </a:solidFill>
                <a:latin typeface="MiSans" pitchFamily="34" charset="0"/>
                <a:ea typeface="MiSans" pitchFamily="34" charset="-122"/>
                <a:cs typeface="MiSans" pitchFamily="34" charset="-120"/>
              </a:rPr>
              <a:t>4. Ghi chú</a:t>
            </a:r>
            <a:endParaRPr lang="en-US" sz="1600" dirty="0"/>
          </a:p>
        </p:txBody>
      </p:sp>
      <p:sp>
        <p:nvSpPr>
          <p:cNvPr id="23" name="Text 20"/>
          <p:cNvSpPr/>
          <p:nvPr/>
        </p:nvSpPr>
        <p:spPr>
          <a:xfrm>
            <a:off x="9342834" y="4826000"/>
            <a:ext cx="2425700" cy="203200"/>
          </a:xfrm>
          <a:prstGeom prst="rect">
            <a:avLst/>
          </a:prstGeom>
          <a:noFill/>
          <a:ln/>
        </p:spPr>
        <p:txBody>
          <a:bodyPr wrap="square" lIns="0" tIns="0" rIns="0" bIns="0" rtlCol="0" anchor="ctr"/>
          <a:lstStyle/>
          <a:p>
            <a:pPr algn="ctr" indent="0" marL="0">
              <a:lnSpc>
                <a:spcPct val="110000"/>
              </a:lnSpc>
              <a:buNone/>
            </a:pPr>
            <a:r>
              <a:rPr lang="en-US" sz="1200" dirty="0">
                <a:solidFill>
                  <a:srgbClr val="333333"/>
                </a:solidFill>
                <a:latin typeface="MiSans" pitchFamily="34" charset="0"/>
                <a:ea typeface="MiSans" pitchFamily="34" charset="-122"/>
                <a:cs typeface="MiSans" pitchFamily="34" charset="-120"/>
              </a:rPr>
              <a:t>Đọc lại, refactor và viết note.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4-d2sjh6m1bb2p4onbq9b0.jpg">    </p:cNvPr>
          <p:cNvPicPr>
            <a:picLocks noChangeAspect="1"/>
          </p:cNvPicPr>
          <p:nvPr/>
        </p:nvPicPr>
        <p:blipFill>
          <a:blip r:embed="rId1"/>
          <a:stretch>
            <a:fillRect/>
          </a:stretch>
        </p:blipFill>
        <p:spPr>
          <a:xfrm>
            <a:off x="0" y="0"/>
            <a:ext cx="12191365" cy="6858000"/>
          </a:xfrm>
          <a:prstGeom prst="rect">
            <a:avLst/>
          </a:prstGeom>
        </p:spPr>
      </p:pic>
      <p:pic>
        <p:nvPicPr>
          <p:cNvPr id="3" name="Image 1" descr="https://kimi-img.moonshot.cn/pub/slides/slides_tmpl/image/25-09-04-14:58:39-d2sjh7u1bb2p4onbq9d0.jpg">    </p:cNvPr>
          <p:cNvPicPr>
            <a:picLocks noChangeAspect="1"/>
          </p:cNvPicPr>
          <p:nvPr/>
        </p:nvPicPr>
        <p:blipFill>
          <a:blip r:embed="rId2">
            <a:alphaModFix amt="90000"/>
          </a:blip>
          <a:srcRect l="0" r="0" t="19005" b="17569"/>
          <a:stretch/>
        </p:blipFill>
        <p:spPr>
          <a:xfrm>
            <a:off x="0" y="1316990"/>
            <a:ext cx="12192000" cy="4321175"/>
          </a:xfrm>
          <a:prstGeom prst="rect">
            <a:avLst/>
          </a:prstGeom>
        </p:spPr>
      </p:pic>
      <p:sp>
        <p:nvSpPr>
          <p:cNvPr id="4" name="Text 0"/>
          <p:cNvSpPr/>
          <p:nvPr/>
        </p:nvSpPr>
        <p:spPr>
          <a:xfrm>
            <a:off x="1367155" y="3056890"/>
            <a:ext cx="9475470" cy="1066800"/>
          </a:xfrm>
          <a:prstGeom prst="rect">
            <a:avLst/>
          </a:prstGeom>
          <a:noFill/>
          <a:ln/>
        </p:spPr>
        <p:txBody>
          <a:bodyPr wrap="square" lIns="91440" tIns="45720" rIns="91440" bIns="45720" rtlCol="0" anchor="t"/>
          <a:lstStyle/>
          <a:p>
            <a:pPr algn="ctr" indent="0" marL="0">
              <a:lnSpc>
                <a:spcPct val="110000"/>
              </a:lnSpc>
              <a:buNone/>
            </a:pPr>
            <a:r>
              <a:rPr lang="en-US" sz="4800" dirty="0">
                <a:solidFill>
                  <a:srgbClr val="333F4F"/>
                </a:solidFill>
                <a:latin typeface="MiSans" pitchFamily="34" charset="0"/>
                <a:ea typeface="MiSans" pitchFamily="34" charset="-122"/>
                <a:cs typeface="MiSans" pitchFamily="34" charset="-120"/>
              </a:rPr>
              <a:t>Tổng hợp và lộ trình tiếp theo</a:t>
            </a:r>
            <a:endParaRPr lang="en-US" sz="1600" dirty="0"/>
          </a:p>
        </p:txBody>
      </p:sp>
      <p:sp>
        <p:nvSpPr>
          <p:cNvPr id="5" name="Text 1"/>
          <p:cNvSpPr/>
          <p:nvPr/>
        </p:nvSpPr>
        <p:spPr>
          <a:xfrm>
            <a:off x="5107305" y="1623060"/>
            <a:ext cx="2824344" cy="1066800"/>
          </a:xfrm>
          <a:prstGeom prst="rect">
            <a:avLst/>
          </a:prstGeom>
          <a:noFill/>
          <a:ln/>
        </p:spPr>
        <p:txBody>
          <a:bodyPr wrap="square" lIns="91440" tIns="45720" rIns="91440" bIns="45720" rtlCol="0" anchor="t"/>
          <a:lstStyle/>
          <a:p>
            <a:pPr algn="l" indent="0" marL="0">
              <a:lnSpc>
                <a:spcPct val="100000"/>
              </a:lnSpc>
              <a:buNone/>
            </a:pPr>
            <a:r>
              <a:rPr lang="en-US" sz="9600" dirty="0">
                <a:solidFill>
                  <a:srgbClr val="44546A"/>
                </a:solidFill>
                <a:latin typeface="MiSans" pitchFamily="34" charset="0"/>
                <a:ea typeface="MiSans" pitchFamily="34" charset="-122"/>
                <a:cs typeface="MiSans" pitchFamily="34" charset="-120"/>
              </a:rPr>
              <a:t>05</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4F6"/>
        </a:solidFill>
      </p:bgPr>
    </p:bg>
    <p:spTree>
      <p:nvGrpSpPr>
        <p:cNvPr id="1" name=""/>
        <p:cNvGrpSpPr/>
        <p:nvPr/>
      </p:nvGrpSpPr>
      <p:grpSpPr>
        <a:xfrm>
          <a:off x="0" y="0"/>
          <a:ext cx="0" cy="0"/>
          <a:chOff x="0" y="0"/>
          <a:chExt cx="0" cy="0"/>
        </a:xfrm>
      </p:grpSpPr>
      <p:pic>
        <p:nvPicPr>
          <p:cNvPr id="2" name="Image 0" descr="https://kimi-img.moonshot.cn/pub/slides/slides_tmpl/image/25-09-04-14:58:41-d2sjh8e1bb2p4onbq9f0.jpg">    </p:cNvPr>
          <p:cNvPicPr>
            <a:picLocks noChangeAspect="1"/>
          </p:cNvPicPr>
          <p:nvPr/>
        </p:nvPicPr>
        <p:blipFill>
          <a:blip r:embed="rId1"/>
          <a:stretch>
            <a:fillRect/>
          </a:stretch>
        </p:blipFill>
        <p:spPr>
          <a:xfrm>
            <a:off x="-29845" y="-15875"/>
            <a:ext cx="12300585" cy="6921500"/>
          </a:xfrm>
          <a:prstGeom prst="rect">
            <a:avLst/>
          </a:prstGeom>
        </p:spPr>
      </p:pic>
      <p:sp>
        <p:nvSpPr>
          <p:cNvPr id="3" name="Text 0"/>
          <p:cNvSpPr/>
          <p:nvPr/>
        </p:nvSpPr>
        <p:spPr>
          <a:xfrm>
            <a:off x="0" y="1752600"/>
            <a:ext cx="12192000" cy="457200"/>
          </a:xfrm>
          <a:prstGeom prst="rect">
            <a:avLst/>
          </a:prstGeom>
          <a:noFill/>
          <a:ln/>
        </p:spPr>
        <p:txBody>
          <a:bodyPr wrap="square" lIns="0" tIns="0" rIns="0" bIns="0" rtlCol="0" anchor="ctr"/>
          <a:lstStyle/>
          <a:p>
            <a:pPr algn="ctr" indent="0" marL="0">
              <a:lnSpc>
                <a:spcPct val="100000"/>
              </a:lnSpc>
              <a:buNone/>
            </a:pPr>
            <a:r>
              <a:rPr lang="en-US" sz="3000" dirty="0">
                <a:solidFill>
                  <a:srgbClr val="333333"/>
                </a:solidFill>
                <a:latin typeface="MiSans" pitchFamily="34" charset="0"/>
                <a:ea typeface="MiSans" pitchFamily="34" charset="-122"/>
                <a:cs typeface="MiSans" pitchFamily="34" charset="-120"/>
              </a:rPr>
              <a:t>Tổng Hợp Kênh Học Tập Không Thể Bỏ Qua</a:t>
            </a:r>
            <a:endParaRPr lang="en-US" sz="1600" dirty="0"/>
          </a:p>
        </p:txBody>
      </p:sp>
      <p:sp>
        <p:nvSpPr>
          <p:cNvPr id="4" name="Shape 1"/>
          <p:cNvSpPr/>
          <p:nvPr/>
        </p:nvSpPr>
        <p:spPr>
          <a:xfrm>
            <a:off x="254000" y="2514600"/>
            <a:ext cx="3759200" cy="914400"/>
          </a:xfrm>
          <a:custGeom>
            <a:avLst/>
            <a:gdLst/>
            <a:ahLst/>
            <a:cxnLst/>
            <a:rect l="l" t="t" r="r" b="b"/>
            <a:pathLst>
              <a:path w="3759200" h="914400">
                <a:moveTo>
                  <a:pt x="101599" y="0"/>
                </a:moveTo>
                <a:lnTo>
                  <a:pt x="3657601" y="0"/>
                </a:lnTo>
                <a:cubicBezTo>
                  <a:pt x="3713713" y="0"/>
                  <a:pt x="3759200" y="45487"/>
                  <a:pt x="3759200" y="101599"/>
                </a:cubicBezTo>
                <a:lnTo>
                  <a:pt x="3759200" y="812801"/>
                </a:lnTo>
                <a:cubicBezTo>
                  <a:pt x="3759200" y="868913"/>
                  <a:pt x="3713713" y="914400"/>
                  <a:pt x="3657601" y="914400"/>
                </a:cubicBezTo>
                <a:lnTo>
                  <a:pt x="101599" y="914400"/>
                </a:lnTo>
                <a:cubicBezTo>
                  <a:pt x="45487" y="914400"/>
                  <a:pt x="0" y="868913"/>
                  <a:pt x="0" y="812801"/>
                </a:cubicBezTo>
                <a:lnTo>
                  <a:pt x="0" y="101599"/>
                </a:lnTo>
                <a:cubicBezTo>
                  <a:pt x="0" y="45525"/>
                  <a:pt x="45525" y="0"/>
                  <a:pt x="101599" y="0"/>
                </a:cubicBezTo>
                <a:close/>
              </a:path>
            </a:pathLst>
          </a:custGeom>
          <a:solidFill>
            <a:srgbClr val="D7E3E9">
              <a:alpha val="66667"/>
            </a:srgbClr>
          </a:solidFill>
          <a:ln/>
        </p:spPr>
      </p:sp>
      <p:sp>
        <p:nvSpPr>
          <p:cNvPr id="5" name="Shape 2"/>
          <p:cNvSpPr/>
          <p:nvPr/>
        </p:nvSpPr>
        <p:spPr>
          <a:xfrm>
            <a:off x="514350" y="2819400"/>
            <a:ext cx="266700" cy="304800"/>
          </a:xfrm>
          <a:custGeom>
            <a:avLst/>
            <a:gdLst/>
            <a:ahLst/>
            <a:cxnLst/>
            <a:rect l="l" t="t" r="r" b="b"/>
            <a:pathLst>
              <a:path w="266700" h="304800">
                <a:moveTo>
                  <a:pt x="228600" y="304800"/>
                </a:moveTo>
                <a:lnTo>
                  <a:pt x="57150" y="304800"/>
                </a:lnTo>
                <a:cubicBezTo>
                  <a:pt x="25598" y="304800"/>
                  <a:pt x="0" y="279202"/>
                  <a:pt x="0" y="247650"/>
                </a:cubicBezTo>
                <a:lnTo>
                  <a:pt x="0" y="57150"/>
                </a:lnTo>
                <a:cubicBezTo>
                  <a:pt x="0" y="25598"/>
                  <a:pt x="25598" y="0"/>
                  <a:pt x="57150" y="0"/>
                </a:cubicBezTo>
                <a:lnTo>
                  <a:pt x="238125" y="0"/>
                </a:lnTo>
                <a:cubicBezTo>
                  <a:pt x="253901" y="0"/>
                  <a:pt x="266700" y="12799"/>
                  <a:pt x="266700" y="28575"/>
                </a:cubicBezTo>
                <a:lnTo>
                  <a:pt x="266700" y="200025"/>
                </a:lnTo>
                <a:cubicBezTo>
                  <a:pt x="266700" y="212467"/>
                  <a:pt x="258723" y="223064"/>
                  <a:pt x="247650" y="226993"/>
                </a:cubicBezTo>
                <a:lnTo>
                  <a:pt x="247650" y="266700"/>
                </a:lnTo>
                <a:cubicBezTo>
                  <a:pt x="258187" y="266700"/>
                  <a:pt x="266700" y="275213"/>
                  <a:pt x="266700" y="285750"/>
                </a:cubicBezTo>
                <a:cubicBezTo>
                  <a:pt x="266700" y="296287"/>
                  <a:pt x="258187" y="304800"/>
                  <a:pt x="247650" y="304800"/>
                </a:cubicBezTo>
                <a:lnTo>
                  <a:pt x="228600" y="304800"/>
                </a:lnTo>
                <a:close/>
                <a:moveTo>
                  <a:pt x="57150" y="228600"/>
                </a:moveTo>
                <a:cubicBezTo>
                  <a:pt x="46613" y="228600"/>
                  <a:pt x="38100" y="237113"/>
                  <a:pt x="38100" y="247650"/>
                </a:cubicBezTo>
                <a:cubicBezTo>
                  <a:pt x="38100" y="258187"/>
                  <a:pt x="46613" y="266700"/>
                  <a:pt x="57150" y="266700"/>
                </a:cubicBezTo>
                <a:lnTo>
                  <a:pt x="209550" y="266700"/>
                </a:lnTo>
                <a:lnTo>
                  <a:pt x="209550" y="228600"/>
                </a:lnTo>
                <a:lnTo>
                  <a:pt x="57150" y="228600"/>
                </a:lnTo>
                <a:close/>
                <a:moveTo>
                  <a:pt x="76200" y="90488"/>
                </a:moveTo>
                <a:cubicBezTo>
                  <a:pt x="76200" y="98405"/>
                  <a:pt x="82570" y="104775"/>
                  <a:pt x="90488" y="104775"/>
                </a:cubicBezTo>
                <a:lnTo>
                  <a:pt x="195263" y="104775"/>
                </a:lnTo>
                <a:cubicBezTo>
                  <a:pt x="203180" y="104775"/>
                  <a:pt x="209550" y="98405"/>
                  <a:pt x="209550" y="90488"/>
                </a:cubicBezTo>
                <a:cubicBezTo>
                  <a:pt x="209550" y="82570"/>
                  <a:pt x="203180" y="76200"/>
                  <a:pt x="195263" y="76200"/>
                </a:cubicBezTo>
                <a:lnTo>
                  <a:pt x="90488" y="76200"/>
                </a:lnTo>
                <a:cubicBezTo>
                  <a:pt x="82570" y="76200"/>
                  <a:pt x="76200" y="82570"/>
                  <a:pt x="76200" y="90488"/>
                </a:cubicBezTo>
                <a:close/>
                <a:moveTo>
                  <a:pt x="90488" y="133350"/>
                </a:moveTo>
                <a:cubicBezTo>
                  <a:pt x="82570" y="133350"/>
                  <a:pt x="76200" y="139720"/>
                  <a:pt x="76200" y="147638"/>
                </a:cubicBezTo>
                <a:cubicBezTo>
                  <a:pt x="76200" y="155555"/>
                  <a:pt x="82570" y="161925"/>
                  <a:pt x="90488" y="161925"/>
                </a:cubicBezTo>
                <a:lnTo>
                  <a:pt x="195263" y="161925"/>
                </a:lnTo>
                <a:cubicBezTo>
                  <a:pt x="203180" y="161925"/>
                  <a:pt x="209550" y="155555"/>
                  <a:pt x="209550" y="147638"/>
                </a:cubicBezTo>
                <a:cubicBezTo>
                  <a:pt x="209550" y="139720"/>
                  <a:pt x="203180" y="133350"/>
                  <a:pt x="195263" y="133350"/>
                </a:cubicBezTo>
                <a:lnTo>
                  <a:pt x="90488" y="133350"/>
                </a:lnTo>
                <a:close/>
              </a:path>
            </a:pathLst>
          </a:custGeom>
          <a:solidFill>
            <a:srgbClr val="F9B79B"/>
          </a:solidFill>
          <a:ln/>
        </p:spPr>
      </p:sp>
      <p:sp>
        <p:nvSpPr>
          <p:cNvPr id="6" name="Text 3"/>
          <p:cNvSpPr/>
          <p:nvPr/>
        </p:nvSpPr>
        <p:spPr>
          <a:xfrm>
            <a:off x="990600" y="2717800"/>
            <a:ext cx="25908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Docs &amp; Codelabs</a:t>
            </a:r>
            <a:endParaRPr lang="en-US" sz="1600" dirty="0"/>
          </a:p>
        </p:txBody>
      </p:sp>
      <p:sp>
        <p:nvSpPr>
          <p:cNvPr id="7" name="Text 4"/>
          <p:cNvSpPr/>
          <p:nvPr/>
        </p:nvSpPr>
        <p:spPr>
          <a:xfrm>
            <a:off x="990600" y="3022600"/>
            <a:ext cx="2590800" cy="2032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MiSans" pitchFamily="34" charset="0"/>
                <a:ea typeface="MiSans" pitchFamily="34" charset="-122"/>
                <a:cs typeface="MiSans" pitchFamily="34" charset="-120"/>
              </a:rPr>
              <a:t>Nền tảng tra cứu và thực hành.</a:t>
            </a:r>
            <a:endParaRPr lang="en-US" sz="1600" dirty="0"/>
          </a:p>
        </p:txBody>
      </p:sp>
      <p:sp>
        <p:nvSpPr>
          <p:cNvPr id="8" name="Shape 5"/>
          <p:cNvSpPr/>
          <p:nvPr/>
        </p:nvSpPr>
        <p:spPr>
          <a:xfrm>
            <a:off x="4216400" y="2514600"/>
            <a:ext cx="3759200" cy="914400"/>
          </a:xfrm>
          <a:custGeom>
            <a:avLst/>
            <a:gdLst/>
            <a:ahLst/>
            <a:cxnLst/>
            <a:rect l="l" t="t" r="r" b="b"/>
            <a:pathLst>
              <a:path w="3759200" h="914400">
                <a:moveTo>
                  <a:pt x="101599" y="0"/>
                </a:moveTo>
                <a:lnTo>
                  <a:pt x="3657601" y="0"/>
                </a:lnTo>
                <a:cubicBezTo>
                  <a:pt x="3713713" y="0"/>
                  <a:pt x="3759200" y="45487"/>
                  <a:pt x="3759200" y="101599"/>
                </a:cubicBezTo>
                <a:lnTo>
                  <a:pt x="3759200" y="812801"/>
                </a:lnTo>
                <a:cubicBezTo>
                  <a:pt x="3759200" y="868913"/>
                  <a:pt x="3713713" y="914400"/>
                  <a:pt x="3657601" y="914400"/>
                </a:cubicBezTo>
                <a:lnTo>
                  <a:pt x="101599" y="914400"/>
                </a:lnTo>
                <a:cubicBezTo>
                  <a:pt x="45487" y="914400"/>
                  <a:pt x="0" y="868913"/>
                  <a:pt x="0" y="812801"/>
                </a:cubicBezTo>
                <a:lnTo>
                  <a:pt x="0" y="101599"/>
                </a:lnTo>
                <a:cubicBezTo>
                  <a:pt x="0" y="45525"/>
                  <a:pt x="45525" y="0"/>
                  <a:pt x="101599" y="0"/>
                </a:cubicBezTo>
                <a:close/>
              </a:path>
            </a:pathLst>
          </a:custGeom>
          <a:solidFill>
            <a:srgbClr val="BACBD3"/>
          </a:solidFill>
          <a:ln/>
        </p:spPr>
      </p:sp>
      <p:sp>
        <p:nvSpPr>
          <p:cNvPr id="9" name="Shape 6"/>
          <p:cNvSpPr/>
          <p:nvPr/>
        </p:nvSpPr>
        <p:spPr>
          <a:xfrm>
            <a:off x="4438650" y="2819400"/>
            <a:ext cx="342900" cy="304800"/>
          </a:xfrm>
          <a:custGeom>
            <a:avLst/>
            <a:gdLst/>
            <a:ahLst/>
            <a:cxnLst/>
            <a:rect l="l" t="t" r="r" b="b"/>
            <a:pathLst>
              <a:path w="342900" h="304800">
                <a:moveTo>
                  <a:pt x="28575" y="116562"/>
                </a:moveTo>
                <a:lnTo>
                  <a:pt x="153114" y="167819"/>
                </a:lnTo>
                <a:cubicBezTo>
                  <a:pt x="158948" y="170200"/>
                  <a:pt x="165140" y="171450"/>
                  <a:pt x="171450" y="171450"/>
                </a:cubicBezTo>
                <a:cubicBezTo>
                  <a:pt x="177760" y="171450"/>
                  <a:pt x="183952" y="170200"/>
                  <a:pt x="189786" y="167819"/>
                </a:cubicBezTo>
                <a:lnTo>
                  <a:pt x="334089" y="108406"/>
                </a:lnTo>
                <a:cubicBezTo>
                  <a:pt x="339447" y="106204"/>
                  <a:pt x="342900" y="101025"/>
                  <a:pt x="342900" y="95250"/>
                </a:cubicBezTo>
                <a:cubicBezTo>
                  <a:pt x="342900" y="89475"/>
                  <a:pt x="339447" y="84296"/>
                  <a:pt x="334089" y="82094"/>
                </a:cubicBezTo>
                <a:lnTo>
                  <a:pt x="189786" y="22681"/>
                </a:lnTo>
                <a:cubicBezTo>
                  <a:pt x="183952" y="20300"/>
                  <a:pt x="177760" y="19050"/>
                  <a:pt x="171450" y="19050"/>
                </a:cubicBezTo>
                <a:cubicBezTo>
                  <a:pt x="165140" y="19050"/>
                  <a:pt x="158948" y="20300"/>
                  <a:pt x="153114" y="22681"/>
                </a:cubicBezTo>
                <a:lnTo>
                  <a:pt x="8811" y="82094"/>
                </a:lnTo>
                <a:cubicBezTo>
                  <a:pt x="3453" y="84296"/>
                  <a:pt x="0" y="89475"/>
                  <a:pt x="0" y="95250"/>
                </a:cubicBezTo>
                <a:lnTo>
                  <a:pt x="0" y="271463"/>
                </a:lnTo>
                <a:cubicBezTo>
                  <a:pt x="0" y="279380"/>
                  <a:pt x="6370" y="285750"/>
                  <a:pt x="14288" y="285750"/>
                </a:cubicBezTo>
                <a:cubicBezTo>
                  <a:pt x="22205" y="285750"/>
                  <a:pt x="28575" y="279380"/>
                  <a:pt x="28575" y="271463"/>
                </a:cubicBezTo>
                <a:lnTo>
                  <a:pt x="28575" y="116562"/>
                </a:lnTo>
                <a:close/>
                <a:moveTo>
                  <a:pt x="57150" y="159246"/>
                </a:moveTo>
                <a:lnTo>
                  <a:pt x="57150" y="228600"/>
                </a:lnTo>
                <a:cubicBezTo>
                  <a:pt x="57150" y="260152"/>
                  <a:pt x="108347" y="285750"/>
                  <a:pt x="171450" y="285750"/>
                </a:cubicBezTo>
                <a:cubicBezTo>
                  <a:pt x="234553" y="285750"/>
                  <a:pt x="285750" y="260152"/>
                  <a:pt x="285750" y="228600"/>
                </a:cubicBezTo>
                <a:lnTo>
                  <a:pt x="285750" y="159187"/>
                </a:lnTo>
                <a:lnTo>
                  <a:pt x="200680" y="194250"/>
                </a:lnTo>
                <a:cubicBezTo>
                  <a:pt x="191393" y="198060"/>
                  <a:pt x="181511" y="200025"/>
                  <a:pt x="171450" y="200025"/>
                </a:cubicBezTo>
                <a:cubicBezTo>
                  <a:pt x="161389" y="200025"/>
                  <a:pt x="151507" y="198060"/>
                  <a:pt x="142220" y="194250"/>
                </a:cubicBezTo>
                <a:lnTo>
                  <a:pt x="57150" y="159187"/>
                </a:lnTo>
                <a:close/>
              </a:path>
            </a:pathLst>
          </a:custGeom>
          <a:solidFill>
            <a:srgbClr val="F9B79B"/>
          </a:solidFill>
          <a:ln/>
        </p:spPr>
      </p:sp>
      <p:sp>
        <p:nvSpPr>
          <p:cNvPr id="10" name="Text 7"/>
          <p:cNvSpPr/>
          <p:nvPr/>
        </p:nvSpPr>
        <p:spPr>
          <a:xfrm>
            <a:off x="4953000" y="2717800"/>
            <a:ext cx="30099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Udacity &amp; YouTube</a:t>
            </a:r>
            <a:endParaRPr lang="en-US" sz="1600" dirty="0"/>
          </a:p>
        </p:txBody>
      </p:sp>
      <p:sp>
        <p:nvSpPr>
          <p:cNvPr id="11" name="Text 8"/>
          <p:cNvSpPr/>
          <p:nvPr/>
        </p:nvSpPr>
        <p:spPr>
          <a:xfrm>
            <a:off x="4953000" y="3022600"/>
            <a:ext cx="3009900" cy="2032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MiSans" pitchFamily="34" charset="0"/>
                <a:ea typeface="MiSans" pitchFamily="34" charset="-122"/>
                <a:cs typeface="MiSans" pitchFamily="34" charset="-120"/>
              </a:rPr>
              <a:t>Học qua video và cập nhật xu hướng.</a:t>
            </a:r>
            <a:endParaRPr lang="en-US" sz="1600" dirty="0"/>
          </a:p>
        </p:txBody>
      </p:sp>
      <p:sp>
        <p:nvSpPr>
          <p:cNvPr id="12" name="Shape 9"/>
          <p:cNvSpPr/>
          <p:nvPr/>
        </p:nvSpPr>
        <p:spPr>
          <a:xfrm>
            <a:off x="8178800" y="2514600"/>
            <a:ext cx="3759200" cy="914400"/>
          </a:xfrm>
          <a:custGeom>
            <a:avLst/>
            <a:gdLst/>
            <a:ahLst/>
            <a:cxnLst/>
            <a:rect l="l" t="t" r="r" b="b"/>
            <a:pathLst>
              <a:path w="3759200" h="914400">
                <a:moveTo>
                  <a:pt x="101599" y="0"/>
                </a:moveTo>
                <a:lnTo>
                  <a:pt x="3657601" y="0"/>
                </a:lnTo>
                <a:cubicBezTo>
                  <a:pt x="3713713" y="0"/>
                  <a:pt x="3759200" y="45487"/>
                  <a:pt x="3759200" y="101599"/>
                </a:cubicBezTo>
                <a:lnTo>
                  <a:pt x="3759200" y="812801"/>
                </a:lnTo>
                <a:cubicBezTo>
                  <a:pt x="3759200" y="868913"/>
                  <a:pt x="3713713" y="914400"/>
                  <a:pt x="3657601" y="914400"/>
                </a:cubicBezTo>
                <a:lnTo>
                  <a:pt x="101599" y="914400"/>
                </a:lnTo>
                <a:cubicBezTo>
                  <a:pt x="45487" y="914400"/>
                  <a:pt x="0" y="868913"/>
                  <a:pt x="0" y="812801"/>
                </a:cubicBezTo>
                <a:lnTo>
                  <a:pt x="0" y="101599"/>
                </a:lnTo>
                <a:cubicBezTo>
                  <a:pt x="0" y="45525"/>
                  <a:pt x="45525" y="0"/>
                  <a:pt x="101599" y="0"/>
                </a:cubicBezTo>
                <a:close/>
              </a:path>
            </a:pathLst>
          </a:custGeom>
          <a:solidFill>
            <a:srgbClr val="D7E3E9">
              <a:alpha val="66667"/>
            </a:srgbClr>
          </a:solidFill>
          <a:ln/>
        </p:spPr>
      </p:sp>
      <p:sp>
        <p:nvSpPr>
          <p:cNvPr id="13" name="Shape 10"/>
          <p:cNvSpPr/>
          <p:nvPr/>
        </p:nvSpPr>
        <p:spPr>
          <a:xfrm>
            <a:off x="8458200" y="2819400"/>
            <a:ext cx="228600" cy="304800"/>
          </a:xfrm>
          <a:custGeom>
            <a:avLst/>
            <a:gdLst/>
            <a:ahLst/>
            <a:cxnLst/>
            <a:rect l="l" t="t" r="r" b="b"/>
            <a:pathLst>
              <a:path w="228600" h="304800">
                <a:moveTo>
                  <a:pt x="173236" y="185142"/>
                </a:moveTo>
                <a:lnTo>
                  <a:pt x="56733" y="160556"/>
                </a:lnTo>
                <a:lnTo>
                  <a:pt x="51852" y="183952"/>
                </a:lnTo>
                <a:lnTo>
                  <a:pt x="168354" y="208359"/>
                </a:lnTo>
                <a:lnTo>
                  <a:pt x="173236" y="185142"/>
                </a:lnTo>
                <a:close/>
                <a:moveTo>
                  <a:pt x="203597" y="133350"/>
                </a:moveTo>
                <a:lnTo>
                  <a:pt x="112216" y="56971"/>
                </a:lnTo>
                <a:lnTo>
                  <a:pt x="97036" y="75307"/>
                </a:lnTo>
                <a:lnTo>
                  <a:pt x="188416" y="151686"/>
                </a:lnTo>
                <a:lnTo>
                  <a:pt x="203597" y="133350"/>
                </a:lnTo>
                <a:close/>
                <a:moveTo>
                  <a:pt x="185023" y="156984"/>
                </a:moveTo>
                <a:lnTo>
                  <a:pt x="77093" y="106561"/>
                </a:lnTo>
                <a:lnTo>
                  <a:pt x="67151" y="128290"/>
                </a:lnTo>
                <a:lnTo>
                  <a:pt x="175022" y="178594"/>
                </a:lnTo>
                <a:lnTo>
                  <a:pt x="185023" y="156984"/>
                </a:lnTo>
                <a:close/>
                <a:moveTo>
                  <a:pt x="156150" y="19050"/>
                </a:moveTo>
                <a:lnTo>
                  <a:pt x="137100" y="33338"/>
                </a:lnTo>
                <a:lnTo>
                  <a:pt x="208121" y="128766"/>
                </a:lnTo>
                <a:lnTo>
                  <a:pt x="227171" y="114479"/>
                </a:lnTo>
                <a:lnTo>
                  <a:pt x="156150" y="19050"/>
                </a:lnTo>
                <a:close/>
                <a:moveTo>
                  <a:pt x="168354" y="214313"/>
                </a:moveTo>
                <a:lnTo>
                  <a:pt x="49292" y="214313"/>
                </a:lnTo>
                <a:lnTo>
                  <a:pt x="49292" y="237946"/>
                </a:lnTo>
                <a:lnTo>
                  <a:pt x="168354" y="237946"/>
                </a:lnTo>
                <a:lnTo>
                  <a:pt x="168354" y="214313"/>
                </a:lnTo>
                <a:close/>
                <a:moveTo>
                  <a:pt x="191988" y="261937"/>
                </a:moveTo>
                <a:lnTo>
                  <a:pt x="25598" y="261937"/>
                </a:lnTo>
                <a:lnTo>
                  <a:pt x="25598" y="190500"/>
                </a:lnTo>
                <a:lnTo>
                  <a:pt x="1786" y="190500"/>
                </a:lnTo>
                <a:lnTo>
                  <a:pt x="1786" y="285750"/>
                </a:lnTo>
                <a:lnTo>
                  <a:pt x="215801" y="285750"/>
                </a:lnTo>
                <a:lnTo>
                  <a:pt x="215801" y="190500"/>
                </a:lnTo>
                <a:lnTo>
                  <a:pt x="191988" y="190500"/>
                </a:lnTo>
                <a:lnTo>
                  <a:pt x="191988" y="261937"/>
                </a:lnTo>
                <a:close/>
              </a:path>
            </a:pathLst>
          </a:custGeom>
          <a:solidFill>
            <a:srgbClr val="F9B79B"/>
          </a:solidFill>
          <a:ln/>
        </p:spPr>
      </p:sp>
      <p:sp>
        <p:nvSpPr>
          <p:cNvPr id="14" name="Text 11"/>
          <p:cNvSpPr/>
          <p:nvPr/>
        </p:nvSpPr>
        <p:spPr>
          <a:xfrm>
            <a:off x="8915400" y="2717800"/>
            <a:ext cx="23368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Stack Overflow</a:t>
            </a:r>
            <a:endParaRPr lang="en-US" sz="1600" dirty="0"/>
          </a:p>
        </p:txBody>
      </p:sp>
      <p:sp>
        <p:nvSpPr>
          <p:cNvPr id="15" name="Text 12"/>
          <p:cNvSpPr/>
          <p:nvPr/>
        </p:nvSpPr>
        <p:spPr>
          <a:xfrm>
            <a:off x="8915400" y="3022600"/>
            <a:ext cx="2336800" cy="2032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MiSans" pitchFamily="34" charset="0"/>
                <a:ea typeface="MiSans" pitchFamily="34" charset="-122"/>
                <a:cs typeface="MiSans" pitchFamily="34" charset="-120"/>
              </a:rPr>
              <a:t>Giải đáp thắc mắc kỹ thuật.</a:t>
            </a:r>
            <a:endParaRPr lang="en-US" sz="1600" dirty="0"/>
          </a:p>
        </p:txBody>
      </p:sp>
      <p:sp>
        <p:nvSpPr>
          <p:cNvPr id="16" name="Shape 13"/>
          <p:cNvSpPr/>
          <p:nvPr/>
        </p:nvSpPr>
        <p:spPr>
          <a:xfrm>
            <a:off x="254000" y="3632200"/>
            <a:ext cx="3759200" cy="914400"/>
          </a:xfrm>
          <a:custGeom>
            <a:avLst/>
            <a:gdLst/>
            <a:ahLst/>
            <a:cxnLst/>
            <a:rect l="l" t="t" r="r" b="b"/>
            <a:pathLst>
              <a:path w="3759200" h="914400">
                <a:moveTo>
                  <a:pt x="101599" y="0"/>
                </a:moveTo>
                <a:lnTo>
                  <a:pt x="3657601" y="0"/>
                </a:lnTo>
                <a:cubicBezTo>
                  <a:pt x="3713713" y="0"/>
                  <a:pt x="3759200" y="45487"/>
                  <a:pt x="3759200" y="101599"/>
                </a:cubicBezTo>
                <a:lnTo>
                  <a:pt x="3759200" y="812801"/>
                </a:lnTo>
                <a:cubicBezTo>
                  <a:pt x="3759200" y="868913"/>
                  <a:pt x="3713713" y="914400"/>
                  <a:pt x="3657601" y="914400"/>
                </a:cubicBezTo>
                <a:lnTo>
                  <a:pt x="101599" y="914400"/>
                </a:lnTo>
                <a:cubicBezTo>
                  <a:pt x="45487" y="914400"/>
                  <a:pt x="0" y="868913"/>
                  <a:pt x="0" y="812801"/>
                </a:cubicBezTo>
                <a:lnTo>
                  <a:pt x="0" y="101599"/>
                </a:lnTo>
                <a:cubicBezTo>
                  <a:pt x="0" y="45525"/>
                  <a:pt x="45525" y="0"/>
                  <a:pt x="101599" y="0"/>
                </a:cubicBezTo>
                <a:close/>
              </a:path>
            </a:pathLst>
          </a:custGeom>
          <a:solidFill>
            <a:srgbClr val="BACBD3"/>
          </a:solidFill>
          <a:ln/>
        </p:spPr>
      </p:sp>
      <p:sp>
        <p:nvSpPr>
          <p:cNvPr id="17" name="Shape 14"/>
          <p:cNvSpPr/>
          <p:nvPr/>
        </p:nvSpPr>
        <p:spPr>
          <a:xfrm>
            <a:off x="495300" y="3937000"/>
            <a:ext cx="304800" cy="304800"/>
          </a:xfrm>
          <a:custGeom>
            <a:avLst/>
            <a:gdLst/>
            <a:ahLst/>
            <a:cxnLst/>
            <a:rect l="l" t="t" r="r" b="b"/>
            <a:pathLst>
              <a:path w="304800" h="304800">
                <a:moveTo>
                  <a:pt x="103525" y="236577"/>
                </a:moveTo>
                <a:cubicBezTo>
                  <a:pt x="103525" y="237768"/>
                  <a:pt x="102156" y="238720"/>
                  <a:pt x="100429" y="238720"/>
                </a:cubicBezTo>
                <a:cubicBezTo>
                  <a:pt x="98465" y="238899"/>
                  <a:pt x="97095" y="237946"/>
                  <a:pt x="97095" y="236577"/>
                </a:cubicBezTo>
                <a:cubicBezTo>
                  <a:pt x="97095" y="235387"/>
                  <a:pt x="98465" y="234434"/>
                  <a:pt x="100191" y="234434"/>
                </a:cubicBezTo>
                <a:cubicBezTo>
                  <a:pt x="101977" y="234255"/>
                  <a:pt x="103525" y="235208"/>
                  <a:pt x="103525" y="236577"/>
                </a:cubicBezTo>
                <a:close/>
                <a:moveTo>
                  <a:pt x="85011" y="233898"/>
                </a:moveTo>
                <a:cubicBezTo>
                  <a:pt x="84594" y="235089"/>
                  <a:pt x="85785" y="236458"/>
                  <a:pt x="87570" y="236815"/>
                </a:cubicBezTo>
                <a:cubicBezTo>
                  <a:pt x="89118" y="237411"/>
                  <a:pt x="90904" y="236815"/>
                  <a:pt x="91261" y="235625"/>
                </a:cubicBezTo>
                <a:cubicBezTo>
                  <a:pt x="91619" y="234434"/>
                  <a:pt x="90488" y="233065"/>
                  <a:pt x="88702" y="232529"/>
                </a:cubicBezTo>
                <a:cubicBezTo>
                  <a:pt x="87154" y="232112"/>
                  <a:pt x="85427" y="232708"/>
                  <a:pt x="85011" y="233898"/>
                </a:cubicBezTo>
                <a:close/>
                <a:moveTo>
                  <a:pt x="111323" y="232886"/>
                </a:moveTo>
                <a:cubicBezTo>
                  <a:pt x="109597" y="233303"/>
                  <a:pt x="108406" y="234434"/>
                  <a:pt x="108585" y="235803"/>
                </a:cubicBezTo>
                <a:cubicBezTo>
                  <a:pt x="108764" y="236994"/>
                  <a:pt x="110311" y="237768"/>
                  <a:pt x="112097" y="237351"/>
                </a:cubicBezTo>
                <a:cubicBezTo>
                  <a:pt x="113824" y="236934"/>
                  <a:pt x="115014" y="235803"/>
                  <a:pt x="114836" y="234613"/>
                </a:cubicBezTo>
                <a:cubicBezTo>
                  <a:pt x="114657" y="233482"/>
                  <a:pt x="113050" y="232708"/>
                  <a:pt x="111323" y="232886"/>
                </a:cubicBezTo>
                <a:close/>
                <a:moveTo>
                  <a:pt x="150495" y="4763"/>
                </a:moveTo>
                <a:cubicBezTo>
                  <a:pt x="67925" y="4763"/>
                  <a:pt x="4763" y="67449"/>
                  <a:pt x="4763" y="150019"/>
                </a:cubicBezTo>
                <a:cubicBezTo>
                  <a:pt x="4763" y="216039"/>
                  <a:pt x="46315" y="272534"/>
                  <a:pt x="105668" y="292418"/>
                </a:cubicBezTo>
                <a:cubicBezTo>
                  <a:pt x="113288" y="293787"/>
                  <a:pt x="115967" y="289084"/>
                  <a:pt x="115967" y="285214"/>
                </a:cubicBezTo>
                <a:cubicBezTo>
                  <a:pt x="115967" y="281523"/>
                  <a:pt x="115788" y="261164"/>
                  <a:pt x="115788" y="248662"/>
                </a:cubicBezTo>
                <a:cubicBezTo>
                  <a:pt x="115788" y="248662"/>
                  <a:pt x="74116" y="257592"/>
                  <a:pt x="65365" y="230922"/>
                </a:cubicBezTo>
                <a:cubicBezTo>
                  <a:pt x="65365" y="230922"/>
                  <a:pt x="58579" y="213598"/>
                  <a:pt x="48816" y="209133"/>
                </a:cubicBezTo>
                <a:cubicBezTo>
                  <a:pt x="48816" y="209133"/>
                  <a:pt x="35183" y="199787"/>
                  <a:pt x="49768" y="199965"/>
                </a:cubicBezTo>
                <a:cubicBezTo>
                  <a:pt x="49768" y="199965"/>
                  <a:pt x="64591" y="201156"/>
                  <a:pt x="72747" y="215325"/>
                </a:cubicBezTo>
                <a:cubicBezTo>
                  <a:pt x="85785" y="238304"/>
                  <a:pt x="107633" y="231696"/>
                  <a:pt x="116145" y="227767"/>
                </a:cubicBezTo>
                <a:cubicBezTo>
                  <a:pt x="117515" y="218242"/>
                  <a:pt x="121384" y="211634"/>
                  <a:pt x="125670" y="207705"/>
                </a:cubicBezTo>
                <a:cubicBezTo>
                  <a:pt x="92393" y="204014"/>
                  <a:pt x="58817" y="199192"/>
                  <a:pt x="58817" y="141923"/>
                </a:cubicBezTo>
                <a:cubicBezTo>
                  <a:pt x="58817" y="125551"/>
                  <a:pt x="63341" y="117336"/>
                  <a:pt x="72866" y="106859"/>
                </a:cubicBezTo>
                <a:cubicBezTo>
                  <a:pt x="71318" y="102989"/>
                  <a:pt x="66258" y="87035"/>
                  <a:pt x="74414" y="66437"/>
                </a:cubicBezTo>
                <a:cubicBezTo>
                  <a:pt x="86856" y="62567"/>
                  <a:pt x="115491" y="82510"/>
                  <a:pt x="115491" y="82510"/>
                </a:cubicBezTo>
                <a:cubicBezTo>
                  <a:pt x="127397" y="79177"/>
                  <a:pt x="140196" y="77450"/>
                  <a:pt x="152876" y="77450"/>
                </a:cubicBezTo>
                <a:cubicBezTo>
                  <a:pt x="165556" y="77450"/>
                  <a:pt x="178356" y="79177"/>
                  <a:pt x="190262" y="82510"/>
                </a:cubicBezTo>
                <a:cubicBezTo>
                  <a:pt x="190262" y="82510"/>
                  <a:pt x="218896" y="62508"/>
                  <a:pt x="231338" y="66437"/>
                </a:cubicBezTo>
                <a:cubicBezTo>
                  <a:pt x="239494" y="87094"/>
                  <a:pt x="234434" y="102989"/>
                  <a:pt x="232886" y="106859"/>
                </a:cubicBezTo>
                <a:cubicBezTo>
                  <a:pt x="242411" y="117396"/>
                  <a:pt x="248245" y="125611"/>
                  <a:pt x="248245" y="141923"/>
                </a:cubicBezTo>
                <a:cubicBezTo>
                  <a:pt x="248245" y="199370"/>
                  <a:pt x="213181" y="203954"/>
                  <a:pt x="179903" y="207705"/>
                </a:cubicBezTo>
                <a:cubicBezTo>
                  <a:pt x="185380" y="212407"/>
                  <a:pt x="190024" y="221337"/>
                  <a:pt x="190024" y="235327"/>
                </a:cubicBezTo>
                <a:cubicBezTo>
                  <a:pt x="190024" y="255389"/>
                  <a:pt x="189845" y="280214"/>
                  <a:pt x="189845" y="285095"/>
                </a:cubicBezTo>
                <a:cubicBezTo>
                  <a:pt x="189845" y="288965"/>
                  <a:pt x="192584" y="293668"/>
                  <a:pt x="200144" y="292298"/>
                </a:cubicBezTo>
                <a:cubicBezTo>
                  <a:pt x="259675" y="272534"/>
                  <a:pt x="300038" y="216039"/>
                  <a:pt x="300038" y="150019"/>
                </a:cubicBezTo>
                <a:cubicBezTo>
                  <a:pt x="300038" y="67449"/>
                  <a:pt x="233065" y="4763"/>
                  <a:pt x="150495" y="4763"/>
                </a:cubicBezTo>
                <a:close/>
                <a:moveTo>
                  <a:pt x="62627" y="210086"/>
                </a:moveTo>
                <a:cubicBezTo>
                  <a:pt x="61853" y="210681"/>
                  <a:pt x="62032" y="212050"/>
                  <a:pt x="63044" y="213181"/>
                </a:cubicBezTo>
                <a:cubicBezTo>
                  <a:pt x="63996" y="214134"/>
                  <a:pt x="65365" y="214551"/>
                  <a:pt x="66139" y="213777"/>
                </a:cubicBezTo>
                <a:cubicBezTo>
                  <a:pt x="66913" y="213181"/>
                  <a:pt x="66735" y="211812"/>
                  <a:pt x="65723" y="210681"/>
                </a:cubicBezTo>
                <a:cubicBezTo>
                  <a:pt x="64770" y="209729"/>
                  <a:pt x="63401" y="209312"/>
                  <a:pt x="62627" y="210086"/>
                </a:cubicBezTo>
                <a:close/>
                <a:moveTo>
                  <a:pt x="56198" y="205264"/>
                </a:moveTo>
                <a:cubicBezTo>
                  <a:pt x="55781" y="206038"/>
                  <a:pt x="56376" y="206990"/>
                  <a:pt x="57567" y="207585"/>
                </a:cubicBezTo>
                <a:cubicBezTo>
                  <a:pt x="58519" y="208181"/>
                  <a:pt x="59710" y="208002"/>
                  <a:pt x="60127" y="207169"/>
                </a:cubicBezTo>
                <a:cubicBezTo>
                  <a:pt x="60543" y="206395"/>
                  <a:pt x="59948" y="205442"/>
                  <a:pt x="58757" y="204847"/>
                </a:cubicBezTo>
                <a:cubicBezTo>
                  <a:pt x="57567" y="204490"/>
                  <a:pt x="56614" y="204668"/>
                  <a:pt x="56198" y="205264"/>
                </a:cubicBezTo>
                <a:close/>
                <a:moveTo>
                  <a:pt x="75486" y="226457"/>
                </a:moveTo>
                <a:cubicBezTo>
                  <a:pt x="74533" y="227231"/>
                  <a:pt x="74890" y="229017"/>
                  <a:pt x="76260" y="230148"/>
                </a:cubicBezTo>
                <a:cubicBezTo>
                  <a:pt x="77629" y="231517"/>
                  <a:pt x="79355" y="231696"/>
                  <a:pt x="80129" y="230743"/>
                </a:cubicBezTo>
                <a:cubicBezTo>
                  <a:pt x="80903" y="229969"/>
                  <a:pt x="80546" y="228183"/>
                  <a:pt x="79355" y="227052"/>
                </a:cubicBezTo>
                <a:cubicBezTo>
                  <a:pt x="78045" y="225683"/>
                  <a:pt x="76260" y="225504"/>
                  <a:pt x="75486" y="226457"/>
                </a:cubicBezTo>
                <a:close/>
                <a:moveTo>
                  <a:pt x="68699" y="217706"/>
                </a:moveTo>
                <a:cubicBezTo>
                  <a:pt x="67747" y="218301"/>
                  <a:pt x="67747" y="219849"/>
                  <a:pt x="68699" y="221218"/>
                </a:cubicBezTo>
                <a:cubicBezTo>
                  <a:pt x="69652" y="222587"/>
                  <a:pt x="71259" y="223183"/>
                  <a:pt x="72033" y="222587"/>
                </a:cubicBezTo>
                <a:cubicBezTo>
                  <a:pt x="72985" y="221813"/>
                  <a:pt x="72985" y="220266"/>
                  <a:pt x="72033" y="218896"/>
                </a:cubicBezTo>
                <a:cubicBezTo>
                  <a:pt x="71199" y="217527"/>
                  <a:pt x="69652" y="216932"/>
                  <a:pt x="68699" y="217706"/>
                </a:cubicBezTo>
                <a:close/>
              </a:path>
            </a:pathLst>
          </a:custGeom>
          <a:solidFill>
            <a:srgbClr val="F9B79B"/>
          </a:solidFill>
          <a:ln/>
        </p:spPr>
      </p:sp>
      <p:sp>
        <p:nvSpPr>
          <p:cNvPr id="18" name="Text 15"/>
          <p:cNvSpPr/>
          <p:nvPr/>
        </p:nvSpPr>
        <p:spPr>
          <a:xfrm>
            <a:off x="990600" y="3835400"/>
            <a:ext cx="23495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GitHub</a:t>
            </a:r>
            <a:endParaRPr lang="en-US" sz="1600" dirty="0"/>
          </a:p>
        </p:txBody>
      </p:sp>
      <p:sp>
        <p:nvSpPr>
          <p:cNvPr id="19" name="Text 16"/>
          <p:cNvSpPr/>
          <p:nvPr/>
        </p:nvSpPr>
        <p:spPr>
          <a:xfrm>
            <a:off x="990600" y="4140200"/>
            <a:ext cx="2349500" cy="2032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MiSans" pitchFamily="34" charset="0"/>
                <a:ea typeface="MiSans" pitchFamily="34" charset="-122"/>
                <a:cs typeface="MiSans" pitchFamily="34" charset="-120"/>
              </a:rPr>
              <a:t>Tham khảo mã nguồn mẫu.</a:t>
            </a:r>
            <a:endParaRPr lang="en-US" sz="1600" dirty="0"/>
          </a:p>
        </p:txBody>
      </p:sp>
      <p:sp>
        <p:nvSpPr>
          <p:cNvPr id="20" name="Shape 17"/>
          <p:cNvSpPr/>
          <p:nvPr/>
        </p:nvSpPr>
        <p:spPr>
          <a:xfrm>
            <a:off x="4216400" y="3632200"/>
            <a:ext cx="3759200" cy="914400"/>
          </a:xfrm>
          <a:custGeom>
            <a:avLst/>
            <a:gdLst/>
            <a:ahLst/>
            <a:cxnLst/>
            <a:rect l="l" t="t" r="r" b="b"/>
            <a:pathLst>
              <a:path w="3759200" h="914400">
                <a:moveTo>
                  <a:pt x="101599" y="0"/>
                </a:moveTo>
                <a:lnTo>
                  <a:pt x="3657601" y="0"/>
                </a:lnTo>
                <a:cubicBezTo>
                  <a:pt x="3713713" y="0"/>
                  <a:pt x="3759200" y="45487"/>
                  <a:pt x="3759200" y="101599"/>
                </a:cubicBezTo>
                <a:lnTo>
                  <a:pt x="3759200" y="812801"/>
                </a:lnTo>
                <a:cubicBezTo>
                  <a:pt x="3759200" y="868913"/>
                  <a:pt x="3713713" y="914400"/>
                  <a:pt x="3657601" y="914400"/>
                </a:cubicBezTo>
                <a:lnTo>
                  <a:pt x="101599" y="914400"/>
                </a:lnTo>
                <a:cubicBezTo>
                  <a:pt x="45487" y="914400"/>
                  <a:pt x="0" y="868913"/>
                  <a:pt x="0" y="812801"/>
                </a:cubicBezTo>
                <a:lnTo>
                  <a:pt x="0" y="101599"/>
                </a:lnTo>
                <a:cubicBezTo>
                  <a:pt x="0" y="45525"/>
                  <a:pt x="45525" y="0"/>
                  <a:pt x="101599" y="0"/>
                </a:cubicBezTo>
                <a:close/>
              </a:path>
            </a:pathLst>
          </a:custGeom>
          <a:solidFill>
            <a:srgbClr val="D7E3E9">
              <a:alpha val="66667"/>
            </a:srgbClr>
          </a:solidFill>
          <a:ln/>
        </p:spPr>
      </p:sp>
      <p:sp>
        <p:nvSpPr>
          <p:cNvPr id="21" name="Shape 18"/>
          <p:cNvSpPr/>
          <p:nvPr/>
        </p:nvSpPr>
        <p:spPr>
          <a:xfrm>
            <a:off x="4438650" y="3937000"/>
            <a:ext cx="342900" cy="304800"/>
          </a:xfrm>
          <a:custGeom>
            <a:avLst/>
            <a:gdLst/>
            <a:ahLst/>
            <a:cxnLst/>
            <a:rect l="l" t="t" r="r" b="b"/>
            <a:pathLst>
              <a:path w="342900" h="304800">
                <a:moveTo>
                  <a:pt x="142399" y="-4762"/>
                </a:moveTo>
                <a:cubicBezTo>
                  <a:pt x="138767" y="-8453"/>
                  <a:pt x="133469" y="-9942"/>
                  <a:pt x="128468" y="-8573"/>
                </a:cubicBezTo>
                <a:cubicBezTo>
                  <a:pt x="123468" y="-7203"/>
                  <a:pt x="119598" y="-3334"/>
                  <a:pt x="118348" y="1667"/>
                </a:cubicBezTo>
                <a:lnTo>
                  <a:pt x="109240" y="37505"/>
                </a:lnTo>
                <a:cubicBezTo>
                  <a:pt x="108585" y="40124"/>
                  <a:pt x="105906" y="41672"/>
                  <a:pt x="103346" y="40898"/>
                </a:cubicBezTo>
                <a:lnTo>
                  <a:pt x="67747" y="30897"/>
                </a:lnTo>
                <a:cubicBezTo>
                  <a:pt x="62746" y="29468"/>
                  <a:pt x="57388" y="30897"/>
                  <a:pt x="53757" y="34528"/>
                </a:cubicBezTo>
                <a:cubicBezTo>
                  <a:pt x="50125" y="38160"/>
                  <a:pt x="48697" y="43517"/>
                  <a:pt x="50125" y="48518"/>
                </a:cubicBezTo>
                <a:lnTo>
                  <a:pt x="60186" y="84118"/>
                </a:lnTo>
                <a:cubicBezTo>
                  <a:pt x="60900" y="86678"/>
                  <a:pt x="59353" y="89356"/>
                  <a:pt x="56793" y="90011"/>
                </a:cubicBezTo>
                <a:lnTo>
                  <a:pt x="20895" y="99120"/>
                </a:lnTo>
                <a:cubicBezTo>
                  <a:pt x="15895" y="100370"/>
                  <a:pt x="11966" y="104299"/>
                  <a:pt x="10597" y="109299"/>
                </a:cubicBezTo>
                <a:cubicBezTo>
                  <a:pt x="9227" y="114300"/>
                  <a:pt x="10716" y="119598"/>
                  <a:pt x="14407" y="123230"/>
                </a:cubicBezTo>
                <a:lnTo>
                  <a:pt x="40898" y="149007"/>
                </a:lnTo>
                <a:cubicBezTo>
                  <a:pt x="42803" y="150852"/>
                  <a:pt x="42803" y="153948"/>
                  <a:pt x="40898" y="155853"/>
                </a:cubicBezTo>
                <a:lnTo>
                  <a:pt x="14466" y="181630"/>
                </a:lnTo>
                <a:cubicBezTo>
                  <a:pt x="10775" y="185261"/>
                  <a:pt x="9287" y="190560"/>
                  <a:pt x="10656" y="195560"/>
                </a:cubicBezTo>
                <a:cubicBezTo>
                  <a:pt x="12025" y="200561"/>
                  <a:pt x="15954" y="204430"/>
                  <a:pt x="20955" y="205740"/>
                </a:cubicBezTo>
                <a:lnTo>
                  <a:pt x="56793" y="214848"/>
                </a:lnTo>
                <a:cubicBezTo>
                  <a:pt x="59412" y="215503"/>
                  <a:pt x="60960" y="218182"/>
                  <a:pt x="60186" y="220742"/>
                </a:cubicBezTo>
                <a:lnTo>
                  <a:pt x="50125" y="256282"/>
                </a:lnTo>
                <a:cubicBezTo>
                  <a:pt x="48697" y="261283"/>
                  <a:pt x="50125" y="266640"/>
                  <a:pt x="53757" y="270272"/>
                </a:cubicBezTo>
                <a:cubicBezTo>
                  <a:pt x="57388" y="273903"/>
                  <a:pt x="62746" y="275332"/>
                  <a:pt x="67747" y="273903"/>
                </a:cubicBezTo>
                <a:lnTo>
                  <a:pt x="103346" y="263843"/>
                </a:lnTo>
                <a:cubicBezTo>
                  <a:pt x="105906" y="263128"/>
                  <a:pt x="108585" y="264676"/>
                  <a:pt x="109240" y="267236"/>
                </a:cubicBezTo>
                <a:lnTo>
                  <a:pt x="118348" y="303074"/>
                </a:lnTo>
                <a:cubicBezTo>
                  <a:pt x="119598" y="308074"/>
                  <a:pt x="123527" y="312003"/>
                  <a:pt x="128528" y="313373"/>
                </a:cubicBezTo>
                <a:cubicBezTo>
                  <a:pt x="133529" y="314742"/>
                  <a:pt x="138827" y="313253"/>
                  <a:pt x="142458" y="309563"/>
                </a:cubicBezTo>
                <a:lnTo>
                  <a:pt x="168235" y="283071"/>
                </a:lnTo>
                <a:cubicBezTo>
                  <a:pt x="170081" y="281166"/>
                  <a:pt x="173176" y="281166"/>
                  <a:pt x="175081" y="283071"/>
                </a:cubicBezTo>
                <a:lnTo>
                  <a:pt x="200799" y="309563"/>
                </a:lnTo>
                <a:cubicBezTo>
                  <a:pt x="204430" y="313253"/>
                  <a:pt x="209729" y="314742"/>
                  <a:pt x="214729" y="313373"/>
                </a:cubicBezTo>
                <a:cubicBezTo>
                  <a:pt x="219730" y="312003"/>
                  <a:pt x="223599" y="308074"/>
                  <a:pt x="224909" y="303074"/>
                </a:cubicBezTo>
                <a:lnTo>
                  <a:pt x="234017" y="267295"/>
                </a:lnTo>
                <a:cubicBezTo>
                  <a:pt x="234672" y="264676"/>
                  <a:pt x="237351" y="263128"/>
                  <a:pt x="239911" y="263902"/>
                </a:cubicBezTo>
                <a:lnTo>
                  <a:pt x="275511" y="273963"/>
                </a:lnTo>
                <a:cubicBezTo>
                  <a:pt x="280511" y="275392"/>
                  <a:pt x="285869" y="273963"/>
                  <a:pt x="289500" y="270331"/>
                </a:cubicBezTo>
                <a:cubicBezTo>
                  <a:pt x="293132" y="266700"/>
                  <a:pt x="294561" y="261342"/>
                  <a:pt x="293132" y="256342"/>
                </a:cubicBezTo>
                <a:lnTo>
                  <a:pt x="283071" y="220742"/>
                </a:lnTo>
                <a:cubicBezTo>
                  <a:pt x="282357" y="218182"/>
                  <a:pt x="283905" y="215503"/>
                  <a:pt x="286464" y="214848"/>
                </a:cubicBezTo>
                <a:lnTo>
                  <a:pt x="322302" y="205740"/>
                </a:lnTo>
                <a:cubicBezTo>
                  <a:pt x="327303" y="204490"/>
                  <a:pt x="331232" y="200561"/>
                  <a:pt x="332601" y="195560"/>
                </a:cubicBezTo>
                <a:cubicBezTo>
                  <a:pt x="333970" y="190560"/>
                  <a:pt x="332482" y="185202"/>
                  <a:pt x="328791" y="181630"/>
                </a:cubicBezTo>
                <a:lnTo>
                  <a:pt x="302300" y="155853"/>
                </a:lnTo>
                <a:cubicBezTo>
                  <a:pt x="300395" y="154007"/>
                  <a:pt x="300395" y="150912"/>
                  <a:pt x="302300" y="149007"/>
                </a:cubicBezTo>
                <a:lnTo>
                  <a:pt x="328791" y="123230"/>
                </a:lnTo>
                <a:cubicBezTo>
                  <a:pt x="332482" y="119598"/>
                  <a:pt x="333970" y="114300"/>
                  <a:pt x="332601" y="109299"/>
                </a:cubicBezTo>
                <a:cubicBezTo>
                  <a:pt x="331232" y="104299"/>
                  <a:pt x="327303" y="100429"/>
                  <a:pt x="322302" y="99120"/>
                </a:cubicBezTo>
                <a:lnTo>
                  <a:pt x="286464" y="90011"/>
                </a:lnTo>
                <a:cubicBezTo>
                  <a:pt x="283845" y="89356"/>
                  <a:pt x="282297" y="86677"/>
                  <a:pt x="283071" y="84118"/>
                </a:cubicBezTo>
                <a:lnTo>
                  <a:pt x="293132" y="48518"/>
                </a:lnTo>
                <a:cubicBezTo>
                  <a:pt x="294561" y="43517"/>
                  <a:pt x="293132" y="38160"/>
                  <a:pt x="289500" y="34528"/>
                </a:cubicBezTo>
                <a:cubicBezTo>
                  <a:pt x="285869" y="30897"/>
                  <a:pt x="280511" y="29468"/>
                  <a:pt x="275511" y="30897"/>
                </a:cubicBezTo>
                <a:lnTo>
                  <a:pt x="239911" y="40957"/>
                </a:lnTo>
                <a:cubicBezTo>
                  <a:pt x="237351" y="41672"/>
                  <a:pt x="234672" y="40124"/>
                  <a:pt x="234017" y="37564"/>
                </a:cubicBezTo>
                <a:lnTo>
                  <a:pt x="224909" y="1667"/>
                </a:lnTo>
                <a:cubicBezTo>
                  <a:pt x="223659" y="-3334"/>
                  <a:pt x="219730" y="-7263"/>
                  <a:pt x="214729" y="-8632"/>
                </a:cubicBezTo>
                <a:cubicBezTo>
                  <a:pt x="209729" y="-10001"/>
                  <a:pt x="204430" y="-8513"/>
                  <a:pt x="200799" y="-4822"/>
                </a:cubicBezTo>
                <a:lnTo>
                  <a:pt x="175022" y="21729"/>
                </a:lnTo>
                <a:cubicBezTo>
                  <a:pt x="173176" y="23634"/>
                  <a:pt x="170081" y="23634"/>
                  <a:pt x="168176" y="21729"/>
                </a:cubicBezTo>
                <a:lnTo>
                  <a:pt x="142399" y="-4762"/>
                </a:lnTo>
                <a:close/>
              </a:path>
            </a:pathLst>
          </a:custGeom>
          <a:solidFill>
            <a:srgbClr val="F9B79B"/>
          </a:solidFill>
          <a:ln/>
        </p:spPr>
      </p:sp>
      <p:sp>
        <p:nvSpPr>
          <p:cNvPr id="22" name="Text 19"/>
          <p:cNvSpPr/>
          <p:nvPr/>
        </p:nvSpPr>
        <p:spPr>
          <a:xfrm>
            <a:off x="4953000" y="3835400"/>
            <a:ext cx="27686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Chứng Chỉ</a:t>
            </a:r>
            <a:endParaRPr lang="en-US" sz="1600" dirty="0"/>
          </a:p>
        </p:txBody>
      </p:sp>
      <p:sp>
        <p:nvSpPr>
          <p:cNvPr id="23" name="Text 20"/>
          <p:cNvSpPr/>
          <p:nvPr/>
        </p:nvSpPr>
        <p:spPr>
          <a:xfrm>
            <a:off x="4953000" y="4140200"/>
            <a:ext cx="2768600" cy="2032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MiSans" pitchFamily="34" charset="0"/>
                <a:ea typeface="MiSans" pitchFamily="34" charset="-122"/>
                <a:cs typeface="MiSans" pitchFamily="34" charset="-120"/>
              </a:rPr>
              <a:t>Tạo động lực và mục tiêu rõ ràng.</a:t>
            </a:r>
            <a:endParaRPr lang="en-US" sz="1600" dirty="0"/>
          </a:p>
        </p:txBody>
      </p:sp>
      <p:sp>
        <p:nvSpPr>
          <p:cNvPr id="24" name="Shape 21"/>
          <p:cNvSpPr/>
          <p:nvPr/>
        </p:nvSpPr>
        <p:spPr>
          <a:xfrm>
            <a:off x="8178800" y="3632200"/>
            <a:ext cx="3759200" cy="914400"/>
          </a:xfrm>
          <a:custGeom>
            <a:avLst/>
            <a:gdLst/>
            <a:ahLst/>
            <a:cxnLst/>
            <a:rect l="l" t="t" r="r" b="b"/>
            <a:pathLst>
              <a:path w="3759200" h="914400">
                <a:moveTo>
                  <a:pt x="101599" y="0"/>
                </a:moveTo>
                <a:lnTo>
                  <a:pt x="3657601" y="0"/>
                </a:lnTo>
                <a:cubicBezTo>
                  <a:pt x="3713713" y="0"/>
                  <a:pt x="3759200" y="45487"/>
                  <a:pt x="3759200" y="101599"/>
                </a:cubicBezTo>
                <a:lnTo>
                  <a:pt x="3759200" y="812801"/>
                </a:lnTo>
                <a:cubicBezTo>
                  <a:pt x="3759200" y="868913"/>
                  <a:pt x="3713713" y="914400"/>
                  <a:pt x="3657601" y="914400"/>
                </a:cubicBezTo>
                <a:lnTo>
                  <a:pt x="101599" y="914400"/>
                </a:lnTo>
                <a:cubicBezTo>
                  <a:pt x="45487" y="914400"/>
                  <a:pt x="0" y="868913"/>
                  <a:pt x="0" y="812801"/>
                </a:cubicBezTo>
                <a:lnTo>
                  <a:pt x="0" y="101599"/>
                </a:lnTo>
                <a:cubicBezTo>
                  <a:pt x="0" y="45525"/>
                  <a:pt x="45525" y="0"/>
                  <a:pt x="101599" y="0"/>
                </a:cubicBezTo>
                <a:close/>
              </a:path>
            </a:pathLst>
          </a:custGeom>
          <a:solidFill>
            <a:srgbClr val="BACBD3"/>
          </a:solidFill>
          <a:ln/>
        </p:spPr>
      </p:sp>
      <p:sp>
        <p:nvSpPr>
          <p:cNvPr id="25" name="Shape 22"/>
          <p:cNvSpPr/>
          <p:nvPr/>
        </p:nvSpPr>
        <p:spPr>
          <a:xfrm>
            <a:off x="8420100" y="3937000"/>
            <a:ext cx="304800" cy="304800"/>
          </a:xfrm>
          <a:custGeom>
            <a:avLst/>
            <a:gdLst/>
            <a:ahLst/>
            <a:cxnLst/>
            <a:rect l="l" t="t" r="r" b="b"/>
            <a:pathLst>
              <a:path w="304800" h="304800">
                <a:moveTo>
                  <a:pt x="133350" y="14288"/>
                </a:moveTo>
                <a:cubicBezTo>
                  <a:pt x="133350" y="6370"/>
                  <a:pt x="139720" y="0"/>
                  <a:pt x="147638" y="0"/>
                </a:cubicBezTo>
                <a:cubicBezTo>
                  <a:pt x="234434" y="0"/>
                  <a:pt x="304800" y="70366"/>
                  <a:pt x="304800" y="157163"/>
                </a:cubicBezTo>
                <a:cubicBezTo>
                  <a:pt x="304800" y="165080"/>
                  <a:pt x="298430" y="171450"/>
                  <a:pt x="290513" y="171450"/>
                </a:cubicBezTo>
                <a:cubicBezTo>
                  <a:pt x="282595" y="171450"/>
                  <a:pt x="276225" y="165080"/>
                  <a:pt x="276225" y="157163"/>
                </a:cubicBezTo>
                <a:cubicBezTo>
                  <a:pt x="276225" y="86142"/>
                  <a:pt x="218658" y="28575"/>
                  <a:pt x="147638" y="28575"/>
                </a:cubicBezTo>
                <a:cubicBezTo>
                  <a:pt x="139720" y="28575"/>
                  <a:pt x="133350" y="22205"/>
                  <a:pt x="133350" y="14288"/>
                </a:cubicBezTo>
                <a:close/>
                <a:moveTo>
                  <a:pt x="47625" y="57150"/>
                </a:moveTo>
                <a:cubicBezTo>
                  <a:pt x="63401" y="57150"/>
                  <a:pt x="76200" y="69949"/>
                  <a:pt x="76200" y="85725"/>
                </a:cubicBezTo>
                <a:lnTo>
                  <a:pt x="76200" y="219075"/>
                </a:lnTo>
                <a:cubicBezTo>
                  <a:pt x="76200" y="234851"/>
                  <a:pt x="88999" y="247650"/>
                  <a:pt x="104775" y="247650"/>
                </a:cubicBezTo>
                <a:cubicBezTo>
                  <a:pt x="120551" y="247650"/>
                  <a:pt x="133350" y="234851"/>
                  <a:pt x="133350" y="219075"/>
                </a:cubicBezTo>
                <a:cubicBezTo>
                  <a:pt x="133350" y="203299"/>
                  <a:pt x="120551" y="190500"/>
                  <a:pt x="104775" y="190500"/>
                </a:cubicBezTo>
                <a:cubicBezTo>
                  <a:pt x="99536" y="190500"/>
                  <a:pt x="95250" y="186214"/>
                  <a:pt x="95250" y="180975"/>
                </a:cubicBezTo>
                <a:lnTo>
                  <a:pt x="95250" y="142875"/>
                </a:lnTo>
                <a:cubicBezTo>
                  <a:pt x="95250" y="137636"/>
                  <a:pt x="99536" y="133350"/>
                  <a:pt x="104775" y="133350"/>
                </a:cubicBezTo>
                <a:cubicBezTo>
                  <a:pt x="152102" y="133350"/>
                  <a:pt x="190500" y="171748"/>
                  <a:pt x="190500" y="219075"/>
                </a:cubicBezTo>
                <a:cubicBezTo>
                  <a:pt x="190500" y="266402"/>
                  <a:pt x="152102" y="304800"/>
                  <a:pt x="104775" y="304800"/>
                </a:cubicBezTo>
                <a:cubicBezTo>
                  <a:pt x="57448" y="304800"/>
                  <a:pt x="19050" y="266402"/>
                  <a:pt x="19050" y="219075"/>
                </a:cubicBezTo>
                <a:lnTo>
                  <a:pt x="19050" y="85725"/>
                </a:lnTo>
                <a:cubicBezTo>
                  <a:pt x="19050" y="69949"/>
                  <a:pt x="31849" y="57150"/>
                  <a:pt x="47625" y="57150"/>
                </a:cubicBezTo>
                <a:close/>
                <a:moveTo>
                  <a:pt x="147638" y="57150"/>
                </a:moveTo>
                <a:cubicBezTo>
                  <a:pt x="202883" y="57150"/>
                  <a:pt x="247650" y="101918"/>
                  <a:pt x="247650" y="157163"/>
                </a:cubicBezTo>
                <a:cubicBezTo>
                  <a:pt x="247650" y="165080"/>
                  <a:pt x="241280" y="171450"/>
                  <a:pt x="233363" y="171450"/>
                </a:cubicBezTo>
                <a:cubicBezTo>
                  <a:pt x="225445" y="171450"/>
                  <a:pt x="219075" y="165080"/>
                  <a:pt x="219075" y="157163"/>
                </a:cubicBezTo>
                <a:cubicBezTo>
                  <a:pt x="219075" y="117693"/>
                  <a:pt x="187107" y="85725"/>
                  <a:pt x="147638" y="85725"/>
                </a:cubicBezTo>
                <a:cubicBezTo>
                  <a:pt x="139720" y="85725"/>
                  <a:pt x="133350" y="79355"/>
                  <a:pt x="133350" y="71438"/>
                </a:cubicBezTo>
                <a:cubicBezTo>
                  <a:pt x="133350" y="63520"/>
                  <a:pt x="139720" y="57150"/>
                  <a:pt x="147638" y="57150"/>
                </a:cubicBezTo>
                <a:close/>
              </a:path>
            </a:pathLst>
          </a:custGeom>
          <a:solidFill>
            <a:srgbClr val="F9B79B"/>
          </a:solidFill>
          <a:ln/>
        </p:spPr>
      </p:sp>
      <p:sp>
        <p:nvSpPr>
          <p:cNvPr id="26" name="Text 23"/>
          <p:cNvSpPr/>
          <p:nvPr/>
        </p:nvSpPr>
        <p:spPr>
          <a:xfrm>
            <a:off x="8915400" y="3835400"/>
            <a:ext cx="2552700" cy="304800"/>
          </a:xfrm>
          <a:prstGeom prst="rect">
            <a:avLst/>
          </a:prstGeom>
          <a:noFill/>
          <a:ln/>
        </p:spPr>
        <p:txBody>
          <a:bodyPr wrap="square" lIns="0" tIns="0" rIns="0" bIns="0" rtlCol="0" anchor="ctr"/>
          <a:lstStyle/>
          <a:p>
            <a:pPr indent="0" marL="0">
              <a:lnSpc>
                <a:spcPct val="130000"/>
              </a:lnSpc>
              <a:buNone/>
            </a:pPr>
            <a:r>
              <a:rPr lang="en-US" sz="1600" dirty="0">
                <a:solidFill>
                  <a:srgbClr val="333333"/>
                </a:solidFill>
                <a:latin typeface="MiSans" pitchFamily="34" charset="0"/>
                <a:ea typeface="MiSans" pitchFamily="34" charset="-122"/>
                <a:cs typeface="MiSans" pitchFamily="34" charset="-120"/>
              </a:rPr>
              <a:t>Blog</a:t>
            </a:r>
            <a:endParaRPr lang="en-US" sz="1600" dirty="0"/>
          </a:p>
        </p:txBody>
      </p:sp>
      <p:sp>
        <p:nvSpPr>
          <p:cNvPr id="27" name="Text 24"/>
          <p:cNvSpPr/>
          <p:nvPr/>
        </p:nvSpPr>
        <p:spPr>
          <a:xfrm>
            <a:off x="8915400" y="4140200"/>
            <a:ext cx="2552700" cy="203200"/>
          </a:xfrm>
          <a:prstGeom prst="rect">
            <a:avLst/>
          </a:prstGeom>
          <a:noFill/>
          <a:ln/>
        </p:spPr>
        <p:txBody>
          <a:bodyPr wrap="square" lIns="0" tIns="0" rIns="0" bIns="0" rtlCol="0" anchor="ctr"/>
          <a:lstStyle/>
          <a:p>
            <a:pPr indent="0" marL="0">
              <a:lnSpc>
                <a:spcPct val="110000"/>
              </a:lnSpc>
              <a:buNone/>
            </a:pPr>
            <a:r>
              <a:rPr lang="en-US" sz="1200" dirty="0">
                <a:solidFill>
                  <a:srgbClr val="333333"/>
                </a:solidFill>
                <a:latin typeface="MiSans" pitchFamily="34" charset="0"/>
                <a:ea typeface="MiSans" pitchFamily="34" charset="-122"/>
                <a:cs typeface="MiSans" pitchFamily="34" charset="-120"/>
              </a:rPr>
              <a:t>Cập nhật tin tức và case study.</a:t>
            </a:r>
            <a:endParaRPr lang="en-US" sz="1600" dirty="0"/>
          </a:p>
        </p:txBody>
      </p:sp>
      <p:sp>
        <p:nvSpPr>
          <p:cNvPr id="28" name="Text 25"/>
          <p:cNvSpPr/>
          <p:nvPr/>
        </p:nvSpPr>
        <p:spPr>
          <a:xfrm>
            <a:off x="254000" y="4851400"/>
            <a:ext cx="11684000" cy="254000"/>
          </a:xfrm>
          <a:prstGeom prst="rect">
            <a:avLst/>
          </a:prstGeom>
          <a:noFill/>
          <a:ln/>
        </p:spPr>
        <p:txBody>
          <a:bodyPr wrap="square" lIns="0" tIns="0" rIns="0" bIns="0" rtlCol="0" anchor="ctr"/>
          <a:lstStyle/>
          <a:p>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Lời khuyên: Xây dựng thời gian biểu cố định mỗi tuần để kết hợp đều đặn giữa </a:t>
            </a:r>
            <a:pPr algn="ctr" indent="0" marL="0">
              <a:lnSpc>
                <a:spcPct val="120000"/>
              </a:lnSpc>
              <a:buNone/>
            </a:pPr>
            <a:r>
              <a:rPr lang="en-US" sz="1400" dirty="0">
                <a:solidFill>
                  <a:srgbClr val="333333"/>
                </a:solidFill>
                <a:highlight>
                  <a:srgbClr val="F9B79B">
                    <a:alpha val="66667"/>
                  </a:srgbClr>
                </a:highlight>
                <a:latin typeface="MiSans" pitchFamily="34" charset="0"/>
                <a:ea typeface="MiSans" pitchFamily="34" charset="-122"/>
                <a:cs typeface="MiSans" pitchFamily="34" charset="-120"/>
              </a:rPr>
              <a:t> lý thuyết, thực hành và cập nhật </a:t>
            </a:r>
            <a:pPr algn="ctr" indent="0" marL="0">
              <a:lnSpc>
                <a:spcPct val="120000"/>
              </a:lnSpc>
              <a:buNone/>
            </a:pPr>
            <a:r>
              <a:rPr lang="en-US" sz="1400" dirty="0">
                <a:solidFill>
                  <a:srgbClr val="333333"/>
                </a:solidFill>
                <a:latin typeface="MiSans" pitchFamily="34" charset="0"/>
                <a:ea typeface="MiSans" pitchFamily="34" charset="-122"/>
                <a:cs typeface="MiSans" pitchFamily="34" charset="-120"/>
              </a:rPr>
              <a: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https://kimi-img.moonshot.cn/pub/slides/slides_tmpl/image/25-09-04-14:58:38-d2sjh7m1bb2p4onbq9cg.png">    </p:cNvPr>
          <p:cNvPicPr>
            <a:picLocks noChangeAspect="1"/>
          </p:cNvPicPr>
          <p:nvPr/>
        </p:nvPicPr>
        <p:blipFill>
          <a:blip r:embed="rId1"/>
          <a:stretch>
            <a:fillRect/>
          </a:stretch>
        </p:blipFill>
        <p:spPr>
          <a:xfrm>
            <a:off x="-11430" y="-18415"/>
            <a:ext cx="12214225" cy="6863715"/>
          </a:xfrm>
          <a:prstGeom prst="rect">
            <a:avLst/>
          </a:prstGeom>
        </p:spPr>
      </p:pic>
      <p:sp>
        <p:nvSpPr>
          <p:cNvPr id="3" name="Text 0"/>
          <p:cNvSpPr/>
          <p:nvPr/>
        </p:nvSpPr>
        <p:spPr>
          <a:xfrm>
            <a:off x="1307065" y="2585403"/>
            <a:ext cx="8146415" cy="1656080"/>
          </a:xfrm>
          <a:prstGeom prst="rect">
            <a:avLst/>
          </a:prstGeom>
          <a:noFill/>
          <a:ln/>
        </p:spPr>
        <p:txBody>
          <a:bodyPr wrap="square" lIns="91440" tIns="45720" rIns="91440" bIns="45720" rtlCol="0" anchor="t"/>
          <a:lstStyle/>
          <a:p>
            <a:pPr algn="r" indent="0" marL="0">
              <a:lnSpc>
                <a:spcPct val="110000"/>
              </a:lnSpc>
              <a:buNone/>
            </a:pPr>
            <a:r>
              <a:rPr lang="en-US" sz="4800" b="1" dirty="0">
                <a:solidFill>
                  <a:srgbClr val="44546A"/>
                </a:solidFill>
                <a:latin typeface="MiSans" pitchFamily="34" charset="0"/>
                <a:ea typeface="MiSans" pitchFamily="34" charset="-122"/>
                <a:cs typeface="MiSans" pitchFamily="34" charset="-120"/>
              </a:rPr>
              <a:t>THANK YOU</a:t>
            </a:r>
            <a:endParaRPr lang="en-US" sz="1600" dirty="0"/>
          </a:p>
          <a:p>
            <a:pPr algn="r" indent="0" marL="0">
              <a:lnSpc>
                <a:spcPct val="110000"/>
              </a:lnSpc>
              <a:buNone/>
            </a:pPr>
            <a:r>
              <a:rPr lang="en-US" sz="1800" dirty="0">
                <a:solidFill>
                  <a:srgbClr val="000000"/>
                </a:solidFill>
                <a:latin typeface="苹方-简" pitchFamily="34" charset="0"/>
                <a:ea typeface="苹方-简" pitchFamily="34" charset="-122"/>
                <a:cs typeface="苹方-简" pitchFamily="34" charset="-120"/>
              </a:rPr>
              <a:t> </a:t>
            </a:r>
            <a:endParaRPr lang="en-US" sz="1600" dirty="0"/>
          </a:p>
        </p:txBody>
      </p:sp>
      <p:sp>
        <p:nvSpPr>
          <p:cNvPr id="4" name="Shape 1"/>
          <p:cNvSpPr/>
          <p:nvPr/>
        </p:nvSpPr>
        <p:spPr>
          <a:xfrm>
            <a:off x="-11430" y="-18415"/>
            <a:ext cx="12214860" cy="135191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5" name="Text 2"/>
          <p:cNvSpPr/>
          <p:nvPr/>
        </p:nvSpPr>
        <p:spPr>
          <a:xfrm>
            <a:off x="-11430" y="-18415"/>
            <a:ext cx="12214860" cy="1351915"/>
          </a:xfrm>
          <a:prstGeom prst="rect">
            <a:avLst/>
          </a:prstGeom>
          <a:noFill/>
          <a:ln/>
        </p:spPr>
        <p:txBody>
          <a:bodyPr wrap="square" lIns="45720" tIns="91440" rIns="91440" bIns="45720" rtlCol="0" anchor="ctr"/>
          <a:lstStyle/>
          <a:p>
            <a:pPr indent="0" marL="0">
              <a:lnSpc>
                <a:spcPct val="100000"/>
              </a:lnSpc>
              <a:buNone/>
            </a:pPr>
            <a:endParaRPr lang="en-US" sz="1600" dirty="0"/>
          </a:p>
        </p:txBody>
      </p:sp>
      <p:sp>
        <p:nvSpPr>
          <p:cNvPr id="6" name="Shape 3"/>
          <p:cNvSpPr/>
          <p:nvPr/>
        </p:nvSpPr>
        <p:spPr>
          <a:xfrm rot="10800000">
            <a:off x="0" y="5347335"/>
            <a:ext cx="12192000" cy="1497965"/>
          </a:xfrm>
          <a:prstGeom prst="rect">
            <a:avLst/>
          </a:prstGeom>
          <a:gradFill rotWithShape="1" flip="none">
            <a:gsLst>
              <a:gs pos="0">
                <a:srgbClr val="FFFFFF"/>
              </a:gs>
              <a:gs pos="86000">
                <a:srgbClr val="FFFFFF">
                  <a:alpha val="0"/>
                </a:srgbClr>
              </a:gs>
              <a:gs pos="100000">
                <a:srgbClr val="FFFFFF">
                  <a:alpha val="0"/>
                </a:srgbClr>
              </a:gs>
            </a:gsLst>
            <a:lin ang="5400000" scaled="1"/>
          </a:gradFill>
          <a:ln/>
        </p:spPr>
      </p:sp>
      <p:sp>
        <p:nvSpPr>
          <p:cNvPr id="7" name="Text 4"/>
          <p:cNvSpPr/>
          <p:nvPr/>
        </p:nvSpPr>
        <p:spPr>
          <a:xfrm rot="10800000">
            <a:off x="0" y="5347335"/>
            <a:ext cx="12192000" cy="1497965"/>
          </a:xfrm>
          <a:prstGeom prst="rect">
            <a:avLst/>
          </a:prstGeom>
          <a:noFill/>
          <a:ln/>
        </p:spPr>
        <p:txBody>
          <a:bodyPr wrap="square" lIns="45720" tIns="91440" rIns="91440" bIns="45720" rtlCol="0" anchor="ctr"/>
          <a:lstStyle/>
          <a:p>
            <a:pPr indent="0" marL="0">
              <a:lnSpc>
                <a:spcPct val="100000"/>
              </a:lnSpc>
              <a:buNone/>
            </a:pP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Khám Phá Android: Tài Nguyên Học Tập Cho Người Mới</dc:title>
  <dc:subject>Khám Phá Android: Tài Nguyên Học Tập Cho Người Mới</dc:subject>
  <dc:creator>Kimi</dc:creator>
  <cp:lastModifiedBy>Kimi</cp:lastModifiedBy>
  <cp:revision>1</cp:revision>
  <dcterms:created xsi:type="dcterms:W3CDTF">2025-09-17T15:10:04Z</dcterms:created>
  <dcterms:modified xsi:type="dcterms:W3CDTF">2025-09-17T15:10:04Z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{"Label":"Khám Phá Android: Tài Nguyên Học Tập Cho Người Mới","ContentProducer":"001191110108MACG2KBH8F10000","ProduceID":"d35a22amvdm1im1rcbdg","ReservedCode1":"","ContentPropagator":"001191110108MACG2KBH8F20000","PropagateID":"d35a22amvdm1im1rcbdg","ReservedCode2":""}</vt:lpwstr>
  </property>
</Properties>
</file>