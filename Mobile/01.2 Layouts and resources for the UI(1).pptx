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embeddedFontLst>
    <p:embeddedFont>
      <p:font typeface="MiSans" charset="-122" pitchFamily="34"/>
      <p:regular r:id="rId4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28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8-d2sjh7m1bb2p4onbq9c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785" y="-635"/>
            <a:ext cx="12263755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93365" y="2157730"/>
            <a:ext cx="8289925" cy="165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 UI: View, Layout &amp; Constraint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1430" y="-18415"/>
            <a:ext cx="12214860" cy="135191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8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-11430" y="-18415"/>
            <a:ext cx="12214860" cy="13519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10800000">
            <a:off x="13335" y="5374005"/>
            <a:ext cx="12192000" cy="149796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8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7" name="Text 4"/>
          <p:cNvSpPr/>
          <p:nvPr/>
        </p:nvSpPr>
        <p:spPr>
          <a:xfrm rot="10800000">
            <a:off x="13335" y="5374005"/>
            <a:ext cx="12192000" cy="14979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38328" y="3928129"/>
            <a:ext cx="4804099" cy="1981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Các thành viên: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23020155-Trần Quang Thành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23020012-Hoàng Quốc Bảo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23020152-Cao Trần Hà Thái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23020125-Nguyễn Đỗ Trọng Nghĩa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23020161-Quách Đức Thiện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2-d2sjh8m1bb2p4onbq9g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080"/>
            <a:ext cx="12192000" cy="68757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699895"/>
            <a:ext cx="12192000" cy="5129530"/>
          </a:xfrm>
          <a:prstGeom prst="rect">
            <a:avLst/>
          </a:prstGeom>
          <a:solidFill>
            <a:srgbClr val="FFFFFF">
              <a:alpha val="6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1699895"/>
            <a:ext cx="12192000" cy="5129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920021" y="731520"/>
            <a:ext cx="4070653" cy="1936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Nội Dung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06575" y="2498090"/>
            <a:ext cx="8297545" cy="5851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Nhập môn View và ViewGroup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4-14:58:33-d2sjh6e1bb2p4onbq9ag.png">    </p:cNvPr>
          <p:cNvPicPr>
            <a:picLocks noChangeAspect="1"/>
          </p:cNvPicPr>
          <p:nvPr/>
        </p:nvPicPr>
        <p:blipFill>
          <a:blip r:embed="rId2"/>
          <a:srcRect l="0" r="0" t="39309" b="44819"/>
          <a:stretch/>
        </p:blipFill>
        <p:spPr>
          <a:xfrm>
            <a:off x="4162108" y="1858051"/>
            <a:ext cx="3586480" cy="5676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06575" y="3345815"/>
            <a:ext cx="8297545" cy="5851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ViewGroup và cây phân cấp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806575" y="4193540"/>
            <a:ext cx="8297545" cy="5851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ConstraintLayout và Layout Editor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06575" y="5041265"/>
            <a:ext cx="8297545" cy="5851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Xử lý sự kiện và tài nguyên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06575" y="5888990"/>
            <a:ext cx="8297545" cy="5851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Tổng kết và định hướng thực hành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4-d2sjh6m1bb2p4onbq9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8:39-d2sjh7u1bb2p4onbq9d0.jp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19005" b="17569"/>
          <a:stretch/>
        </p:blipFill>
        <p:spPr>
          <a:xfrm>
            <a:off x="0" y="1316990"/>
            <a:ext cx="12192000" cy="4321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67155" y="3056890"/>
            <a:ext cx="9475470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Nhập môn View và ViewGroup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107305" y="1623060"/>
            <a:ext cx="2824344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752600"/>
            <a:ext cx="1168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Mọi thứ bạn thấy đều là </a:t>
            </a:r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View 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4130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Mọi thành phần giao diện người dùng trên thiết bị đều là một đối tượng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409700" y="3175000"/>
            <a:ext cx="2921000" cy="1930400"/>
          </a:xfrm>
          <a:custGeom>
            <a:avLst/>
            <a:gdLst/>
            <a:ahLst/>
            <a:cxnLst/>
            <a:rect l="l" t="t" r="r" b="b"/>
            <a:pathLst>
              <a:path w="2921000" h="1930400">
                <a:moveTo>
                  <a:pt x="101597" y="0"/>
                </a:moveTo>
                <a:lnTo>
                  <a:pt x="2819403" y="0"/>
                </a:lnTo>
                <a:cubicBezTo>
                  <a:pt x="2875513" y="0"/>
                  <a:pt x="2921000" y="45487"/>
                  <a:pt x="2921000" y="101597"/>
                </a:cubicBezTo>
                <a:lnTo>
                  <a:pt x="2921000" y="1828803"/>
                </a:lnTo>
                <a:cubicBezTo>
                  <a:pt x="2921000" y="1884913"/>
                  <a:pt x="2875513" y="1930400"/>
                  <a:pt x="28194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6416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4585" y="45274"/>
                </a:moveTo>
                <a:cubicBezTo>
                  <a:pt x="249942" y="35094"/>
                  <a:pt x="239762" y="28575"/>
                  <a:pt x="228600" y="28575"/>
                </a:cubicBezTo>
                <a:cubicBezTo>
                  <a:pt x="217438" y="28575"/>
                  <a:pt x="207258" y="35094"/>
                  <a:pt x="202615" y="45274"/>
                </a:cubicBezTo>
                <a:lnTo>
                  <a:pt x="53132" y="371475"/>
                </a:lnTo>
                <a:lnTo>
                  <a:pt x="42863" y="371475"/>
                </a:lnTo>
                <a:cubicBezTo>
                  <a:pt x="27057" y="371475"/>
                  <a:pt x="14288" y="384244"/>
                  <a:pt x="14288" y="400050"/>
                </a:cubicBezTo>
                <a:cubicBezTo>
                  <a:pt x="14288" y="415856"/>
                  <a:pt x="27057" y="428625"/>
                  <a:pt x="42863" y="428625"/>
                </a:cubicBezTo>
                <a:lnTo>
                  <a:pt x="121444" y="428625"/>
                </a:lnTo>
                <a:cubicBezTo>
                  <a:pt x="137249" y="428625"/>
                  <a:pt x="150019" y="415856"/>
                  <a:pt x="150019" y="400050"/>
                </a:cubicBezTo>
                <a:cubicBezTo>
                  <a:pt x="150019" y="384244"/>
                  <a:pt x="137249" y="371475"/>
                  <a:pt x="121444" y="371475"/>
                </a:cubicBezTo>
                <a:lnTo>
                  <a:pt x="115997" y="371475"/>
                </a:lnTo>
                <a:lnTo>
                  <a:pt x="135642" y="328613"/>
                </a:lnTo>
                <a:lnTo>
                  <a:pt x="321647" y="328613"/>
                </a:lnTo>
                <a:lnTo>
                  <a:pt x="341293" y="371475"/>
                </a:lnTo>
                <a:lnTo>
                  <a:pt x="335846" y="371475"/>
                </a:lnTo>
                <a:cubicBezTo>
                  <a:pt x="320040" y="371475"/>
                  <a:pt x="307271" y="384244"/>
                  <a:pt x="307271" y="400050"/>
                </a:cubicBezTo>
                <a:cubicBezTo>
                  <a:pt x="307271" y="415856"/>
                  <a:pt x="320040" y="428625"/>
                  <a:pt x="335846" y="428625"/>
                </a:cubicBezTo>
                <a:lnTo>
                  <a:pt x="414427" y="428625"/>
                </a:lnTo>
                <a:cubicBezTo>
                  <a:pt x="430232" y="428625"/>
                  <a:pt x="443002" y="415856"/>
                  <a:pt x="443002" y="400050"/>
                </a:cubicBezTo>
                <a:cubicBezTo>
                  <a:pt x="443002" y="384244"/>
                  <a:pt x="430232" y="371475"/>
                  <a:pt x="414427" y="371475"/>
                </a:cubicBezTo>
                <a:lnTo>
                  <a:pt x="404158" y="371475"/>
                </a:lnTo>
                <a:lnTo>
                  <a:pt x="254675" y="45274"/>
                </a:lnTo>
                <a:close/>
                <a:moveTo>
                  <a:pt x="295394" y="271463"/>
                </a:moveTo>
                <a:lnTo>
                  <a:pt x="161806" y="271463"/>
                </a:lnTo>
                <a:lnTo>
                  <a:pt x="228600" y="125730"/>
                </a:lnTo>
                <a:lnTo>
                  <a:pt x="295394" y="271463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7" name="Text 4"/>
          <p:cNvSpPr/>
          <p:nvPr/>
        </p:nvSpPr>
        <p:spPr>
          <a:xfrm>
            <a:off x="2452291" y="42926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Văn bản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16100" y="464820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TextView, EditText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35500" y="3175000"/>
            <a:ext cx="2921000" cy="1930400"/>
          </a:xfrm>
          <a:custGeom>
            <a:avLst/>
            <a:gdLst/>
            <a:ahLst/>
            <a:cxnLst/>
            <a:rect l="l" t="t" r="r" b="b"/>
            <a:pathLst>
              <a:path w="2921000" h="1930400">
                <a:moveTo>
                  <a:pt x="101597" y="0"/>
                </a:moveTo>
                <a:lnTo>
                  <a:pt x="2819403" y="0"/>
                </a:lnTo>
                <a:cubicBezTo>
                  <a:pt x="2875513" y="0"/>
                  <a:pt x="2921000" y="45487"/>
                  <a:pt x="2921000" y="101597"/>
                </a:cubicBezTo>
                <a:lnTo>
                  <a:pt x="2921000" y="1828803"/>
                </a:lnTo>
                <a:cubicBezTo>
                  <a:pt x="2921000" y="1884913"/>
                  <a:pt x="2875513" y="1930400"/>
                  <a:pt x="28194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0" name="Shape 7"/>
          <p:cNvSpPr/>
          <p:nvPr/>
        </p:nvSpPr>
        <p:spPr>
          <a:xfrm>
            <a:off x="5895975" y="355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35719"/>
                </a:moveTo>
                <a:cubicBezTo>
                  <a:pt x="114300" y="15984"/>
                  <a:pt x="130284" y="0"/>
                  <a:pt x="150019" y="0"/>
                </a:cubicBezTo>
                <a:cubicBezTo>
                  <a:pt x="169753" y="0"/>
                  <a:pt x="185738" y="15984"/>
                  <a:pt x="185738" y="35719"/>
                </a:cubicBezTo>
                <a:lnTo>
                  <a:pt x="185738" y="168057"/>
                </a:lnTo>
                <a:cubicBezTo>
                  <a:pt x="193328" y="161270"/>
                  <a:pt x="203329" y="157163"/>
                  <a:pt x="214313" y="157163"/>
                </a:cubicBezTo>
                <a:cubicBezTo>
                  <a:pt x="232708" y="157163"/>
                  <a:pt x="248424" y="168771"/>
                  <a:pt x="254496" y="185023"/>
                </a:cubicBezTo>
                <a:cubicBezTo>
                  <a:pt x="262354" y="176719"/>
                  <a:pt x="273427" y="171450"/>
                  <a:pt x="285750" y="171450"/>
                </a:cubicBezTo>
                <a:cubicBezTo>
                  <a:pt x="308342" y="171450"/>
                  <a:pt x="326827" y="188863"/>
                  <a:pt x="328523" y="211009"/>
                </a:cubicBezTo>
                <a:cubicBezTo>
                  <a:pt x="336113" y="204133"/>
                  <a:pt x="346204" y="200025"/>
                  <a:pt x="357188" y="200025"/>
                </a:cubicBezTo>
                <a:cubicBezTo>
                  <a:pt x="380851" y="200025"/>
                  <a:pt x="400050" y="219224"/>
                  <a:pt x="400050" y="242888"/>
                </a:cubicBezTo>
                <a:lnTo>
                  <a:pt x="400050" y="342900"/>
                </a:lnTo>
                <a:cubicBezTo>
                  <a:pt x="400050" y="406033"/>
                  <a:pt x="348883" y="457200"/>
                  <a:pt x="285750" y="457200"/>
                </a:cubicBezTo>
                <a:lnTo>
                  <a:pt x="209580" y="457200"/>
                </a:lnTo>
                <a:cubicBezTo>
                  <a:pt x="205115" y="457200"/>
                  <a:pt x="200739" y="456932"/>
                  <a:pt x="196453" y="456307"/>
                </a:cubicBezTo>
                <a:cubicBezTo>
                  <a:pt x="147072" y="451306"/>
                  <a:pt x="101620" y="425946"/>
                  <a:pt x="71438" y="385763"/>
                </a:cubicBezTo>
                <a:lnTo>
                  <a:pt x="7144" y="300038"/>
                </a:lnTo>
                <a:cubicBezTo>
                  <a:pt x="-4733" y="284232"/>
                  <a:pt x="-1518" y="261908"/>
                  <a:pt x="14288" y="250031"/>
                </a:cubicBezTo>
                <a:cubicBezTo>
                  <a:pt x="30093" y="238155"/>
                  <a:pt x="52417" y="241369"/>
                  <a:pt x="64294" y="257175"/>
                </a:cubicBezTo>
                <a:lnTo>
                  <a:pt x="114300" y="323880"/>
                </a:lnTo>
                <a:lnTo>
                  <a:pt x="114300" y="35719"/>
                </a:lnTo>
                <a:close/>
                <a:moveTo>
                  <a:pt x="214313" y="271463"/>
                </a:moveTo>
                <a:cubicBezTo>
                  <a:pt x="214313" y="263604"/>
                  <a:pt x="207883" y="257175"/>
                  <a:pt x="200025" y="257175"/>
                </a:cubicBezTo>
                <a:cubicBezTo>
                  <a:pt x="192167" y="257175"/>
                  <a:pt x="185738" y="263604"/>
                  <a:pt x="185738" y="271463"/>
                </a:cubicBezTo>
                <a:lnTo>
                  <a:pt x="185738" y="357188"/>
                </a:lnTo>
                <a:cubicBezTo>
                  <a:pt x="185738" y="365046"/>
                  <a:pt x="192167" y="371475"/>
                  <a:pt x="200025" y="371475"/>
                </a:cubicBezTo>
                <a:cubicBezTo>
                  <a:pt x="207883" y="371475"/>
                  <a:pt x="214313" y="365046"/>
                  <a:pt x="214313" y="357188"/>
                </a:cubicBezTo>
                <a:lnTo>
                  <a:pt x="214313" y="271463"/>
                </a:lnTo>
                <a:close/>
                <a:moveTo>
                  <a:pt x="257175" y="257175"/>
                </a:moveTo>
                <a:cubicBezTo>
                  <a:pt x="249317" y="257175"/>
                  <a:pt x="242888" y="263604"/>
                  <a:pt x="242888" y="271463"/>
                </a:cubicBezTo>
                <a:lnTo>
                  <a:pt x="242888" y="357188"/>
                </a:lnTo>
                <a:cubicBezTo>
                  <a:pt x="242888" y="365046"/>
                  <a:pt x="249317" y="371475"/>
                  <a:pt x="257175" y="371475"/>
                </a:cubicBezTo>
                <a:cubicBezTo>
                  <a:pt x="265033" y="371475"/>
                  <a:pt x="271463" y="365046"/>
                  <a:pt x="271463" y="357188"/>
                </a:cubicBezTo>
                <a:lnTo>
                  <a:pt x="271463" y="271463"/>
                </a:lnTo>
                <a:cubicBezTo>
                  <a:pt x="271463" y="263604"/>
                  <a:pt x="265033" y="257175"/>
                  <a:pt x="257175" y="257175"/>
                </a:cubicBezTo>
                <a:close/>
                <a:moveTo>
                  <a:pt x="328613" y="271463"/>
                </a:moveTo>
                <a:cubicBezTo>
                  <a:pt x="328613" y="263604"/>
                  <a:pt x="322183" y="257175"/>
                  <a:pt x="314325" y="257175"/>
                </a:cubicBezTo>
                <a:cubicBezTo>
                  <a:pt x="306467" y="257175"/>
                  <a:pt x="300038" y="263604"/>
                  <a:pt x="300038" y="271463"/>
                </a:cubicBezTo>
                <a:lnTo>
                  <a:pt x="300038" y="357188"/>
                </a:lnTo>
                <a:cubicBezTo>
                  <a:pt x="300038" y="365046"/>
                  <a:pt x="306467" y="371475"/>
                  <a:pt x="314325" y="371475"/>
                </a:cubicBezTo>
                <a:cubicBezTo>
                  <a:pt x="322183" y="371475"/>
                  <a:pt x="328613" y="365046"/>
                  <a:pt x="328613" y="357188"/>
                </a:cubicBezTo>
                <a:lnTo>
                  <a:pt x="328613" y="271463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1" name="Text 8"/>
          <p:cNvSpPr/>
          <p:nvPr/>
        </p:nvSpPr>
        <p:spPr>
          <a:xfrm>
            <a:off x="5550495" y="4292600"/>
            <a:ext cx="160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Tương tác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30800" y="46482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Button, CheckBox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61300" y="3175000"/>
            <a:ext cx="2921000" cy="1930400"/>
          </a:xfrm>
          <a:custGeom>
            <a:avLst/>
            <a:gdLst/>
            <a:ahLst/>
            <a:cxnLst/>
            <a:rect l="l" t="t" r="r" b="b"/>
            <a:pathLst>
              <a:path w="2921000" h="1930400">
                <a:moveTo>
                  <a:pt x="101597" y="0"/>
                </a:moveTo>
                <a:lnTo>
                  <a:pt x="2819403" y="0"/>
                </a:lnTo>
                <a:cubicBezTo>
                  <a:pt x="2875513" y="0"/>
                  <a:pt x="2921000" y="45487"/>
                  <a:pt x="2921000" y="101597"/>
                </a:cubicBezTo>
                <a:lnTo>
                  <a:pt x="2921000" y="1828803"/>
                </a:lnTo>
                <a:cubicBezTo>
                  <a:pt x="2921000" y="1884913"/>
                  <a:pt x="2875513" y="1930400"/>
                  <a:pt x="28194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121775" y="355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114300" y="100013"/>
                </a:moveTo>
                <a:cubicBezTo>
                  <a:pt x="137956" y="100013"/>
                  <a:pt x="157163" y="119219"/>
                  <a:pt x="157163" y="142875"/>
                </a:cubicBezTo>
                <a:cubicBezTo>
                  <a:pt x="157163" y="166531"/>
                  <a:pt x="137956" y="185738"/>
                  <a:pt x="114300" y="185738"/>
                </a:cubicBezTo>
                <a:cubicBezTo>
                  <a:pt x="90644" y="185738"/>
                  <a:pt x="71438" y="166531"/>
                  <a:pt x="71438" y="142875"/>
                </a:cubicBezTo>
                <a:cubicBezTo>
                  <a:pt x="71438" y="119219"/>
                  <a:pt x="90644" y="100013"/>
                  <a:pt x="114300" y="100013"/>
                </a:cubicBezTo>
                <a:close/>
                <a:moveTo>
                  <a:pt x="242888" y="200025"/>
                </a:moveTo>
                <a:cubicBezTo>
                  <a:pt x="250388" y="200025"/>
                  <a:pt x="257264" y="203954"/>
                  <a:pt x="261193" y="210294"/>
                </a:cubicBezTo>
                <a:lnTo>
                  <a:pt x="339775" y="338882"/>
                </a:lnTo>
                <a:cubicBezTo>
                  <a:pt x="343793" y="345490"/>
                  <a:pt x="343972" y="353794"/>
                  <a:pt x="340221" y="360581"/>
                </a:cubicBezTo>
                <a:cubicBezTo>
                  <a:pt x="336471" y="367367"/>
                  <a:pt x="329238" y="371475"/>
                  <a:pt x="321469" y="371475"/>
                </a:cubicBezTo>
                <a:lnTo>
                  <a:pt x="78581" y="371475"/>
                </a:lnTo>
                <a:cubicBezTo>
                  <a:pt x="70634" y="371475"/>
                  <a:pt x="63222" y="367010"/>
                  <a:pt x="59561" y="359956"/>
                </a:cubicBezTo>
                <a:cubicBezTo>
                  <a:pt x="55900" y="352901"/>
                  <a:pt x="56436" y="344329"/>
                  <a:pt x="60990" y="337810"/>
                </a:cubicBezTo>
                <a:lnTo>
                  <a:pt x="110996" y="266373"/>
                </a:lnTo>
                <a:cubicBezTo>
                  <a:pt x="115014" y="260658"/>
                  <a:pt x="121533" y="257264"/>
                  <a:pt x="128588" y="257264"/>
                </a:cubicBezTo>
                <a:cubicBezTo>
                  <a:pt x="135642" y="257264"/>
                  <a:pt x="142161" y="260658"/>
                  <a:pt x="146179" y="266373"/>
                </a:cubicBezTo>
                <a:lnTo>
                  <a:pt x="169753" y="300127"/>
                </a:lnTo>
                <a:lnTo>
                  <a:pt x="224582" y="210383"/>
                </a:lnTo>
                <a:cubicBezTo>
                  <a:pt x="228511" y="204043"/>
                  <a:pt x="235387" y="200114"/>
                  <a:pt x="242888" y="200114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5" name="Text 12"/>
          <p:cNvSpPr/>
          <p:nvPr/>
        </p:nvSpPr>
        <p:spPr>
          <a:xfrm>
            <a:off x="8885238" y="4292600"/>
            <a:ext cx="13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Hiển thị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5450" y="4648200"/>
            <a:ext cx="255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ImageView, RecyclerView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16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 là gì và có thể làm gì?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879600"/>
            <a:ext cx="5689600" cy="1270000"/>
          </a:xfrm>
          <a:custGeom>
            <a:avLst/>
            <a:gdLst/>
            <a:ahLst/>
            <a:cxnLst/>
            <a:rect l="l" t="t" r="r" b="b"/>
            <a:pathLst>
              <a:path w="5689600" h="127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168400"/>
                </a:lnTo>
                <a:cubicBezTo>
                  <a:pt x="5689600" y="1224475"/>
                  <a:pt x="5644075" y="1270000"/>
                  <a:pt x="558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828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Là khối xây dựng cơ bản của giao diện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4384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Mọi lớp con của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đều có vai trò hiển thị hoặc tương tác.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352800"/>
            <a:ext cx="5689600" cy="1016000"/>
          </a:xfrm>
          <a:custGeom>
            <a:avLst/>
            <a:gdLst/>
            <a:ahLst/>
            <a:cxnLst/>
            <a:rect l="l" t="t" r="r" b="b"/>
            <a:pathLst>
              <a:path w="5689600" h="1016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5560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Hiển thị và chỉnh sửa văn bản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911600"/>
            <a:ext cx="528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Dùng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TextView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để hiển thị và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EditText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để nhập liệu.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4572000"/>
            <a:ext cx="5689600" cy="1270000"/>
          </a:xfrm>
          <a:custGeom>
            <a:avLst/>
            <a:gdLst/>
            <a:ahLst/>
            <a:cxnLst/>
            <a:rect l="l" t="t" r="r" b="b"/>
            <a:pathLst>
              <a:path w="5689600" h="127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168400"/>
                </a:lnTo>
                <a:cubicBezTo>
                  <a:pt x="5689600" y="1224475"/>
                  <a:pt x="5644075" y="1270000"/>
                  <a:pt x="558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7752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Phản hồi tương tác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51308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Các điều khiển như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CheckBox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cho phép người dùng tác động.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48400" y="1879600"/>
            <a:ext cx="5689600" cy="1016000"/>
          </a:xfrm>
          <a:custGeom>
            <a:avLst/>
            <a:gdLst/>
            <a:ahLst/>
            <a:cxnLst/>
            <a:rect l="l" t="t" r="r" b="b"/>
            <a:pathLst>
              <a:path w="5689600" h="1016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4" name="Text 11"/>
          <p:cNvSpPr/>
          <p:nvPr/>
        </p:nvSpPr>
        <p:spPr>
          <a:xfrm>
            <a:off x="6451600" y="20828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Cuộn nội dung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51600" y="2438400"/>
            <a:ext cx="528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ScrollView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và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RecyclerView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giúp hiển thị nội dung lớn.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48400" y="3098800"/>
            <a:ext cx="5689600" cy="1016000"/>
          </a:xfrm>
          <a:custGeom>
            <a:avLst/>
            <a:gdLst/>
            <a:ahLst/>
            <a:cxnLst/>
            <a:rect l="l" t="t" r="r" b="b"/>
            <a:pathLst>
              <a:path w="5689600" h="1016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914400"/>
                </a:lnTo>
                <a:cubicBezTo>
                  <a:pt x="5689600" y="970475"/>
                  <a:pt x="5644075" y="1016000"/>
                  <a:pt x="5588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51600" y="33020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Hiển thị hình ảnh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51600" y="3657600"/>
            <a:ext cx="528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ImageView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dùng để hiển thị các loại hình ảnh.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48400" y="4318000"/>
            <a:ext cx="5689600" cy="1270000"/>
          </a:xfrm>
          <a:custGeom>
            <a:avLst/>
            <a:gdLst/>
            <a:ahLst/>
            <a:cxnLst/>
            <a:rect l="l" t="t" r="r" b="b"/>
            <a:pathLst>
              <a:path w="5689600" h="127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168400"/>
                </a:lnTo>
                <a:cubicBezTo>
                  <a:pt x="5689600" y="1224475"/>
                  <a:pt x="5644075" y="1270000"/>
                  <a:pt x="558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20" name="Text 17"/>
          <p:cNvSpPr/>
          <p:nvPr/>
        </p:nvSpPr>
        <p:spPr>
          <a:xfrm>
            <a:off x="6451600" y="45212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Tổ chức bố cục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51600" y="48768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ConstraintLayout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và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LinearLayout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dùng để nhóm và sắp xếp các View.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03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Thuộc tính cơ bản của View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768600"/>
            <a:ext cx="3695700" cy="1117600"/>
          </a:xfrm>
          <a:custGeom>
            <a:avLst/>
            <a:gdLst/>
            <a:ahLst/>
            <a:cxnLst/>
            <a:rect l="l" t="t" r="r" b="b"/>
            <a:pathLst>
              <a:path w="3695700" h="1117600">
                <a:moveTo>
                  <a:pt x="101601" y="0"/>
                </a:moveTo>
                <a:lnTo>
                  <a:pt x="3594099" y="0"/>
                </a:lnTo>
                <a:cubicBezTo>
                  <a:pt x="3650212" y="0"/>
                  <a:pt x="3695700" y="45488"/>
                  <a:pt x="3695700" y="101601"/>
                </a:cubicBezTo>
                <a:lnTo>
                  <a:pt x="3695700" y="1015999"/>
                </a:lnTo>
                <a:cubicBezTo>
                  <a:pt x="3695700" y="1072112"/>
                  <a:pt x="3650212" y="1117600"/>
                  <a:pt x="35940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297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965200" y="2921000"/>
            <a:ext cx="308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Màu sắc, kích thước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200" y="3225800"/>
            <a:ext cx="308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Định hình diện mạo trực quan.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50134" y="2768600"/>
            <a:ext cx="3695700" cy="1117600"/>
          </a:xfrm>
          <a:custGeom>
            <a:avLst/>
            <a:gdLst/>
            <a:ahLst/>
            <a:cxnLst/>
            <a:rect l="l" t="t" r="r" b="b"/>
            <a:pathLst>
              <a:path w="3695700" h="1117600">
                <a:moveTo>
                  <a:pt x="101601" y="0"/>
                </a:moveTo>
                <a:lnTo>
                  <a:pt x="3594099" y="0"/>
                </a:lnTo>
                <a:cubicBezTo>
                  <a:pt x="3650212" y="0"/>
                  <a:pt x="3695700" y="45488"/>
                  <a:pt x="3695700" y="101601"/>
                </a:cubicBezTo>
                <a:lnTo>
                  <a:pt x="3695700" y="1015999"/>
                </a:lnTo>
                <a:cubicBezTo>
                  <a:pt x="3695700" y="1072112"/>
                  <a:pt x="3650212" y="1117600"/>
                  <a:pt x="35940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Shape 6"/>
          <p:cNvSpPr/>
          <p:nvPr/>
        </p:nvSpPr>
        <p:spPr>
          <a:xfrm>
            <a:off x="4434284" y="2971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0" name="Text 7"/>
          <p:cNvSpPr/>
          <p:nvPr/>
        </p:nvSpPr>
        <p:spPr>
          <a:xfrm>
            <a:off x="4961334" y="2921000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Định vị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61334" y="3225800"/>
            <a:ext cx="303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Xác định vị trí trong layout.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46467" y="2768600"/>
            <a:ext cx="3695700" cy="1117600"/>
          </a:xfrm>
          <a:custGeom>
            <a:avLst/>
            <a:gdLst/>
            <a:ahLst/>
            <a:cxnLst/>
            <a:rect l="l" t="t" r="r" b="b"/>
            <a:pathLst>
              <a:path w="3695700" h="1117600">
                <a:moveTo>
                  <a:pt x="101601" y="0"/>
                </a:moveTo>
                <a:lnTo>
                  <a:pt x="3594099" y="0"/>
                </a:lnTo>
                <a:cubicBezTo>
                  <a:pt x="3650212" y="0"/>
                  <a:pt x="3695700" y="45488"/>
                  <a:pt x="3695700" y="101601"/>
                </a:cubicBezTo>
                <a:lnTo>
                  <a:pt x="3695700" y="1015999"/>
                </a:lnTo>
                <a:cubicBezTo>
                  <a:pt x="3695700" y="1072112"/>
                  <a:pt x="3650212" y="1117600"/>
                  <a:pt x="35940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458398" y="2971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6018" y="1488"/>
                </a:moveTo>
                <a:cubicBezTo>
                  <a:pt x="50840" y="-952"/>
                  <a:pt x="56674" y="-417"/>
                  <a:pt x="60960" y="2858"/>
                </a:cubicBezTo>
                <a:lnTo>
                  <a:pt x="251460" y="145673"/>
                </a:lnTo>
                <a:cubicBezTo>
                  <a:pt x="256401" y="149364"/>
                  <a:pt x="258366" y="155793"/>
                  <a:pt x="256461" y="161627"/>
                </a:cubicBezTo>
                <a:cubicBezTo>
                  <a:pt x="254556" y="167461"/>
                  <a:pt x="249079" y="171390"/>
                  <a:pt x="242888" y="171390"/>
                </a:cubicBezTo>
                <a:lnTo>
                  <a:pt x="152221" y="171390"/>
                </a:lnTo>
                <a:lnTo>
                  <a:pt x="205145" y="277178"/>
                </a:lnTo>
                <a:cubicBezTo>
                  <a:pt x="209848" y="286583"/>
                  <a:pt x="206038" y="298013"/>
                  <a:pt x="196632" y="302716"/>
                </a:cubicBezTo>
                <a:cubicBezTo>
                  <a:pt x="187226" y="307419"/>
                  <a:pt x="175796" y="303609"/>
                  <a:pt x="171093" y="294203"/>
                </a:cubicBezTo>
                <a:lnTo>
                  <a:pt x="118170" y="188416"/>
                </a:lnTo>
                <a:lnTo>
                  <a:pt x="63817" y="260925"/>
                </a:lnTo>
                <a:cubicBezTo>
                  <a:pt x="60127" y="265867"/>
                  <a:pt x="53697" y="267831"/>
                  <a:pt x="47863" y="265926"/>
                </a:cubicBezTo>
                <a:cubicBezTo>
                  <a:pt x="42029" y="264021"/>
                  <a:pt x="38100" y="258544"/>
                  <a:pt x="38100" y="252413"/>
                </a:cubicBezTo>
                <a:lnTo>
                  <a:pt x="38100" y="14288"/>
                </a:lnTo>
                <a:cubicBezTo>
                  <a:pt x="38100" y="8870"/>
                  <a:pt x="41136" y="3929"/>
                  <a:pt x="46018" y="1488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4" name="Text 11"/>
          <p:cNvSpPr/>
          <p:nvPr/>
        </p:nvSpPr>
        <p:spPr>
          <a:xfrm>
            <a:off x="8937228" y="29210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Focus, tương tác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37228" y="3225800"/>
            <a:ext cx="2844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Khả năng nhận dữ liệu và phản hồi.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4191000"/>
            <a:ext cx="3695700" cy="863600"/>
          </a:xfrm>
          <a:custGeom>
            <a:avLst/>
            <a:gdLst/>
            <a:ahLst/>
            <a:cxnLst/>
            <a:rect l="l" t="t" r="r" b="b"/>
            <a:pathLst>
              <a:path w="3695700" h="863600">
                <a:moveTo>
                  <a:pt x="101603" y="0"/>
                </a:moveTo>
                <a:lnTo>
                  <a:pt x="3594097" y="0"/>
                </a:lnTo>
                <a:cubicBezTo>
                  <a:pt x="3650211" y="0"/>
                  <a:pt x="3695700" y="45489"/>
                  <a:pt x="3695700" y="101603"/>
                </a:cubicBezTo>
                <a:lnTo>
                  <a:pt x="3695700" y="761997"/>
                </a:lnTo>
                <a:cubicBezTo>
                  <a:pt x="3695700" y="818111"/>
                  <a:pt x="3650211" y="863600"/>
                  <a:pt x="35940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7" name="Shape 14"/>
          <p:cNvSpPr/>
          <p:nvPr/>
        </p:nvSpPr>
        <p:spPr>
          <a:xfrm>
            <a:off x="438150" y="4394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8" name="Text 15"/>
          <p:cNvSpPr/>
          <p:nvPr/>
        </p:nvSpPr>
        <p:spPr>
          <a:xfrm>
            <a:off x="965200" y="434340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Trạng thái ẩn/hiện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5200" y="4648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Điều khiển khả năng nhìn thấy.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50134" y="4191000"/>
            <a:ext cx="3695700" cy="863600"/>
          </a:xfrm>
          <a:custGeom>
            <a:avLst/>
            <a:gdLst/>
            <a:ahLst/>
            <a:cxnLst/>
            <a:rect l="l" t="t" r="r" b="b"/>
            <a:pathLst>
              <a:path w="3695700" h="863600">
                <a:moveTo>
                  <a:pt x="101603" y="0"/>
                </a:moveTo>
                <a:lnTo>
                  <a:pt x="3594097" y="0"/>
                </a:lnTo>
                <a:cubicBezTo>
                  <a:pt x="3650211" y="0"/>
                  <a:pt x="3695700" y="45489"/>
                  <a:pt x="3695700" y="101603"/>
                </a:cubicBezTo>
                <a:lnTo>
                  <a:pt x="3695700" y="761997"/>
                </a:lnTo>
                <a:cubicBezTo>
                  <a:pt x="3695700" y="818111"/>
                  <a:pt x="3650211" y="863600"/>
                  <a:pt x="35940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453334" y="439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22" name="Text 19"/>
          <p:cNvSpPr/>
          <p:nvPr/>
        </p:nvSpPr>
        <p:spPr>
          <a:xfrm>
            <a:off x="4961334" y="4343400"/>
            <a:ext cx="308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 hệ với View khác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961334" y="4648200"/>
            <a:ext cx="308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Tương tác trong cây phân cấp.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701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 cách tạo View thông dụng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591667" y="2768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001242" y="3149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69026" y="2232"/>
                </a:moveTo>
                <a:cubicBezTo>
                  <a:pt x="76260" y="-1429"/>
                  <a:pt x="85011" y="-625"/>
                  <a:pt x="91440" y="4286"/>
                </a:cubicBezTo>
                <a:lnTo>
                  <a:pt x="377190" y="218509"/>
                </a:lnTo>
                <a:cubicBezTo>
                  <a:pt x="384602" y="224046"/>
                  <a:pt x="387548" y="233690"/>
                  <a:pt x="384691" y="242441"/>
                </a:cubicBezTo>
                <a:cubicBezTo>
                  <a:pt x="381833" y="251192"/>
                  <a:pt x="373618" y="257086"/>
                  <a:pt x="364331" y="257086"/>
                </a:cubicBezTo>
                <a:lnTo>
                  <a:pt x="228332" y="257086"/>
                </a:lnTo>
                <a:lnTo>
                  <a:pt x="307717" y="415766"/>
                </a:lnTo>
                <a:cubicBezTo>
                  <a:pt x="314771" y="429875"/>
                  <a:pt x="309056" y="447020"/>
                  <a:pt x="294948" y="454075"/>
                </a:cubicBezTo>
                <a:cubicBezTo>
                  <a:pt x="280839" y="461129"/>
                  <a:pt x="263694" y="455414"/>
                  <a:pt x="256639" y="441305"/>
                </a:cubicBezTo>
                <a:lnTo>
                  <a:pt x="177254" y="282625"/>
                </a:lnTo>
                <a:lnTo>
                  <a:pt x="95726" y="391388"/>
                </a:lnTo>
                <a:cubicBezTo>
                  <a:pt x="90190" y="398800"/>
                  <a:pt x="80546" y="401747"/>
                  <a:pt x="71795" y="398889"/>
                </a:cubicBezTo>
                <a:cubicBezTo>
                  <a:pt x="63044" y="396032"/>
                  <a:pt x="57150" y="387816"/>
                  <a:pt x="57150" y="378619"/>
                </a:cubicBezTo>
                <a:lnTo>
                  <a:pt x="57150" y="21431"/>
                </a:lnTo>
                <a:cubicBezTo>
                  <a:pt x="57150" y="13305"/>
                  <a:pt x="61704" y="5894"/>
                  <a:pt x="69026" y="2232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665956" y="4140200"/>
            <a:ext cx="307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Trình chỉnh sửa Layout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0508" y="4495800"/>
            <a:ext cx="326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Kéo thả trực quan, nhanh chóng.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202" y="3175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Shape 6"/>
          <p:cNvSpPr/>
          <p:nvPr/>
        </p:nvSpPr>
        <p:spPr>
          <a:xfrm>
            <a:off x="5838627" y="3556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0" name="Text 7"/>
          <p:cNvSpPr/>
          <p:nvPr/>
        </p:nvSpPr>
        <p:spPr>
          <a:xfrm>
            <a:off x="5368925" y="4546600"/>
            <a:ext cx="144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XML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83695" y="49022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Kiểm soát chi tiết, dễ bảo trì.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380736" y="2768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818886" y="3149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48067" y="279410"/>
                </a:moveTo>
                <a:cubicBezTo>
                  <a:pt x="256818" y="273427"/>
                  <a:pt x="268962" y="268248"/>
                  <a:pt x="268962" y="268248"/>
                </a:cubicBezTo>
                <a:cubicBezTo>
                  <a:pt x="268962" y="268248"/>
                  <a:pt x="234404" y="274499"/>
                  <a:pt x="200025" y="277356"/>
                </a:cubicBezTo>
                <a:cubicBezTo>
                  <a:pt x="157966" y="280839"/>
                  <a:pt x="112782" y="281553"/>
                  <a:pt x="90101" y="278517"/>
                </a:cubicBezTo>
                <a:cubicBezTo>
                  <a:pt x="36433" y="271373"/>
                  <a:pt x="119569" y="251639"/>
                  <a:pt x="119569" y="251639"/>
                </a:cubicBezTo>
                <a:cubicBezTo>
                  <a:pt x="119569" y="251639"/>
                  <a:pt x="87332" y="249495"/>
                  <a:pt x="47595" y="268605"/>
                </a:cubicBezTo>
                <a:cubicBezTo>
                  <a:pt x="714" y="291286"/>
                  <a:pt x="163681" y="301645"/>
                  <a:pt x="248067" y="279410"/>
                </a:cubicBezTo>
                <a:close/>
                <a:moveTo>
                  <a:pt x="171807" y="250746"/>
                </a:moveTo>
                <a:cubicBezTo>
                  <a:pt x="154841" y="212616"/>
                  <a:pt x="97601" y="179130"/>
                  <a:pt x="171807" y="120551"/>
                </a:cubicBezTo>
                <a:cubicBezTo>
                  <a:pt x="264408" y="47506"/>
                  <a:pt x="216902" y="0"/>
                  <a:pt x="216902" y="0"/>
                </a:cubicBezTo>
                <a:cubicBezTo>
                  <a:pt x="236101" y="75456"/>
                  <a:pt x="149394" y="98316"/>
                  <a:pt x="118050" y="145197"/>
                </a:cubicBezTo>
                <a:cubicBezTo>
                  <a:pt x="96709" y="177254"/>
                  <a:pt x="128498" y="211634"/>
                  <a:pt x="171807" y="250746"/>
                </a:cubicBezTo>
                <a:close/>
                <a:moveTo>
                  <a:pt x="274141" y="93405"/>
                </a:moveTo>
                <a:cubicBezTo>
                  <a:pt x="274231" y="93405"/>
                  <a:pt x="117693" y="132517"/>
                  <a:pt x="192435" y="218599"/>
                </a:cubicBezTo>
                <a:cubicBezTo>
                  <a:pt x="214491" y="243959"/>
                  <a:pt x="186630" y="266819"/>
                  <a:pt x="186630" y="266819"/>
                </a:cubicBezTo>
                <a:cubicBezTo>
                  <a:pt x="186630" y="266819"/>
                  <a:pt x="242620" y="237887"/>
                  <a:pt x="216902" y="201722"/>
                </a:cubicBezTo>
                <a:cubicBezTo>
                  <a:pt x="192881" y="167967"/>
                  <a:pt x="174486" y="151180"/>
                  <a:pt x="274141" y="93405"/>
                </a:cubicBezTo>
                <a:close/>
                <a:moveTo>
                  <a:pt x="268694" y="334953"/>
                </a:moveTo>
                <a:cubicBezTo>
                  <a:pt x="268248" y="335846"/>
                  <a:pt x="267623" y="336560"/>
                  <a:pt x="266908" y="337274"/>
                </a:cubicBezTo>
                <a:cubicBezTo>
                  <a:pt x="381476" y="307181"/>
                  <a:pt x="339328" y="231100"/>
                  <a:pt x="284589" y="250388"/>
                </a:cubicBezTo>
                <a:cubicBezTo>
                  <a:pt x="281642" y="251460"/>
                  <a:pt x="279053" y="253425"/>
                  <a:pt x="277267" y="256014"/>
                </a:cubicBezTo>
                <a:cubicBezTo>
                  <a:pt x="280481" y="254853"/>
                  <a:pt x="283785" y="253960"/>
                  <a:pt x="287089" y="253335"/>
                </a:cubicBezTo>
                <a:cubicBezTo>
                  <a:pt x="314771" y="247531"/>
                  <a:pt x="354509" y="290393"/>
                  <a:pt x="268694" y="334953"/>
                </a:cubicBezTo>
                <a:close/>
                <a:moveTo>
                  <a:pt x="310753" y="390585"/>
                </a:moveTo>
                <a:cubicBezTo>
                  <a:pt x="310753" y="390585"/>
                  <a:pt x="323701" y="401211"/>
                  <a:pt x="296555" y="409515"/>
                </a:cubicBezTo>
                <a:cubicBezTo>
                  <a:pt x="244852" y="425142"/>
                  <a:pt x="81528" y="429875"/>
                  <a:pt x="36165" y="410141"/>
                </a:cubicBezTo>
                <a:cubicBezTo>
                  <a:pt x="19824" y="403086"/>
                  <a:pt x="50453" y="393174"/>
                  <a:pt x="60097" y="391120"/>
                </a:cubicBezTo>
                <a:cubicBezTo>
                  <a:pt x="70098" y="388977"/>
                  <a:pt x="75902" y="389334"/>
                  <a:pt x="75902" y="389334"/>
                </a:cubicBezTo>
                <a:cubicBezTo>
                  <a:pt x="57775" y="376565"/>
                  <a:pt x="-41344" y="414427"/>
                  <a:pt x="25539" y="425232"/>
                </a:cubicBezTo>
                <a:cubicBezTo>
                  <a:pt x="207883" y="454878"/>
                  <a:pt x="358080" y="411926"/>
                  <a:pt x="310753" y="390585"/>
                </a:cubicBezTo>
                <a:close/>
                <a:moveTo>
                  <a:pt x="111175" y="353616"/>
                </a:moveTo>
                <a:cubicBezTo>
                  <a:pt x="40898" y="373261"/>
                  <a:pt x="153948" y="413802"/>
                  <a:pt x="243423" y="375493"/>
                </a:cubicBezTo>
                <a:cubicBezTo>
                  <a:pt x="234672" y="372100"/>
                  <a:pt x="226278" y="367992"/>
                  <a:pt x="218242" y="363170"/>
                </a:cubicBezTo>
                <a:cubicBezTo>
                  <a:pt x="178326" y="370761"/>
                  <a:pt x="159841" y="371296"/>
                  <a:pt x="123587" y="367189"/>
                </a:cubicBezTo>
                <a:cubicBezTo>
                  <a:pt x="93672" y="363795"/>
                  <a:pt x="111175" y="353616"/>
                  <a:pt x="111175" y="353616"/>
                </a:cubicBezTo>
                <a:close/>
                <a:moveTo>
                  <a:pt x="271730" y="440412"/>
                </a:moveTo>
                <a:cubicBezTo>
                  <a:pt x="201454" y="453628"/>
                  <a:pt x="114746" y="452110"/>
                  <a:pt x="63401" y="443627"/>
                </a:cubicBezTo>
                <a:cubicBezTo>
                  <a:pt x="63401" y="443538"/>
                  <a:pt x="73938" y="452289"/>
                  <a:pt x="128052" y="455771"/>
                </a:cubicBezTo>
                <a:cubicBezTo>
                  <a:pt x="210383" y="461040"/>
                  <a:pt x="336828" y="452824"/>
                  <a:pt x="339775" y="413891"/>
                </a:cubicBezTo>
                <a:cubicBezTo>
                  <a:pt x="339775" y="413891"/>
                  <a:pt x="334060" y="428625"/>
                  <a:pt x="271730" y="440412"/>
                </a:cubicBezTo>
                <a:close/>
                <a:moveTo>
                  <a:pt x="232797" y="315218"/>
                </a:moveTo>
                <a:cubicBezTo>
                  <a:pt x="179933" y="325398"/>
                  <a:pt x="149304" y="325130"/>
                  <a:pt x="110639" y="321112"/>
                </a:cubicBezTo>
                <a:cubicBezTo>
                  <a:pt x="80724" y="317986"/>
                  <a:pt x="100280" y="303520"/>
                  <a:pt x="100280" y="303520"/>
                </a:cubicBezTo>
                <a:cubicBezTo>
                  <a:pt x="22771" y="329238"/>
                  <a:pt x="143321" y="358348"/>
                  <a:pt x="251639" y="326648"/>
                </a:cubicBezTo>
                <a:cubicBezTo>
                  <a:pt x="244673" y="324148"/>
                  <a:pt x="238244" y="320308"/>
                  <a:pt x="232797" y="315218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4" name="Text 11"/>
          <p:cNvSpPr/>
          <p:nvPr/>
        </p:nvSpPr>
        <p:spPr>
          <a:xfrm>
            <a:off x="9204127" y="4140200"/>
            <a:ext cx="15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Java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49667" y="4495800"/>
            <a:ext cx="308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động, linh hoạt khi chạy.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8585" y="-31750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8400" y="254000"/>
            <a:ext cx="619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Trình chỉnh sửa layout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248400" y="914400"/>
            <a:ext cx="568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Giao diện trực quan trong Android Studio giúp bạn thiết kế UI mà không cần viết code.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69660" y="329446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101957"/>
                  <a:pt x="203200" y="102314"/>
                  <a:pt x="203200" y="102672"/>
                </a:cubicBezTo>
                <a:cubicBezTo>
                  <a:pt x="203041" y="117157"/>
                  <a:pt x="189865" y="127000"/>
                  <a:pt x="175379" y="127000"/>
                </a:cubicBezTo>
                <a:lnTo>
                  <a:pt x="136525" y="127000"/>
                </a:lnTo>
                <a:cubicBezTo>
                  <a:pt x="126008" y="127000"/>
                  <a:pt x="117475" y="135533"/>
                  <a:pt x="117475" y="146050"/>
                </a:cubicBezTo>
                <a:cubicBezTo>
                  <a:pt x="117475" y="147399"/>
                  <a:pt x="117634" y="148709"/>
                  <a:pt x="117872" y="149979"/>
                </a:cubicBezTo>
                <a:cubicBezTo>
                  <a:pt x="118705" y="154027"/>
                  <a:pt x="120452" y="157917"/>
                  <a:pt x="122158" y="161846"/>
                </a:cubicBezTo>
                <a:cubicBezTo>
                  <a:pt x="124579" y="167323"/>
                  <a:pt x="126960" y="172760"/>
                  <a:pt x="126960" y="178514"/>
                </a:cubicBezTo>
                <a:cubicBezTo>
                  <a:pt x="126960" y="191135"/>
                  <a:pt x="118388" y="202605"/>
                  <a:pt x="105767" y="203121"/>
                </a:cubicBezTo>
                <a:cubicBezTo>
                  <a:pt x="104378" y="203160"/>
                  <a:pt x="102989" y="203200"/>
                  <a:pt x="101560" y="203200"/>
                </a:cubicBezTo>
                <a:cubicBezTo>
                  <a:pt x="45442" y="203200"/>
                  <a:pt x="-40" y="157718"/>
                  <a:pt x="-40" y="101600"/>
                </a:cubicBezTo>
                <a:cubicBezTo>
                  <a:pt x="-40" y="45482"/>
                  <a:pt x="45482" y="0"/>
                  <a:pt x="101600" y="0"/>
                </a:cubicBezTo>
                <a:cubicBezTo>
                  <a:pt x="157718" y="0"/>
                  <a:pt x="203200" y="45482"/>
                  <a:pt x="203200" y="101600"/>
                </a:cubicBezTo>
                <a:close/>
                <a:moveTo>
                  <a:pt x="50800" y="114300"/>
                </a:moveTo>
                <a:cubicBezTo>
                  <a:pt x="50800" y="107291"/>
                  <a:pt x="45109" y="101600"/>
                  <a:pt x="38100" y="101600"/>
                </a:cubicBezTo>
                <a:cubicBezTo>
                  <a:pt x="31091" y="101600"/>
                  <a:pt x="25400" y="107291"/>
                  <a:pt x="25400" y="114300"/>
                </a:cubicBezTo>
                <a:cubicBezTo>
                  <a:pt x="25400" y="121309"/>
                  <a:pt x="31091" y="127000"/>
                  <a:pt x="38100" y="127000"/>
                </a:cubicBezTo>
                <a:cubicBezTo>
                  <a:pt x="45109" y="127000"/>
                  <a:pt x="50800" y="121309"/>
                  <a:pt x="50800" y="114300"/>
                </a:cubicBezTo>
                <a:close/>
                <a:moveTo>
                  <a:pt x="50800" y="76200"/>
                </a:moveTo>
                <a:cubicBezTo>
                  <a:pt x="57809" y="76200"/>
                  <a:pt x="63500" y="70509"/>
                  <a:pt x="63500" y="63500"/>
                </a:cubicBezTo>
                <a:cubicBezTo>
                  <a:pt x="63500" y="56491"/>
                  <a:pt x="57809" y="50800"/>
                  <a:pt x="50800" y="50800"/>
                </a:cubicBezTo>
                <a:cubicBezTo>
                  <a:pt x="43791" y="50800"/>
                  <a:pt x="38100" y="56491"/>
                  <a:pt x="38100" y="63500"/>
                </a:cubicBezTo>
                <a:cubicBezTo>
                  <a:pt x="38100" y="70509"/>
                  <a:pt x="43791" y="76200"/>
                  <a:pt x="50800" y="762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52400" y="76200"/>
                </a:moveTo>
                <a:cubicBezTo>
                  <a:pt x="159409" y="76200"/>
                  <a:pt x="165100" y="70509"/>
                  <a:pt x="165100" y="63500"/>
                </a:cubicBezTo>
                <a:cubicBezTo>
                  <a:pt x="165100" y="56491"/>
                  <a:pt x="159409" y="50800"/>
                  <a:pt x="152400" y="50800"/>
                </a:cubicBezTo>
                <a:cubicBezTo>
                  <a:pt x="145391" y="50800"/>
                  <a:pt x="139700" y="56491"/>
                  <a:pt x="139700" y="63500"/>
                </a:cubicBezTo>
                <a:cubicBezTo>
                  <a:pt x="139700" y="70509"/>
                  <a:pt x="145391" y="76200"/>
                  <a:pt x="152400" y="76200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6576060" y="3243662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Palette: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Thư viện các View và ViewGroup.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69660" y="372768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6200" y="25400"/>
                </a:moveTo>
                <a:cubicBezTo>
                  <a:pt x="76200" y="18375"/>
                  <a:pt x="81875" y="12700"/>
                  <a:pt x="88900" y="12700"/>
                </a:cubicBezTo>
                <a:lnTo>
                  <a:pt x="114300" y="12700"/>
                </a:lnTo>
                <a:cubicBezTo>
                  <a:pt x="121325" y="12700"/>
                  <a:pt x="127000" y="18375"/>
                  <a:pt x="127000" y="254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111125" y="63500"/>
                </a:lnTo>
                <a:lnTo>
                  <a:pt x="111125" y="88900"/>
                </a:lnTo>
                <a:lnTo>
                  <a:pt x="158750" y="88900"/>
                </a:lnTo>
                <a:cubicBezTo>
                  <a:pt x="174546" y="88900"/>
                  <a:pt x="187325" y="101679"/>
                  <a:pt x="187325" y="117475"/>
                </a:cubicBezTo>
                <a:lnTo>
                  <a:pt x="187325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65100" y="190500"/>
                </a:lnTo>
                <a:cubicBezTo>
                  <a:pt x="158075" y="190500"/>
                  <a:pt x="152400" y="184825"/>
                  <a:pt x="152400" y="177800"/>
                </a:cubicBezTo>
                <a:lnTo>
                  <a:pt x="152400" y="152400"/>
                </a:lnTo>
                <a:cubicBezTo>
                  <a:pt x="152400" y="145375"/>
                  <a:pt x="158075" y="139700"/>
                  <a:pt x="165100" y="139700"/>
                </a:cubicBezTo>
                <a:lnTo>
                  <a:pt x="168275" y="139700"/>
                </a:lnTo>
                <a:lnTo>
                  <a:pt x="168275" y="117475"/>
                </a:lnTo>
                <a:cubicBezTo>
                  <a:pt x="168275" y="112197"/>
                  <a:pt x="164028" y="107950"/>
                  <a:pt x="158750" y="107950"/>
                </a:cubicBezTo>
                <a:lnTo>
                  <a:pt x="111125" y="107950"/>
                </a:lnTo>
                <a:lnTo>
                  <a:pt x="111125" y="139700"/>
                </a:lnTo>
                <a:lnTo>
                  <a:pt x="114300" y="139700"/>
                </a:lnTo>
                <a:cubicBezTo>
                  <a:pt x="121325" y="139700"/>
                  <a:pt x="127000" y="145375"/>
                  <a:pt x="127000" y="152400"/>
                </a:cubicBezTo>
                <a:lnTo>
                  <a:pt x="127000" y="177800"/>
                </a:lnTo>
                <a:cubicBezTo>
                  <a:pt x="127000" y="184825"/>
                  <a:pt x="121325" y="190500"/>
                  <a:pt x="114300" y="190500"/>
                </a:cubicBezTo>
                <a:lnTo>
                  <a:pt x="88900" y="190500"/>
                </a:lnTo>
                <a:cubicBezTo>
                  <a:pt x="81875" y="190500"/>
                  <a:pt x="76200" y="184825"/>
                  <a:pt x="76200" y="177800"/>
                </a:cubicBezTo>
                <a:lnTo>
                  <a:pt x="76200" y="152400"/>
                </a:lnTo>
                <a:cubicBezTo>
                  <a:pt x="76200" y="145375"/>
                  <a:pt x="81875" y="139700"/>
                  <a:pt x="88900" y="139700"/>
                </a:cubicBezTo>
                <a:lnTo>
                  <a:pt x="92075" y="139700"/>
                </a:lnTo>
                <a:lnTo>
                  <a:pt x="92075" y="107950"/>
                </a:lnTo>
                <a:lnTo>
                  <a:pt x="44450" y="107950"/>
                </a:lnTo>
                <a:cubicBezTo>
                  <a:pt x="39172" y="107950"/>
                  <a:pt x="34925" y="112197"/>
                  <a:pt x="34925" y="117475"/>
                </a:cubicBezTo>
                <a:lnTo>
                  <a:pt x="34925" y="139700"/>
                </a:lnTo>
                <a:lnTo>
                  <a:pt x="38100" y="139700"/>
                </a:lnTo>
                <a:cubicBezTo>
                  <a:pt x="45125" y="139700"/>
                  <a:pt x="50800" y="145375"/>
                  <a:pt x="50800" y="152400"/>
                </a:cubicBezTo>
                <a:lnTo>
                  <a:pt x="50800" y="177800"/>
                </a:lnTo>
                <a:cubicBezTo>
                  <a:pt x="50800" y="184825"/>
                  <a:pt x="45125" y="190500"/>
                  <a:pt x="381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52400"/>
                </a:lnTo>
                <a:cubicBezTo>
                  <a:pt x="0" y="145375"/>
                  <a:pt x="5675" y="139700"/>
                  <a:pt x="12700" y="139700"/>
                </a:cubicBezTo>
                <a:lnTo>
                  <a:pt x="15875" y="139700"/>
                </a:lnTo>
                <a:lnTo>
                  <a:pt x="15875" y="117475"/>
                </a:lnTo>
                <a:cubicBezTo>
                  <a:pt x="15875" y="101679"/>
                  <a:pt x="28654" y="88900"/>
                  <a:pt x="44450" y="88900"/>
                </a:cubicBezTo>
                <a:lnTo>
                  <a:pt x="92075" y="88900"/>
                </a:lnTo>
                <a:lnTo>
                  <a:pt x="92075" y="63500"/>
                </a:lnTo>
                <a:lnTo>
                  <a:pt x="88900" y="63500"/>
                </a:lnTo>
                <a:cubicBezTo>
                  <a:pt x="81875" y="63500"/>
                  <a:pt x="76200" y="57825"/>
                  <a:pt x="76200" y="50800"/>
                </a:cubicBezTo>
                <a:lnTo>
                  <a:pt x="76200" y="2540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8" name="Text 5"/>
          <p:cNvSpPr/>
          <p:nvPr/>
        </p:nvSpPr>
        <p:spPr>
          <a:xfrm>
            <a:off x="6550660" y="3676885"/>
            <a:ext cx="528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 Tree: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Cây phân cấp của các thành phần trong layout.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69660" y="448968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39700"/>
                </a:lnTo>
                <a:cubicBezTo>
                  <a:pt x="0" y="153710"/>
                  <a:pt x="11390" y="165100"/>
                  <a:pt x="25400" y="165100"/>
                </a:cubicBezTo>
                <a:lnTo>
                  <a:pt x="82550" y="165100"/>
                </a:lnTo>
                <a:lnTo>
                  <a:pt x="76200" y="184150"/>
                </a:lnTo>
                <a:lnTo>
                  <a:pt x="47625" y="184150"/>
                </a:lnTo>
                <a:cubicBezTo>
                  <a:pt x="42347" y="184150"/>
                  <a:pt x="38100" y="188397"/>
                  <a:pt x="38100" y="193675"/>
                </a:cubicBezTo>
                <a:cubicBezTo>
                  <a:pt x="38100" y="198953"/>
                  <a:pt x="42347" y="203200"/>
                  <a:pt x="47625" y="203200"/>
                </a:cubicBezTo>
                <a:lnTo>
                  <a:pt x="155575" y="203200"/>
                </a:lnTo>
                <a:cubicBezTo>
                  <a:pt x="160853" y="203200"/>
                  <a:pt x="165100" y="198953"/>
                  <a:pt x="165100" y="193675"/>
                </a:cubicBezTo>
                <a:cubicBezTo>
                  <a:pt x="165100" y="188397"/>
                  <a:pt x="160853" y="184150"/>
                  <a:pt x="155575" y="184150"/>
                </a:cubicBezTo>
                <a:lnTo>
                  <a:pt x="127000" y="184150"/>
                </a:lnTo>
                <a:lnTo>
                  <a:pt x="120650" y="165100"/>
                </a:lnTo>
                <a:lnTo>
                  <a:pt x="177800" y="165100"/>
                </a:lnTo>
                <a:cubicBezTo>
                  <a:pt x="191810" y="165100"/>
                  <a:pt x="203200" y="153710"/>
                  <a:pt x="203200" y="139700"/>
                </a:cubicBezTo>
                <a:lnTo>
                  <a:pt x="203200" y="38100"/>
                </a:lnTo>
                <a:cubicBezTo>
                  <a:pt x="203200" y="24090"/>
                  <a:pt x="191810" y="12700"/>
                  <a:pt x="177800" y="12700"/>
                </a:cubicBezTo>
                <a:lnTo>
                  <a:pt x="25400" y="12700"/>
                </a:lnTo>
                <a:close/>
                <a:moveTo>
                  <a:pt x="38100" y="38100"/>
                </a:move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14300"/>
                </a:lnTo>
                <a:cubicBezTo>
                  <a:pt x="177800" y="121325"/>
                  <a:pt x="172125" y="127000"/>
                  <a:pt x="165100" y="127000"/>
                </a:cubicBezTo>
                <a:lnTo>
                  <a:pt x="38100" y="127000"/>
                </a:lnTo>
                <a:cubicBezTo>
                  <a:pt x="31075" y="127000"/>
                  <a:pt x="25400" y="121325"/>
                  <a:pt x="25400" y="114300"/>
                </a:cubicBezTo>
                <a:lnTo>
                  <a:pt x="25400" y="50800"/>
                </a:lnTo>
                <a:cubicBezTo>
                  <a:pt x="25400" y="43775"/>
                  <a:pt x="31075" y="38100"/>
                  <a:pt x="38100" y="38100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0" name="Text 7"/>
          <p:cNvSpPr/>
          <p:nvPr/>
        </p:nvSpPr>
        <p:spPr>
          <a:xfrm>
            <a:off x="6556812" y="4286485"/>
            <a:ext cx="524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Design/Blueprint: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Khung hiển thị giao diện và sơ đồ.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7597" y="508955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25400"/>
                </a:moveTo>
                <a:cubicBezTo>
                  <a:pt x="5675" y="25400"/>
                  <a:pt x="0" y="31075"/>
                  <a:pt x="0" y="38100"/>
                </a:cubicBezTo>
                <a:cubicBezTo>
                  <a:pt x="0" y="45125"/>
                  <a:pt x="5675" y="50800"/>
                  <a:pt x="12700" y="50800"/>
                </a:cubicBezTo>
                <a:lnTo>
                  <a:pt x="47109" y="50800"/>
                </a:lnTo>
                <a:cubicBezTo>
                  <a:pt x="51991" y="62032"/>
                  <a:pt x="63182" y="69850"/>
                  <a:pt x="76200" y="69850"/>
                </a:cubicBezTo>
                <a:cubicBezTo>
                  <a:pt x="89218" y="69850"/>
                  <a:pt x="100409" y="62032"/>
                  <a:pt x="105291" y="50800"/>
                </a:cubicBezTo>
                <a:lnTo>
                  <a:pt x="190500" y="50800"/>
                </a:lnTo>
                <a:cubicBezTo>
                  <a:pt x="197525" y="50800"/>
                  <a:pt x="203200" y="45125"/>
                  <a:pt x="203200" y="38100"/>
                </a:cubicBezTo>
                <a:cubicBezTo>
                  <a:pt x="203200" y="31075"/>
                  <a:pt x="197525" y="25400"/>
                  <a:pt x="190500" y="25400"/>
                </a:cubicBezTo>
                <a:lnTo>
                  <a:pt x="105291" y="25400"/>
                </a:lnTo>
                <a:cubicBezTo>
                  <a:pt x="100409" y="14168"/>
                  <a:pt x="89218" y="6350"/>
                  <a:pt x="76200" y="6350"/>
                </a:cubicBezTo>
                <a:cubicBezTo>
                  <a:pt x="63182" y="6350"/>
                  <a:pt x="51991" y="14168"/>
                  <a:pt x="47109" y="25400"/>
                </a:cubicBezTo>
                <a:lnTo>
                  <a:pt x="12700" y="25400"/>
                </a:lnTo>
                <a:close/>
                <a:moveTo>
                  <a:pt x="12700" y="88900"/>
                </a:move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10609" y="114300"/>
                </a:lnTo>
                <a:cubicBezTo>
                  <a:pt x="115491" y="125532"/>
                  <a:pt x="126683" y="133350"/>
                  <a:pt x="139700" y="133350"/>
                </a:cubicBezTo>
                <a:cubicBezTo>
                  <a:pt x="152718" y="133350"/>
                  <a:pt x="163909" y="125532"/>
                  <a:pt x="168791" y="114300"/>
                </a:cubicBez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168791" y="88900"/>
                </a:lnTo>
                <a:cubicBezTo>
                  <a:pt x="163909" y="77668"/>
                  <a:pt x="152718" y="69850"/>
                  <a:pt x="139700" y="69850"/>
                </a:cubicBezTo>
                <a:cubicBezTo>
                  <a:pt x="126683" y="69850"/>
                  <a:pt x="115491" y="77668"/>
                  <a:pt x="110609" y="88900"/>
                </a:cubicBezTo>
                <a:lnTo>
                  <a:pt x="12700" y="88900"/>
                </a:lnTo>
                <a:close/>
                <a:moveTo>
                  <a:pt x="12700" y="152400"/>
                </a:moveTo>
                <a:cubicBezTo>
                  <a:pt x="5675" y="152400"/>
                  <a:pt x="0" y="158075"/>
                  <a:pt x="0" y="165100"/>
                </a:cubicBezTo>
                <a:cubicBezTo>
                  <a:pt x="0" y="172125"/>
                  <a:pt x="5675" y="177800"/>
                  <a:pt x="12700" y="177800"/>
                </a:cubicBezTo>
                <a:lnTo>
                  <a:pt x="34409" y="177800"/>
                </a:lnTo>
                <a:cubicBezTo>
                  <a:pt x="39291" y="189032"/>
                  <a:pt x="50483" y="196850"/>
                  <a:pt x="63500" y="196850"/>
                </a:cubicBezTo>
                <a:cubicBezTo>
                  <a:pt x="76518" y="196850"/>
                  <a:pt x="87709" y="189032"/>
                  <a:pt x="92591" y="177800"/>
                </a:cubicBez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cubicBezTo>
                  <a:pt x="203200" y="158075"/>
                  <a:pt x="197525" y="152400"/>
                  <a:pt x="190500" y="152400"/>
                </a:cubicBezTo>
                <a:lnTo>
                  <a:pt x="92591" y="152400"/>
                </a:lnTo>
                <a:cubicBezTo>
                  <a:pt x="87709" y="141168"/>
                  <a:pt x="76518" y="133350"/>
                  <a:pt x="63500" y="133350"/>
                </a:cubicBezTo>
                <a:cubicBezTo>
                  <a:pt x="50483" y="133350"/>
                  <a:pt x="39291" y="141168"/>
                  <a:pt x="34409" y="152400"/>
                </a:cubicBezTo>
                <a:lnTo>
                  <a:pt x="12700" y="15240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2" name="Text 9"/>
          <p:cNvSpPr/>
          <p:nvPr/>
        </p:nvSpPr>
        <p:spPr>
          <a:xfrm>
            <a:off x="6566733" y="5038757"/>
            <a:ext cx="527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Tab điều chỉnh thuộc tính của View được chọn.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41707" y="1911962"/>
            <a:ext cx="508000" cy="266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E7F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76060" y="2535861"/>
            <a:ext cx="5445555" cy="593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and Text tabs: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 phép chuyển đổi giữa chế độ xem trực quan (Design) và chỉnh sửa mã (Text).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41707" y="2535861"/>
            <a:ext cx="508000" cy="266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✏️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76060" y="1911962"/>
            <a:ext cx="5225852" cy="50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XML layout: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Nơi chứa mã XML mô tả cấu trúc và giao diện của layout.</a:t>
            </a:r>
            <a:endParaRPr lang="en-US" sz="1600" dirty="0"/>
          </a:p>
        </p:txBody>
      </p:sp>
      <p:pic>
        <p:nvPicPr>
          <p:cNvPr id="17" name="Image 1" descr="https://kimi-img.moonshot.cn/pub/slides/25-09-17-21:30:56-d35bg453v89iu0jna42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8" y="657955"/>
            <a:ext cx="5674771" cy="5213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787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Khai báo View trong file XML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4478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Mỗi View được định nghĩa bằng một thẻ XML với các thuộc tính (attribute) cần thiết.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057400"/>
            <a:ext cx="11684000" cy="3200400"/>
          </a:xfrm>
          <a:custGeom>
            <a:avLst/>
            <a:gdLst/>
            <a:ahLst/>
            <a:cxnLst/>
            <a:rect l="l" t="t" r="r" b="b"/>
            <a:pathLst>
              <a:path w="11684000" h="3200400">
                <a:moveTo>
                  <a:pt x="101613" y="0"/>
                </a:moveTo>
                <a:lnTo>
                  <a:pt x="11582387" y="0"/>
                </a:lnTo>
                <a:cubicBezTo>
                  <a:pt x="11638506" y="0"/>
                  <a:pt x="11684000" y="45494"/>
                  <a:pt x="11684000" y="101613"/>
                </a:cubicBezTo>
                <a:lnTo>
                  <a:pt x="11684000" y="3098787"/>
                </a:lnTo>
                <a:cubicBezTo>
                  <a:pt x="11684000" y="3154906"/>
                  <a:pt x="11638506" y="3200400"/>
                  <a:pt x="11582387" y="3200400"/>
                </a:cubicBezTo>
                <a:lnTo>
                  <a:pt x="101613" y="3200400"/>
                </a:lnTo>
                <a:cubicBezTo>
                  <a:pt x="45494" y="3200400"/>
                  <a:pt x="0" y="3154906"/>
                  <a:pt x="0" y="30987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54000" y="5461000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9B7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android:id: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Định danh duy nhất cho View.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97600" y="5461000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9B7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layout_width/height: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Kích thước chiều rộng và cao.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4000" y="5816600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9B7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android:text: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Nội dung văn bản hiển thị.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97600" y="5816600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9B7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@string/...: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Tham chiếu đến tài nguyên chuỗi.</a:t>
            </a:r>
            <a:endParaRPr lang="en-US" sz="1600" dirty="0"/>
          </a:p>
        </p:txBody>
      </p:sp>
      <p:pic>
        <p:nvPicPr>
          <p:cNvPr id="10" name="Image 1" descr="https://kimi-img.moonshot.cn/pub/slides/25-09-17-21:33:25-d35bh9cnvj4r7j101f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406" y="2057400"/>
            <a:ext cx="649198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651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Cú pháp thuộc tính View trong XML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514600"/>
            <a:ext cx="11684000" cy="762000"/>
          </a:xfrm>
          <a:custGeom>
            <a:avLst/>
            <a:gdLst/>
            <a:ahLst/>
            <a:cxnLst/>
            <a:rect l="l" t="t" r="r" b="b"/>
            <a:pathLst>
              <a:path w="11684000" h="7620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660403"/>
                </a:lnTo>
                <a:cubicBezTo>
                  <a:pt x="11684000" y="716513"/>
                  <a:pt x="11638513" y="762000"/>
                  <a:pt x="11582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7178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Giá trị trực tiếp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51734" y="2768600"/>
            <a:ext cx="788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android:&lt;property_name&gt;="&lt;property_value&gt;"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479800"/>
            <a:ext cx="11684000" cy="762000"/>
          </a:xfrm>
          <a:custGeom>
            <a:avLst/>
            <a:gdLst/>
            <a:ahLst/>
            <a:cxnLst/>
            <a:rect l="l" t="t" r="r" b="b"/>
            <a:pathLst>
              <a:path w="11684000" h="7620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660403"/>
                </a:lnTo>
                <a:cubicBezTo>
                  <a:pt x="11684000" y="716513"/>
                  <a:pt x="11638513" y="762000"/>
                  <a:pt x="11582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6830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Tham chiếu tài nguyên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51734" y="3860800"/>
            <a:ext cx="788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android:&lt;property_name&gt;="@&lt;resource_type&gt;/resource_id"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4445000"/>
            <a:ext cx="11684000" cy="762000"/>
          </a:xfrm>
          <a:custGeom>
            <a:avLst/>
            <a:gdLst/>
            <a:ahLst/>
            <a:cxnLst/>
            <a:rect l="l" t="t" r="r" b="b"/>
            <a:pathLst>
              <a:path w="11684000" h="7620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660403"/>
                </a:lnTo>
                <a:cubicBezTo>
                  <a:pt x="11684000" y="716513"/>
                  <a:pt x="11638513" y="762000"/>
                  <a:pt x="11582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6482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ID mới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51734" y="4826000"/>
            <a:ext cx="788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android:&lt;property_name&gt;="@+id/view_id"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614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View bằng code Java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9144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Bạn có thể tạo và thiết lập View hoàn toàn trong code, thường dùng khi cần tạo giao diện động.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1727200"/>
            <a:ext cx="5638800" cy="1676400"/>
          </a:xfrm>
          <a:custGeom>
            <a:avLst/>
            <a:gdLst/>
            <a:ahLst/>
            <a:cxnLst/>
            <a:rect l="l" t="t" r="r" b="b"/>
            <a:pathLst>
              <a:path w="5638800" h="1676400">
                <a:moveTo>
                  <a:pt x="101607" y="0"/>
                </a:moveTo>
                <a:lnTo>
                  <a:pt x="5537193" y="0"/>
                </a:lnTo>
                <a:cubicBezTo>
                  <a:pt x="5593309" y="0"/>
                  <a:pt x="5638800" y="45491"/>
                  <a:pt x="5638800" y="101607"/>
                </a:cubicBezTo>
                <a:lnTo>
                  <a:pt x="5638800" y="1574793"/>
                </a:lnTo>
                <a:cubicBezTo>
                  <a:pt x="5638800" y="1630909"/>
                  <a:pt x="5593309" y="1676400"/>
                  <a:pt x="55371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197100"/>
            <a:ext cx="4301331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 an Activity: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TextView myText = new TextView(this);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myText.setText("Display this text!");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pic>
        <p:nvPicPr>
          <p:cNvPr id="7" name="Image 1" descr="https://kimi-web-img.moonshot.cn/img/logos-download.com/3b441f103e750c3bf616c4c9a2ad2fb409516763.png">    </p:cNvPr>
          <p:cNvPicPr>
            <a:picLocks noChangeAspect="1"/>
          </p:cNvPicPr>
          <p:nvPr/>
        </p:nvPicPr>
        <p:blipFill>
          <a:blip r:embed="rId2"/>
          <a:srcRect l="16858" r="16858" t="0" b="0"/>
          <a:stretch/>
        </p:blipFill>
        <p:spPr>
          <a:xfrm>
            <a:off x="6299200" y="1047750"/>
            <a:ext cx="5485205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51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 trong Android là gì?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413000"/>
            <a:ext cx="5689600" cy="2794000"/>
          </a:xfrm>
          <a:custGeom>
            <a:avLst/>
            <a:gdLst/>
            <a:ahLst/>
            <a:cxnLst/>
            <a:rect l="l" t="t" r="r" b="b"/>
            <a:pathLst>
              <a:path w="5689600" h="2794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692410"/>
                </a:lnTo>
                <a:cubicBezTo>
                  <a:pt x="5689600" y="2748517"/>
                  <a:pt x="5644117" y="2794000"/>
                  <a:pt x="55880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58800" y="2717800"/>
            <a:ext cx="558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Định nghĩa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8800" y="3175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 là một giao diện (Interface) cung cấp thông tin toàn cục về môi trường ứng dụng, như tài nguyên, chủ đề, thư mục,...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48400" y="2413000"/>
            <a:ext cx="5689600" cy="2794000"/>
          </a:xfrm>
          <a:custGeom>
            <a:avLst/>
            <a:gdLst/>
            <a:ahLst/>
            <a:cxnLst/>
            <a:rect l="l" t="t" r="r" b="b"/>
            <a:pathLst>
              <a:path w="5689600" h="2794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692410"/>
                </a:lnTo>
                <a:cubicBezTo>
                  <a:pt x="5689600" y="2748517"/>
                  <a:pt x="5644117" y="2794000"/>
                  <a:pt x="55880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Text 5"/>
          <p:cNvSpPr/>
          <p:nvPr/>
        </p:nvSpPr>
        <p:spPr>
          <a:xfrm>
            <a:off x="6553200" y="2717800"/>
            <a:ext cx="558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Cách lấy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53200" y="3175000"/>
            <a:ext cx="558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Từ Application: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53200" y="3530600"/>
            <a:ext cx="5080000" cy="406400"/>
          </a:xfrm>
          <a:custGeom>
            <a:avLst/>
            <a:gdLst/>
            <a:ahLst/>
            <a:cxnLst/>
            <a:rect l="l" t="t" r="r" b="b"/>
            <a:pathLst>
              <a:path w="5080000" h="406400">
                <a:moveTo>
                  <a:pt x="50800" y="0"/>
                </a:moveTo>
                <a:lnTo>
                  <a:pt x="5029200" y="0"/>
                </a:lnTo>
                <a:cubicBezTo>
                  <a:pt x="5057237" y="0"/>
                  <a:pt x="5080000" y="22763"/>
                  <a:pt x="5080000" y="50800"/>
                </a:cubicBezTo>
                <a:lnTo>
                  <a:pt x="5080000" y="355600"/>
                </a:lnTo>
                <a:cubicBezTo>
                  <a:pt x="5080000" y="383637"/>
                  <a:pt x="5057237" y="406400"/>
                  <a:pt x="50292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E2939"/>
          </a:solidFill>
          <a:ln/>
        </p:spPr>
      </p:sp>
      <p:sp>
        <p:nvSpPr>
          <p:cNvPr id="11" name="Text 8"/>
          <p:cNvSpPr/>
          <p:nvPr/>
        </p:nvSpPr>
        <p:spPr>
          <a:xfrm>
            <a:off x="6553200" y="3530600"/>
            <a:ext cx="55880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 context = getApplicationContext();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53200" y="4140200"/>
            <a:ext cx="558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Từ Activity (chính nó là một Context):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53200" y="4495800"/>
            <a:ext cx="5080000" cy="406400"/>
          </a:xfrm>
          <a:custGeom>
            <a:avLst/>
            <a:gdLst/>
            <a:ahLst/>
            <a:cxnLst/>
            <a:rect l="l" t="t" r="r" b="b"/>
            <a:pathLst>
              <a:path w="5080000" h="406400">
                <a:moveTo>
                  <a:pt x="50800" y="0"/>
                </a:moveTo>
                <a:lnTo>
                  <a:pt x="5029200" y="0"/>
                </a:lnTo>
                <a:cubicBezTo>
                  <a:pt x="5057237" y="0"/>
                  <a:pt x="5080000" y="22763"/>
                  <a:pt x="5080000" y="50800"/>
                </a:cubicBezTo>
                <a:lnTo>
                  <a:pt x="5080000" y="355600"/>
                </a:lnTo>
                <a:cubicBezTo>
                  <a:pt x="5080000" y="383637"/>
                  <a:pt x="5057237" y="406400"/>
                  <a:pt x="50292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E2939"/>
          </a:solidFill>
          <a:ln/>
        </p:spPr>
      </p:sp>
      <p:sp>
        <p:nvSpPr>
          <p:cNvPr id="14" name="Text 11"/>
          <p:cNvSpPr/>
          <p:nvPr/>
        </p:nvSpPr>
        <p:spPr>
          <a:xfrm>
            <a:off x="6553200" y="4495800"/>
            <a:ext cx="5588000" cy="406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TextView myText = new TextView(this);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pic>
        <p:nvPicPr>
          <p:cNvPr id="3" name="Image 1" descr="https://kimi-web-img.moonshot.cn/img/b.53326.com/f61d3bc86d1a416f4fe3447f8dd3c09cf09222bf.jpg">    </p:cNvPr>
          <p:cNvPicPr>
            <a:picLocks noChangeAspect="1"/>
          </p:cNvPicPr>
          <p:nvPr/>
        </p:nvPicPr>
        <p:blipFill>
          <a:blip r:embed="rId2"/>
          <a:srcRect l="16400" r="16400" t="0" b="0"/>
          <a:stretch/>
        </p:blipFill>
        <p:spPr>
          <a:xfrm>
            <a:off x="254000" y="254000"/>
            <a:ext cx="5689600" cy="6350000"/>
          </a:xfrm>
          <a:prstGeom prst="roundRect">
            <a:avLst>
              <a:gd name="adj" fmla="val 1786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248400" y="254000"/>
            <a:ext cx="568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 View khi cần riêng biệt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248400" y="1371600"/>
            <a:ext cx="568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Khi hơn 100 loại View sẵn có không đáp ứng được yêu cầu thiết kế, bạn có thể tạo Custom View.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248400" y="2184400"/>
            <a:ext cx="5689600" cy="1219200"/>
          </a:xfrm>
          <a:custGeom>
            <a:avLst/>
            <a:gdLst/>
            <a:ahLst/>
            <a:cxnLst/>
            <a:rect l="l" t="t" r="r" b="b"/>
            <a:pathLst>
              <a:path w="5689600" h="1219200">
                <a:moveTo>
                  <a:pt x="101596" y="0"/>
                </a:moveTo>
                <a:lnTo>
                  <a:pt x="5588004" y="0"/>
                </a:lnTo>
                <a:cubicBezTo>
                  <a:pt x="5644114" y="0"/>
                  <a:pt x="5689600" y="45486"/>
                  <a:pt x="5689600" y="101596"/>
                </a:cubicBezTo>
                <a:lnTo>
                  <a:pt x="5689600" y="1117604"/>
                </a:lnTo>
                <a:cubicBezTo>
                  <a:pt x="5689600" y="1173714"/>
                  <a:pt x="5644114" y="1219200"/>
                  <a:pt x="5588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451600" y="2387600"/>
            <a:ext cx="579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 thừa View con hiện có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51600" y="26924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Mở rộng tính năng của một View có sẵn (ví dụ: tạo một Button có góc bo tròn).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48400" y="3606800"/>
            <a:ext cx="5689600" cy="965200"/>
          </a:xfrm>
          <a:custGeom>
            <a:avLst/>
            <a:gdLst/>
            <a:ahLst/>
            <a:cxnLst/>
            <a:rect l="l" t="t" r="r" b="b"/>
            <a:pathLst>
              <a:path w="5689600" h="965200">
                <a:moveTo>
                  <a:pt x="101597" y="0"/>
                </a:moveTo>
                <a:lnTo>
                  <a:pt x="5588003" y="0"/>
                </a:lnTo>
                <a:cubicBezTo>
                  <a:pt x="5644113" y="0"/>
                  <a:pt x="5689600" y="45487"/>
                  <a:pt x="5689600" y="101597"/>
                </a:cubicBezTo>
                <a:lnTo>
                  <a:pt x="5689600" y="863603"/>
                </a:lnTo>
                <a:cubicBezTo>
                  <a:pt x="5689600" y="919713"/>
                  <a:pt x="5644113" y="965200"/>
                  <a:pt x="55880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0" name="Text 6"/>
          <p:cNvSpPr/>
          <p:nvPr/>
        </p:nvSpPr>
        <p:spPr>
          <a:xfrm>
            <a:off x="6451600" y="3810000"/>
            <a:ext cx="579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 thừa trực tiếp từ lớp View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51600" y="4114800"/>
            <a:ext cx="579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Vẽ một thành phần giao diện hoàn toàn mới từ đầu.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4-d2sjh6m1bb2p4onbq9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8:39-d2sjh7u1bb2p4onbq9d0.jp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19005" b="17569"/>
          <a:stretch/>
        </p:blipFill>
        <p:spPr>
          <a:xfrm>
            <a:off x="0" y="1316990"/>
            <a:ext cx="12192000" cy="4321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67155" y="3056890"/>
            <a:ext cx="9475470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ViewGroup và cây phân cấp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107305" y="1623060"/>
            <a:ext cx="2824344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563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ViewGroup chứa và tổ chức View con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371600"/>
            <a:ext cx="563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ViewGroup là lớp cha của mọi layout, đóng vai trò như một cái "hộp" chứa và định hình cách bố trí các View con bên trong.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92100" y="2540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52400" y="38100"/>
                </a:moveTo>
                <a:lnTo>
                  <a:pt x="152400" y="63500"/>
                </a:lnTo>
                <a:lnTo>
                  <a:pt x="127000" y="63500"/>
                </a:lnTo>
                <a:lnTo>
                  <a:pt x="127000" y="38100"/>
                </a:lnTo>
                <a:lnTo>
                  <a:pt x="152400" y="38100"/>
                </a:lnTo>
                <a:close/>
                <a:moveTo>
                  <a:pt x="152400" y="88900"/>
                </a:moveTo>
                <a:lnTo>
                  <a:pt x="152400" y="114300"/>
                </a:lnTo>
                <a:lnTo>
                  <a:pt x="127000" y="114300"/>
                </a:lnTo>
                <a:lnTo>
                  <a:pt x="127000" y="88900"/>
                </a:lnTo>
                <a:lnTo>
                  <a:pt x="152400" y="88900"/>
                </a:lnTo>
                <a:close/>
                <a:moveTo>
                  <a:pt x="152400" y="139700"/>
                </a:moveTo>
                <a:lnTo>
                  <a:pt x="152400" y="165100"/>
                </a:lnTo>
                <a:lnTo>
                  <a:pt x="127000" y="165100"/>
                </a:lnTo>
                <a:lnTo>
                  <a:pt x="127000" y="139700"/>
                </a:lnTo>
                <a:lnTo>
                  <a:pt x="152400" y="139700"/>
                </a:lnTo>
                <a:close/>
                <a:moveTo>
                  <a:pt x="101600" y="114300"/>
                </a:moveTo>
                <a:lnTo>
                  <a:pt x="76200" y="114300"/>
                </a:lnTo>
                <a:lnTo>
                  <a:pt x="76200" y="88900"/>
                </a:lnTo>
                <a:lnTo>
                  <a:pt x="101600" y="88900"/>
                </a:lnTo>
                <a:lnTo>
                  <a:pt x="101600" y="114300"/>
                </a:lnTo>
                <a:close/>
                <a:moveTo>
                  <a:pt x="76200" y="139700"/>
                </a:moveTo>
                <a:lnTo>
                  <a:pt x="101600" y="139700"/>
                </a:lnTo>
                <a:lnTo>
                  <a:pt x="101600" y="165100"/>
                </a:lnTo>
                <a:lnTo>
                  <a:pt x="76200" y="165100"/>
                </a:lnTo>
                <a:lnTo>
                  <a:pt x="76200" y="139700"/>
                </a:lnTo>
                <a:close/>
                <a:moveTo>
                  <a:pt x="50800" y="114300"/>
                </a:moveTo>
                <a:lnTo>
                  <a:pt x="25400" y="114300"/>
                </a:lnTo>
                <a:lnTo>
                  <a:pt x="25400" y="88900"/>
                </a:lnTo>
                <a:lnTo>
                  <a:pt x="50800" y="88900"/>
                </a:lnTo>
                <a:lnTo>
                  <a:pt x="50800" y="114300"/>
                </a:lnTo>
                <a:close/>
                <a:moveTo>
                  <a:pt x="25400" y="139700"/>
                </a:moveTo>
                <a:lnTo>
                  <a:pt x="50800" y="139700"/>
                </a:lnTo>
                <a:lnTo>
                  <a:pt x="50800" y="165100"/>
                </a:lnTo>
                <a:lnTo>
                  <a:pt x="25400" y="165100"/>
                </a:lnTo>
                <a:lnTo>
                  <a:pt x="25400" y="139700"/>
                </a:lnTo>
                <a:close/>
                <a:moveTo>
                  <a:pt x="25400" y="63500"/>
                </a:moveTo>
                <a:lnTo>
                  <a:pt x="25400" y="38100"/>
                </a:lnTo>
                <a:lnTo>
                  <a:pt x="50800" y="38100"/>
                </a:lnTo>
                <a:lnTo>
                  <a:pt x="50800" y="63500"/>
                </a:lnTo>
                <a:lnTo>
                  <a:pt x="25400" y="63500"/>
                </a:lnTo>
                <a:close/>
                <a:moveTo>
                  <a:pt x="76200" y="63500"/>
                </a:moveTo>
                <a:lnTo>
                  <a:pt x="76200" y="38100"/>
                </a:lnTo>
                <a:lnTo>
                  <a:pt x="101600" y="38100"/>
                </a:lnTo>
                <a:lnTo>
                  <a:pt x="101600" y="63500"/>
                </a:lnTo>
                <a:lnTo>
                  <a:pt x="76200" y="63500"/>
                </a:lnTo>
                <a:close/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38100"/>
                </a:lnTo>
                <a:cubicBezTo>
                  <a:pt x="177800" y="24090"/>
                  <a:pt x="166410" y="12700"/>
                  <a:pt x="152400" y="12700"/>
                </a:cubicBezTo>
                <a:lnTo>
                  <a:pt x="25400" y="1270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660400" y="2489200"/>
            <a:ext cx="523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ConstraintLayout: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Định vị phần tử bằng các ràng buộc tương đối.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0909" y="3302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1369" y="199469"/>
                </a:moveTo>
                <a:lnTo>
                  <a:pt x="199469" y="161369"/>
                </a:lnTo>
                <a:cubicBezTo>
                  <a:pt x="203121" y="157718"/>
                  <a:pt x="204192" y="152281"/>
                  <a:pt x="202208" y="147518"/>
                </a:cubicBezTo>
                <a:cubicBezTo>
                  <a:pt x="200223" y="142756"/>
                  <a:pt x="195620" y="139700"/>
                  <a:pt x="190500" y="139700"/>
                </a:cubicBezTo>
                <a:lnTo>
                  <a:pt x="165100" y="139700"/>
                </a:lnTo>
                <a:lnTo>
                  <a:pt x="165100" y="12700"/>
                </a:lnTo>
                <a:cubicBezTo>
                  <a:pt x="165100" y="5675"/>
                  <a:pt x="159425" y="0"/>
                  <a:pt x="152400" y="0"/>
                </a:cubicBezTo>
                <a:cubicBezTo>
                  <a:pt x="145375" y="0"/>
                  <a:pt x="139700" y="5675"/>
                  <a:pt x="139700" y="12700"/>
                </a:cubicBezTo>
                <a:lnTo>
                  <a:pt x="139700" y="139700"/>
                </a:lnTo>
                <a:lnTo>
                  <a:pt x="114300" y="139700"/>
                </a:lnTo>
                <a:cubicBezTo>
                  <a:pt x="109180" y="139700"/>
                  <a:pt x="104537" y="142796"/>
                  <a:pt x="102552" y="147558"/>
                </a:cubicBezTo>
                <a:cubicBezTo>
                  <a:pt x="100568" y="152321"/>
                  <a:pt x="101679" y="157758"/>
                  <a:pt x="105291" y="161409"/>
                </a:cubicBezTo>
                <a:lnTo>
                  <a:pt x="143391" y="199509"/>
                </a:lnTo>
                <a:cubicBezTo>
                  <a:pt x="148352" y="204470"/>
                  <a:pt x="156408" y="204470"/>
                  <a:pt x="161369" y="199509"/>
                </a:cubicBezTo>
                <a:close/>
                <a:moveTo>
                  <a:pt x="59769" y="3731"/>
                </a:moveTo>
                <a:cubicBezTo>
                  <a:pt x="54808" y="-1230"/>
                  <a:pt x="46752" y="-1230"/>
                  <a:pt x="41791" y="3731"/>
                </a:cubicBezTo>
                <a:lnTo>
                  <a:pt x="3691" y="41831"/>
                </a:lnTo>
                <a:cubicBezTo>
                  <a:pt x="40" y="45482"/>
                  <a:pt x="-1032" y="50919"/>
                  <a:pt x="952" y="55682"/>
                </a:cubicBezTo>
                <a:cubicBezTo>
                  <a:pt x="2937" y="60444"/>
                  <a:pt x="7580" y="63500"/>
                  <a:pt x="12700" y="63500"/>
                </a:cubicBezTo>
                <a:lnTo>
                  <a:pt x="38100" y="63500"/>
                </a:lnTo>
                <a:lnTo>
                  <a:pt x="38100" y="190500"/>
                </a:lnTo>
                <a:cubicBezTo>
                  <a:pt x="38100" y="197525"/>
                  <a:pt x="43775" y="203200"/>
                  <a:pt x="50800" y="203200"/>
                </a:cubicBezTo>
                <a:cubicBezTo>
                  <a:pt x="57825" y="203200"/>
                  <a:pt x="63500" y="197525"/>
                  <a:pt x="63500" y="190500"/>
                </a:cubicBezTo>
                <a:lnTo>
                  <a:pt x="63500" y="63500"/>
                </a:lnTo>
                <a:lnTo>
                  <a:pt x="88900" y="63500"/>
                </a:lnTo>
                <a:cubicBezTo>
                  <a:pt x="94020" y="63500"/>
                  <a:pt x="98663" y="60404"/>
                  <a:pt x="100648" y="55642"/>
                </a:cubicBezTo>
                <a:cubicBezTo>
                  <a:pt x="102632" y="50879"/>
                  <a:pt x="101521" y="45442"/>
                  <a:pt x="97909" y="41791"/>
                </a:cubicBezTo>
                <a:lnTo>
                  <a:pt x="59809" y="3691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8" name="Text 5"/>
          <p:cNvSpPr/>
          <p:nvPr/>
        </p:nvSpPr>
        <p:spPr>
          <a:xfrm>
            <a:off x="683419" y="3251200"/>
            <a:ext cx="520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ScrollView: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Chứa một phần tử và cho phép cuộn nội dung.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9400" y="4064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5875" y="19050"/>
                </a:moveTo>
                <a:cubicBezTo>
                  <a:pt x="10597" y="19050"/>
                  <a:pt x="6350" y="23297"/>
                  <a:pt x="6350" y="28575"/>
                </a:cubicBezTo>
                <a:lnTo>
                  <a:pt x="6350" y="47625"/>
                </a:lnTo>
                <a:cubicBezTo>
                  <a:pt x="6350" y="52903"/>
                  <a:pt x="10597" y="57150"/>
                  <a:pt x="15875" y="57150"/>
                </a:cubicBezTo>
                <a:lnTo>
                  <a:pt x="34925" y="57150"/>
                </a:lnTo>
                <a:cubicBezTo>
                  <a:pt x="40203" y="57150"/>
                  <a:pt x="44450" y="52903"/>
                  <a:pt x="44450" y="47625"/>
                </a:cubicBezTo>
                <a:lnTo>
                  <a:pt x="44450" y="28575"/>
                </a:lnTo>
                <a:cubicBezTo>
                  <a:pt x="44450" y="23297"/>
                  <a:pt x="40203" y="19050"/>
                  <a:pt x="34925" y="19050"/>
                </a:cubicBezTo>
                <a:lnTo>
                  <a:pt x="15875" y="19050"/>
                </a:lnTo>
                <a:close/>
                <a:moveTo>
                  <a:pt x="76200" y="25400"/>
                </a:moveTo>
                <a:cubicBezTo>
                  <a:pt x="69175" y="25400"/>
                  <a:pt x="63500" y="31075"/>
                  <a:pt x="63500" y="38100"/>
                </a:cubicBezTo>
                <a:cubicBezTo>
                  <a:pt x="63500" y="45125"/>
                  <a:pt x="69175" y="50800"/>
                  <a:pt x="76200" y="50800"/>
                </a:cubicBezTo>
                <a:lnTo>
                  <a:pt x="190500" y="50800"/>
                </a:lnTo>
                <a:cubicBezTo>
                  <a:pt x="197525" y="50800"/>
                  <a:pt x="203200" y="45125"/>
                  <a:pt x="203200" y="38100"/>
                </a:cubicBezTo>
                <a:cubicBezTo>
                  <a:pt x="203200" y="31075"/>
                  <a:pt x="197525" y="25400"/>
                  <a:pt x="190500" y="25400"/>
                </a:cubicBezTo>
                <a:lnTo>
                  <a:pt x="76200" y="25400"/>
                </a:lnTo>
                <a:close/>
                <a:moveTo>
                  <a:pt x="76200" y="88900"/>
                </a:moveTo>
                <a:cubicBezTo>
                  <a:pt x="69175" y="88900"/>
                  <a:pt x="63500" y="94575"/>
                  <a:pt x="63500" y="101600"/>
                </a:cubicBezTo>
                <a:cubicBezTo>
                  <a:pt x="63500" y="108625"/>
                  <a:pt x="69175" y="114300"/>
                  <a:pt x="76200" y="114300"/>
                </a:cubicBez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76200" y="88900"/>
                </a:lnTo>
                <a:close/>
                <a:moveTo>
                  <a:pt x="76200" y="152400"/>
                </a:moveTo>
                <a:cubicBezTo>
                  <a:pt x="69175" y="152400"/>
                  <a:pt x="63500" y="158075"/>
                  <a:pt x="63500" y="165100"/>
                </a:cubicBezTo>
                <a:cubicBezTo>
                  <a:pt x="63500" y="172125"/>
                  <a:pt x="69175" y="177800"/>
                  <a:pt x="76200" y="177800"/>
                </a:cubicBez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cubicBezTo>
                  <a:pt x="203200" y="158075"/>
                  <a:pt x="197525" y="152400"/>
                  <a:pt x="190500" y="152400"/>
                </a:cubicBezTo>
                <a:lnTo>
                  <a:pt x="76200" y="152400"/>
                </a:lnTo>
                <a:close/>
                <a:moveTo>
                  <a:pt x="6350" y="92075"/>
                </a:moveTo>
                <a:lnTo>
                  <a:pt x="6350" y="111125"/>
                </a:lnTo>
                <a:cubicBezTo>
                  <a:pt x="6350" y="116403"/>
                  <a:pt x="10597" y="120650"/>
                  <a:pt x="15875" y="120650"/>
                </a:cubicBezTo>
                <a:lnTo>
                  <a:pt x="34925" y="120650"/>
                </a:lnTo>
                <a:cubicBezTo>
                  <a:pt x="40203" y="120650"/>
                  <a:pt x="44450" y="116403"/>
                  <a:pt x="44450" y="111125"/>
                </a:cubicBezTo>
                <a:lnTo>
                  <a:pt x="44450" y="92075"/>
                </a:lnTo>
                <a:cubicBezTo>
                  <a:pt x="44450" y="86797"/>
                  <a:pt x="40203" y="82550"/>
                  <a:pt x="34925" y="82550"/>
                </a:cubicBezTo>
                <a:lnTo>
                  <a:pt x="15875" y="82550"/>
                </a:lnTo>
                <a:cubicBezTo>
                  <a:pt x="10597" y="82550"/>
                  <a:pt x="6350" y="86797"/>
                  <a:pt x="6350" y="92075"/>
                </a:cubicBezTo>
                <a:close/>
                <a:moveTo>
                  <a:pt x="15875" y="146050"/>
                </a:moveTo>
                <a:cubicBezTo>
                  <a:pt x="10597" y="146050"/>
                  <a:pt x="6350" y="150297"/>
                  <a:pt x="6350" y="155575"/>
                </a:cubicBezTo>
                <a:lnTo>
                  <a:pt x="6350" y="174625"/>
                </a:lnTo>
                <a:cubicBezTo>
                  <a:pt x="6350" y="179903"/>
                  <a:pt x="10597" y="184150"/>
                  <a:pt x="15875" y="184150"/>
                </a:cubicBezTo>
                <a:lnTo>
                  <a:pt x="34925" y="184150"/>
                </a:lnTo>
                <a:cubicBezTo>
                  <a:pt x="40203" y="184150"/>
                  <a:pt x="44450" y="179903"/>
                  <a:pt x="44450" y="174625"/>
                </a:cubicBezTo>
                <a:lnTo>
                  <a:pt x="44450" y="155575"/>
                </a:lnTo>
                <a:cubicBezTo>
                  <a:pt x="44450" y="150297"/>
                  <a:pt x="40203" y="146050"/>
                  <a:pt x="34925" y="146050"/>
                </a:cubicBezTo>
                <a:lnTo>
                  <a:pt x="15875" y="14605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0" name="Text 7"/>
          <p:cNvSpPr/>
          <p:nvPr/>
        </p:nvSpPr>
        <p:spPr>
          <a:xfrm>
            <a:off x="660400" y="4013200"/>
            <a:ext cx="523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RecyclerView: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Hiển thị danh sách các phần tử và tái sử dụng View để tối ưu bộ nhớ.</a:t>
            </a:r>
            <a:endParaRPr lang="en-US" sz="1600" dirty="0"/>
          </a:p>
        </p:txBody>
      </p:sp>
      <p:pic>
        <p:nvPicPr>
          <p:cNvPr id="11" name="Image 1" descr="https://kimi-web-img.moonshot.cn/img/img-blog.csdnimg.cn/1f3354ac4ded29fa0a7e9ce61c7341ab57d2ad1a.png">    </p:cNvPr>
          <p:cNvPicPr>
            <a:picLocks noChangeAspect="1"/>
          </p:cNvPicPr>
          <p:nvPr/>
        </p:nvPicPr>
        <p:blipFill>
          <a:blip r:embed="rId2"/>
          <a:srcRect l="18273" r="18272" t="0" b="0"/>
          <a:stretch/>
        </p:blipFill>
        <p:spPr>
          <a:xfrm>
            <a:off x="6299200" y="1047750"/>
            <a:ext cx="56388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605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Layout là ViewGroup chuyên biệt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222500"/>
            <a:ext cx="3759200" cy="1485900"/>
          </a:xfrm>
          <a:custGeom>
            <a:avLst/>
            <a:gdLst/>
            <a:ahLst/>
            <a:cxnLst/>
            <a:rect l="l" t="t" r="r" b="b"/>
            <a:pathLst>
              <a:path w="3759200" h="1485900">
                <a:moveTo>
                  <a:pt x="101606" y="0"/>
                </a:moveTo>
                <a:lnTo>
                  <a:pt x="3657594" y="0"/>
                </a:lnTo>
                <a:cubicBezTo>
                  <a:pt x="3713710" y="0"/>
                  <a:pt x="3759200" y="45490"/>
                  <a:pt x="3759200" y="101606"/>
                </a:cubicBezTo>
                <a:lnTo>
                  <a:pt x="3759200" y="1384294"/>
                </a:lnTo>
                <a:cubicBezTo>
                  <a:pt x="3759200" y="1440410"/>
                  <a:pt x="3713710" y="1485900"/>
                  <a:pt x="36575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970088" y="2425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47625"/>
                </a:moveTo>
                <a:cubicBezTo>
                  <a:pt x="333375" y="34454"/>
                  <a:pt x="322734" y="23812"/>
                  <a:pt x="309563" y="23812"/>
                </a:cubicBezTo>
                <a:lnTo>
                  <a:pt x="23812" y="23812"/>
                </a:lnTo>
                <a:cubicBezTo>
                  <a:pt x="10641" y="23812"/>
                  <a:pt x="0" y="34454"/>
                  <a:pt x="0" y="47625"/>
                </a:cubicBezTo>
                <a:cubicBezTo>
                  <a:pt x="0" y="60796"/>
                  <a:pt x="10641" y="71438"/>
                  <a:pt x="23812" y="71438"/>
                </a:cubicBezTo>
                <a:lnTo>
                  <a:pt x="309563" y="71438"/>
                </a:lnTo>
                <a:cubicBezTo>
                  <a:pt x="322734" y="71438"/>
                  <a:pt x="333375" y="60796"/>
                  <a:pt x="333375" y="47625"/>
                </a:cubicBezTo>
                <a:close/>
                <a:moveTo>
                  <a:pt x="333375" y="238125"/>
                </a:moveTo>
                <a:cubicBezTo>
                  <a:pt x="333375" y="224954"/>
                  <a:pt x="322734" y="214313"/>
                  <a:pt x="309563" y="214313"/>
                </a:cubicBezTo>
                <a:lnTo>
                  <a:pt x="23812" y="214313"/>
                </a:lnTo>
                <a:cubicBezTo>
                  <a:pt x="10641" y="214313"/>
                  <a:pt x="0" y="224954"/>
                  <a:pt x="0" y="238125"/>
                </a:cubicBezTo>
                <a:cubicBezTo>
                  <a:pt x="0" y="251296"/>
                  <a:pt x="10641" y="261938"/>
                  <a:pt x="23812" y="261938"/>
                </a:cubicBezTo>
                <a:lnTo>
                  <a:pt x="309563" y="261938"/>
                </a:lnTo>
                <a:cubicBezTo>
                  <a:pt x="322734" y="261938"/>
                  <a:pt x="333375" y="251296"/>
                  <a:pt x="333375" y="238125"/>
                </a:cubicBezTo>
                <a:close/>
                <a:moveTo>
                  <a:pt x="0" y="142875"/>
                </a:moveTo>
                <a:cubicBezTo>
                  <a:pt x="0" y="156046"/>
                  <a:pt x="10641" y="166688"/>
                  <a:pt x="23812" y="166688"/>
                </a:cubicBezTo>
                <a:lnTo>
                  <a:pt x="309563" y="166688"/>
                </a:lnTo>
                <a:cubicBezTo>
                  <a:pt x="322734" y="166688"/>
                  <a:pt x="333375" y="156046"/>
                  <a:pt x="333375" y="142875"/>
                </a:cubicBezTo>
                <a:cubicBezTo>
                  <a:pt x="333375" y="129704"/>
                  <a:pt x="322734" y="119063"/>
                  <a:pt x="309563" y="119063"/>
                </a:cubicBezTo>
                <a:lnTo>
                  <a:pt x="23812" y="119063"/>
                </a:lnTo>
                <a:cubicBezTo>
                  <a:pt x="10641" y="119063"/>
                  <a:pt x="0" y="129704"/>
                  <a:pt x="0" y="142875"/>
                </a:cubicBezTo>
                <a:close/>
                <a:moveTo>
                  <a:pt x="333375" y="333375"/>
                </a:moveTo>
                <a:cubicBezTo>
                  <a:pt x="333375" y="320204"/>
                  <a:pt x="322734" y="309563"/>
                  <a:pt x="309563" y="309563"/>
                </a:cubicBezTo>
                <a:lnTo>
                  <a:pt x="23812" y="309563"/>
                </a:lnTo>
                <a:cubicBezTo>
                  <a:pt x="10641" y="309563"/>
                  <a:pt x="0" y="320204"/>
                  <a:pt x="0" y="333375"/>
                </a:cubicBezTo>
                <a:cubicBezTo>
                  <a:pt x="0" y="346546"/>
                  <a:pt x="10641" y="357188"/>
                  <a:pt x="23812" y="357188"/>
                </a:cubicBezTo>
                <a:lnTo>
                  <a:pt x="309563" y="357188"/>
                </a:lnTo>
                <a:cubicBezTo>
                  <a:pt x="322734" y="357188"/>
                  <a:pt x="333375" y="346546"/>
                  <a:pt x="333375" y="333375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203200" y="29464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LinearLayout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3200" y="3251200"/>
            <a:ext cx="386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Sắp xếp con theo hàng (dọc/ngang).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16400" y="2222500"/>
            <a:ext cx="3759200" cy="1485900"/>
          </a:xfrm>
          <a:custGeom>
            <a:avLst/>
            <a:gdLst/>
            <a:ahLst/>
            <a:cxnLst/>
            <a:rect l="l" t="t" r="r" b="b"/>
            <a:pathLst>
              <a:path w="3759200" h="1485900">
                <a:moveTo>
                  <a:pt x="101606" y="0"/>
                </a:moveTo>
                <a:lnTo>
                  <a:pt x="3657594" y="0"/>
                </a:lnTo>
                <a:cubicBezTo>
                  <a:pt x="3713710" y="0"/>
                  <a:pt x="3759200" y="45490"/>
                  <a:pt x="3759200" y="101606"/>
                </a:cubicBezTo>
                <a:lnTo>
                  <a:pt x="3759200" y="1384294"/>
                </a:lnTo>
                <a:cubicBezTo>
                  <a:pt x="3759200" y="1440410"/>
                  <a:pt x="3713710" y="1485900"/>
                  <a:pt x="36575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Shape 6"/>
          <p:cNvSpPr/>
          <p:nvPr/>
        </p:nvSpPr>
        <p:spPr>
          <a:xfrm>
            <a:off x="5932488" y="2425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85750" y="71438"/>
                </a:moveTo>
                <a:lnTo>
                  <a:pt x="285750" y="166688"/>
                </a:lnTo>
                <a:lnTo>
                  <a:pt x="190500" y="166688"/>
                </a:lnTo>
                <a:lnTo>
                  <a:pt x="190500" y="71438"/>
                </a:lnTo>
                <a:lnTo>
                  <a:pt x="285750" y="71438"/>
                </a:lnTo>
                <a:close/>
                <a:moveTo>
                  <a:pt x="285750" y="214313"/>
                </a:moveTo>
                <a:lnTo>
                  <a:pt x="285750" y="309563"/>
                </a:lnTo>
                <a:lnTo>
                  <a:pt x="190500" y="309563"/>
                </a:lnTo>
                <a:lnTo>
                  <a:pt x="190500" y="214313"/>
                </a:lnTo>
                <a:lnTo>
                  <a:pt x="285750" y="214313"/>
                </a:lnTo>
                <a:close/>
                <a:moveTo>
                  <a:pt x="142875" y="166688"/>
                </a:moveTo>
                <a:lnTo>
                  <a:pt x="47625" y="166688"/>
                </a:lnTo>
                <a:lnTo>
                  <a:pt x="47625" y="71438"/>
                </a:lnTo>
                <a:lnTo>
                  <a:pt x="142875" y="71438"/>
                </a:lnTo>
                <a:lnTo>
                  <a:pt x="142875" y="166688"/>
                </a:lnTo>
                <a:close/>
                <a:moveTo>
                  <a:pt x="47625" y="214313"/>
                </a:moveTo>
                <a:lnTo>
                  <a:pt x="142875" y="214313"/>
                </a:lnTo>
                <a:lnTo>
                  <a:pt x="142875" y="309563"/>
                </a:lnTo>
                <a:lnTo>
                  <a:pt x="47625" y="309563"/>
                </a:lnTo>
                <a:lnTo>
                  <a:pt x="47625" y="214313"/>
                </a:lnTo>
                <a:close/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0" name="Text 7"/>
          <p:cNvSpPr/>
          <p:nvPr/>
        </p:nvSpPr>
        <p:spPr>
          <a:xfrm>
            <a:off x="4165600" y="29464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ConstraintLayout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65600" y="3251200"/>
            <a:ext cx="386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Bố trí tự do bằng ràng buộc.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78800" y="2222500"/>
            <a:ext cx="3759200" cy="1485900"/>
          </a:xfrm>
          <a:custGeom>
            <a:avLst/>
            <a:gdLst/>
            <a:ahLst/>
            <a:cxnLst/>
            <a:rect l="l" t="t" r="r" b="b"/>
            <a:pathLst>
              <a:path w="3759200" h="1485900">
                <a:moveTo>
                  <a:pt x="101606" y="0"/>
                </a:moveTo>
                <a:lnTo>
                  <a:pt x="3657594" y="0"/>
                </a:lnTo>
                <a:cubicBezTo>
                  <a:pt x="3713710" y="0"/>
                  <a:pt x="3759200" y="45490"/>
                  <a:pt x="3759200" y="101606"/>
                </a:cubicBezTo>
                <a:lnTo>
                  <a:pt x="3759200" y="1384294"/>
                </a:lnTo>
                <a:cubicBezTo>
                  <a:pt x="3759200" y="1440410"/>
                  <a:pt x="3713710" y="1485900"/>
                  <a:pt x="36575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894888" y="2425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85750" y="71438"/>
                </a:moveTo>
                <a:lnTo>
                  <a:pt x="285750" y="119063"/>
                </a:lnTo>
                <a:lnTo>
                  <a:pt x="238125" y="119063"/>
                </a:lnTo>
                <a:lnTo>
                  <a:pt x="238125" y="71438"/>
                </a:lnTo>
                <a:lnTo>
                  <a:pt x="285750" y="71438"/>
                </a:lnTo>
                <a:close/>
                <a:moveTo>
                  <a:pt x="285750" y="166688"/>
                </a:moveTo>
                <a:lnTo>
                  <a:pt x="285750" y="214313"/>
                </a:lnTo>
                <a:lnTo>
                  <a:pt x="238125" y="214313"/>
                </a:lnTo>
                <a:lnTo>
                  <a:pt x="238125" y="166688"/>
                </a:lnTo>
                <a:lnTo>
                  <a:pt x="285750" y="166688"/>
                </a:lnTo>
                <a:close/>
                <a:moveTo>
                  <a:pt x="285750" y="261938"/>
                </a:moveTo>
                <a:lnTo>
                  <a:pt x="285750" y="309563"/>
                </a:lnTo>
                <a:lnTo>
                  <a:pt x="238125" y="309563"/>
                </a:lnTo>
                <a:lnTo>
                  <a:pt x="238125" y="261938"/>
                </a:lnTo>
                <a:lnTo>
                  <a:pt x="285750" y="261938"/>
                </a:lnTo>
                <a:close/>
                <a:moveTo>
                  <a:pt x="190500" y="214313"/>
                </a:moveTo>
                <a:lnTo>
                  <a:pt x="142875" y="214313"/>
                </a:lnTo>
                <a:lnTo>
                  <a:pt x="142875" y="166688"/>
                </a:lnTo>
                <a:lnTo>
                  <a:pt x="190500" y="166688"/>
                </a:lnTo>
                <a:lnTo>
                  <a:pt x="190500" y="214313"/>
                </a:lnTo>
                <a:close/>
                <a:moveTo>
                  <a:pt x="142875" y="261938"/>
                </a:moveTo>
                <a:lnTo>
                  <a:pt x="190500" y="261938"/>
                </a:lnTo>
                <a:lnTo>
                  <a:pt x="190500" y="309563"/>
                </a:lnTo>
                <a:lnTo>
                  <a:pt x="142875" y="309563"/>
                </a:lnTo>
                <a:lnTo>
                  <a:pt x="142875" y="261938"/>
                </a:lnTo>
                <a:close/>
                <a:moveTo>
                  <a:pt x="95250" y="214313"/>
                </a:moveTo>
                <a:lnTo>
                  <a:pt x="47625" y="214313"/>
                </a:lnTo>
                <a:lnTo>
                  <a:pt x="47625" y="166688"/>
                </a:lnTo>
                <a:lnTo>
                  <a:pt x="95250" y="166688"/>
                </a:lnTo>
                <a:lnTo>
                  <a:pt x="95250" y="214313"/>
                </a:lnTo>
                <a:close/>
                <a:moveTo>
                  <a:pt x="47625" y="261938"/>
                </a:moveTo>
                <a:lnTo>
                  <a:pt x="95250" y="261938"/>
                </a:lnTo>
                <a:lnTo>
                  <a:pt x="95250" y="309563"/>
                </a:lnTo>
                <a:lnTo>
                  <a:pt x="47625" y="309563"/>
                </a:lnTo>
                <a:lnTo>
                  <a:pt x="47625" y="261938"/>
                </a:lnTo>
                <a:close/>
                <a:moveTo>
                  <a:pt x="47625" y="119063"/>
                </a:moveTo>
                <a:lnTo>
                  <a:pt x="47625" y="71438"/>
                </a:lnTo>
                <a:lnTo>
                  <a:pt x="95250" y="71438"/>
                </a:lnTo>
                <a:lnTo>
                  <a:pt x="95250" y="119063"/>
                </a:lnTo>
                <a:lnTo>
                  <a:pt x="47625" y="119063"/>
                </a:lnTo>
                <a:close/>
                <a:moveTo>
                  <a:pt x="142875" y="119063"/>
                </a:moveTo>
                <a:lnTo>
                  <a:pt x="142875" y="71438"/>
                </a:lnTo>
                <a:lnTo>
                  <a:pt x="190500" y="71438"/>
                </a:lnTo>
                <a:lnTo>
                  <a:pt x="190500" y="119063"/>
                </a:lnTo>
                <a:lnTo>
                  <a:pt x="142875" y="119063"/>
                </a:lnTo>
                <a:close/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4" name="Text 11"/>
          <p:cNvSpPr/>
          <p:nvPr/>
        </p:nvSpPr>
        <p:spPr>
          <a:xfrm>
            <a:off x="8128000" y="29464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GridLayout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28000" y="3251200"/>
            <a:ext cx="386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Sắp xếp con vào ô lưới.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3911600"/>
            <a:ext cx="3759200" cy="1485900"/>
          </a:xfrm>
          <a:custGeom>
            <a:avLst/>
            <a:gdLst/>
            <a:ahLst/>
            <a:cxnLst/>
            <a:rect l="l" t="t" r="r" b="b"/>
            <a:pathLst>
              <a:path w="3759200" h="1485900">
                <a:moveTo>
                  <a:pt x="101606" y="0"/>
                </a:moveTo>
                <a:lnTo>
                  <a:pt x="3657594" y="0"/>
                </a:lnTo>
                <a:cubicBezTo>
                  <a:pt x="3713710" y="0"/>
                  <a:pt x="3759200" y="45490"/>
                  <a:pt x="3759200" y="101606"/>
                </a:cubicBezTo>
                <a:lnTo>
                  <a:pt x="3759200" y="1384294"/>
                </a:lnTo>
                <a:cubicBezTo>
                  <a:pt x="3759200" y="1440410"/>
                  <a:pt x="3713710" y="1485900"/>
                  <a:pt x="36575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7" name="Shape 14"/>
          <p:cNvSpPr/>
          <p:nvPr/>
        </p:nvSpPr>
        <p:spPr>
          <a:xfrm>
            <a:off x="1970088" y="41148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90500" y="119063"/>
                </a:moveTo>
                <a:lnTo>
                  <a:pt x="190500" y="190500"/>
                </a:lnTo>
                <a:lnTo>
                  <a:pt x="285750" y="190500"/>
                </a:lnTo>
                <a:lnTo>
                  <a:pt x="285750" y="119063"/>
                </a:lnTo>
                <a:lnTo>
                  <a:pt x="190500" y="119063"/>
                </a:lnTo>
                <a:close/>
                <a:moveTo>
                  <a:pt x="142875" y="119063"/>
                </a:moveTo>
                <a:lnTo>
                  <a:pt x="47625" y="119063"/>
                </a:lnTo>
                <a:lnTo>
                  <a:pt x="47625" y="190500"/>
                </a:lnTo>
                <a:lnTo>
                  <a:pt x="142875" y="190500"/>
                </a:lnTo>
                <a:lnTo>
                  <a:pt x="142875" y="119063"/>
                </a:lnTo>
                <a:close/>
                <a:moveTo>
                  <a:pt x="0" y="238125"/>
                </a:moveTo>
                <a:lnTo>
                  <a:pt x="0" y="71438"/>
                </a:lnTo>
                <a:cubicBezTo>
                  <a:pt x="0" y="45169"/>
                  <a:pt x="21357" y="23812"/>
                  <a:pt x="47625" y="23812"/>
                </a:cubicBezTo>
                <a:lnTo>
                  <a:pt x="285750" y="23812"/>
                </a:lnTo>
                <a:cubicBezTo>
                  <a:pt x="312018" y="23812"/>
                  <a:pt x="333375" y="45169"/>
                  <a:pt x="333375" y="71438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238125"/>
                </a:lnTo>
                <a:close/>
                <a:moveTo>
                  <a:pt x="285750" y="238125"/>
                </a:moveTo>
                <a:lnTo>
                  <a:pt x="190500" y="238125"/>
                </a:lnTo>
                <a:lnTo>
                  <a:pt x="190500" y="309563"/>
                </a:lnTo>
                <a:lnTo>
                  <a:pt x="285750" y="309563"/>
                </a:lnTo>
                <a:lnTo>
                  <a:pt x="285750" y="238125"/>
                </a:lnTo>
                <a:close/>
                <a:moveTo>
                  <a:pt x="142875" y="309563"/>
                </a:moveTo>
                <a:lnTo>
                  <a:pt x="142875" y="238125"/>
                </a:lnTo>
                <a:lnTo>
                  <a:pt x="47625" y="238125"/>
                </a:lnTo>
                <a:lnTo>
                  <a:pt x="47625" y="309563"/>
                </a:lnTo>
                <a:lnTo>
                  <a:pt x="142875" y="309563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8" name="Text 15"/>
          <p:cNvSpPr/>
          <p:nvPr/>
        </p:nvSpPr>
        <p:spPr>
          <a:xfrm>
            <a:off x="203200" y="46355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TableLayout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3200" y="4940300"/>
            <a:ext cx="386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Bố trí theo hàng và cột.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16400" y="3911600"/>
            <a:ext cx="3759200" cy="1485900"/>
          </a:xfrm>
          <a:custGeom>
            <a:avLst/>
            <a:gdLst/>
            <a:ahLst/>
            <a:cxnLst/>
            <a:rect l="l" t="t" r="r" b="b"/>
            <a:pathLst>
              <a:path w="3759200" h="1485900">
                <a:moveTo>
                  <a:pt x="101606" y="0"/>
                </a:moveTo>
                <a:lnTo>
                  <a:pt x="3657594" y="0"/>
                </a:lnTo>
                <a:cubicBezTo>
                  <a:pt x="3713710" y="0"/>
                  <a:pt x="3759200" y="45490"/>
                  <a:pt x="3759200" y="101606"/>
                </a:cubicBezTo>
                <a:lnTo>
                  <a:pt x="3759200" y="1384294"/>
                </a:lnTo>
                <a:cubicBezTo>
                  <a:pt x="3759200" y="1440410"/>
                  <a:pt x="3713710" y="1485900"/>
                  <a:pt x="36575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908675" y="4114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22" name="Text 19"/>
          <p:cNvSpPr/>
          <p:nvPr/>
        </p:nvSpPr>
        <p:spPr>
          <a:xfrm>
            <a:off x="4165600" y="46355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FrameLayout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65600" y="4940300"/>
            <a:ext cx="386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Chồng các View lên nhau.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78800" y="3911600"/>
            <a:ext cx="3759200" cy="1485900"/>
          </a:xfrm>
          <a:custGeom>
            <a:avLst/>
            <a:gdLst/>
            <a:ahLst/>
            <a:cxnLst/>
            <a:rect l="l" t="t" r="r" b="b"/>
            <a:pathLst>
              <a:path w="3759200" h="1485900">
                <a:moveTo>
                  <a:pt x="101606" y="0"/>
                </a:moveTo>
                <a:lnTo>
                  <a:pt x="3657594" y="0"/>
                </a:lnTo>
                <a:cubicBezTo>
                  <a:pt x="3713710" y="0"/>
                  <a:pt x="3759200" y="45490"/>
                  <a:pt x="3759200" y="101606"/>
                </a:cubicBezTo>
                <a:lnTo>
                  <a:pt x="3759200" y="1384294"/>
                </a:lnTo>
                <a:cubicBezTo>
                  <a:pt x="3759200" y="1440410"/>
                  <a:pt x="3713710" y="1485900"/>
                  <a:pt x="3657594" y="1485900"/>
                </a:cubicBezTo>
                <a:lnTo>
                  <a:pt x="101606" y="1485900"/>
                </a:lnTo>
                <a:cubicBezTo>
                  <a:pt x="45490" y="1485900"/>
                  <a:pt x="0" y="1440410"/>
                  <a:pt x="0" y="13842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25" name="Shape 22"/>
          <p:cNvSpPr/>
          <p:nvPr/>
        </p:nvSpPr>
        <p:spPr>
          <a:xfrm>
            <a:off x="9871075" y="4114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07318" y="6995"/>
                </a:moveTo>
                <a:cubicBezTo>
                  <a:pt x="198016" y="-2307"/>
                  <a:pt x="182910" y="-2307"/>
                  <a:pt x="173608" y="6995"/>
                </a:cubicBezTo>
                <a:lnTo>
                  <a:pt x="125983" y="54620"/>
                </a:lnTo>
                <a:cubicBezTo>
                  <a:pt x="119137" y="61466"/>
                  <a:pt x="117128" y="71661"/>
                  <a:pt x="120848" y="80590"/>
                </a:cubicBezTo>
                <a:cubicBezTo>
                  <a:pt x="124569" y="89520"/>
                  <a:pt x="133276" y="95250"/>
                  <a:pt x="142875" y="95250"/>
                </a:cubicBezTo>
                <a:lnTo>
                  <a:pt x="166688" y="95250"/>
                </a:lnTo>
                <a:lnTo>
                  <a:pt x="166688" y="166688"/>
                </a:lnTo>
                <a:lnTo>
                  <a:pt x="95250" y="166688"/>
                </a:lnTo>
                <a:lnTo>
                  <a:pt x="95250" y="142875"/>
                </a:lnTo>
                <a:cubicBezTo>
                  <a:pt x="95250" y="133276"/>
                  <a:pt x="89446" y="124569"/>
                  <a:pt x="80516" y="120848"/>
                </a:cubicBezTo>
                <a:cubicBezTo>
                  <a:pt x="71586" y="117128"/>
                  <a:pt x="61392" y="119211"/>
                  <a:pt x="54546" y="125983"/>
                </a:cubicBezTo>
                <a:lnTo>
                  <a:pt x="6921" y="173608"/>
                </a:lnTo>
                <a:cubicBezTo>
                  <a:pt x="-2381" y="182910"/>
                  <a:pt x="-2381" y="198016"/>
                  <a:pt x="6921" y="207318"/>
                </a:cubicBezTo>
                <a:lnTo>
                  <a:pt x="54546" y="254943"/>
                </a:lnTo>
                <a:cubicBezTo>
                  <a:pt x="61392" y="261789"/>
                  <a:pt x="71586" y="263798"/>
                  <a:pt x="80516" y="260077"/>
                </a:cubicBezTo>
                <a:cubicBezTo>
                  <a:pt x="89446" y="256356"/>
                  <a:pt x="95250" y="247724"/>
                  <a:pt x="95250" y="238125"/>
                </a:cubicBezTo>
                <a:lnTo>
                  <a:pt x="95250" y="214313"/>
                </a:lnTo>
                <a:lnTo>
                  <a:pt x="166688" y="214313"/>
                </a:lnTo>
                <a:lnTo>
                  <a:pt x="166688" y="285750"/>
                </a:lnTo>
                <a:lnTo>
                  <a:pt x="142875" y="285750"/>
                </a:lnTo>
                <a:cubicBezTo>
                  <a:pt x="133276" y="285750"/>
                  <a:pt x="124569" y="291554"/>
                  <a:pt x="120848" y="300484"/>
                </a:cubicBezTo>
                <a:cubicBezTo>
                  <a:pt x="117128" y="309414"/>
                  <a:pt x="119211" y="319608"/>
                  <a:pt x="125983" y="326454"/>
                </a:cubicBezTo>
                <a:lnTo>
                  <a:pt x="173608" y="374079"/>
                </a:lnTo>
                <a:cubicBezTo>
                  <a:pt x="182910" y="383381"/>
                  <a:pt x="198016" y="383381"/>
                  <a:pt x="207318" y="374079"/>
                </a:cubicBezTo>
                <a:lnTo>
                  <a:pt x="254943" y="326454"/>
                </a:lnTo>
                <a:cubicBezTo>
                  <a:pt x="261789" y="319608"/>
                  <a:pt x="263798" y="309414"/>
                  <a:pt x="260077" y="300484"/>
                </a:cubicBezTo>
                <a:cubicBezTo>
                  <a:pt x="256356" y="291554"/>
                  <a:pt x="247724" y="285750"/>
                  <a:pt x="238125" y="285750"/>
                </a:cubicBezTo>
                <a:lnTo>
                  <a:pt x="214313" y="285750"/>
                </a:lnTo>
                <a:lnTo>
                  <a:pt x="214313" y="214313"/>
                </a:lnTo>
                <a:lnTo>
                  <a:pt x="285750" y="214313"/>
                </a:lnTo>
                <a:lnTo>
                  <a:pt x="285750" y="238125"/>
                </a:lnTo>
                <a:cubicBezTo>
                  <a:pt x="285750" y="247724"/>
                  <a:pt x="291554" y="256431"/>
                  <a:pt x="300484" y="260152"/>
                </a:cubicBezTo>
                <a:cubicBezTo>
                  <a:pt x="309414" y="263872"/>
                  <a:pt x="319608" y="261789"/>
                  <a:pt x="326454" y="255017"/>
                </a:cubicBezTo>
                <a:lnTo>
                  <a:pt x="374079" y="207392"/>
                </a:lnTo>
                <a:cubicBezTo>
                  <a:pt x="383381" y="198090"/>
                  <a:pt x="383381" y="182984"/>
                  <a:pt x="374079" y="173682"/>
                </a:cubicBezTo>
                <a:lnTo>
                  <a:pt x="326454" y="126057"/>
                </a:lnTo>
                <a:cubicBezTo>
                  <a:pt x="319608" y="119211"/>
                  <a:pt x="309414" y="117202"/>
                  <a:pt x="300484" y="120923"/>
                </a:cubicBezTo>
                <a:cubicBezTo>
                  <a:pt x="291554" y="124644"/>
                  <a:pt x="285750" y="133276"/>
                  <a:pt x="285750" y="142875"/>
                </a:cubicBezTo>
                <a:lnTo>
                  <a:pt x="285750" y="166688"/>
                </a:lnTo>
                <a:lnTo>
                  <a:pt x="214313" y="166688"/>
                </a:lnTo>
                <a:lnTo>
                  <a:pt x="214313" y="95250"/>
                </a:lnTo>
                <a:lnTo>
                  <a:pt x="238125" y="95250"/>
                </a:lnTo>
                <a:cubicBezTo>
                  <a:pt x="247724" y="95250"/>
                  <a:pt x="256431" y="89446"/>
                  <a:pt x="260152" y="80516"/>
                </a:cubicBezTo>
                <a:cubicBezTo>
                  <a:pt x="263872" y="71586"/>
                  <a:pt x="261789" y="61392"/>
                  <a:pt x="255017" y="54546"/>
                </a:cubicBezTo>
                <a:lnTo>
                  <a:pt x="207392" y="6921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26" name="Text 23"/>
          <p:cNvSpPr/>
          <p:nvPr/>
        </p:nvSpPr>
        <p:spPr>
          <a:xfrm>
            <a:off x="8128000" y="46355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RelativeLayout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128000" y="4940300"/>
            <a:ext cx="386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Vị trí tương đối với nhau.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563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Phân biệt phân cấp lớp và phân cấp layout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371600"/>
            <a:ext cx="5638800" cy="1371600"/>
          </a:xfrm>
          <a:custGeom>
            <a:avLst/>
            <a:gdLst/>
            <a:ahLst/>
            <a:cxnLst/>
            <a:rect l="l" t="t" r="r" b="b"/>
            <a:pathLst>
              <a:path w="5638800" h="13716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270006"/>
                </a:lnTo>
                <a:cubicBezTo>
                  <a:pt x="5638800" y="1326115"/>
                  <a:pt x="5593315" y="1371600"/>
                  <a:pt x="55372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574800"/>
            <a:ext cx="574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Phân cấp lớp (Inheritance)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032000"/>
            <a:ext cx="523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Thể hiện quan hệ kế thừa hướng đối tượng. Ví dụ: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Button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là một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TextView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là một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View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048000"/>
            <a:ext cx="5638800" cy="1371600"/>
          </a:xfrm>
          <a:custGeom>
            <a:avLst/>
            <a:gdLst/>
            <a:ahLst/>
            <a:cxnLst/>
            <a:rect l="l" t="t" r="r" b="b"/>
            <a:pathLst>
              <a:path w="5638800" h="13716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1270006"/>
                </a:lnTo>
                <a:cubicBezTo>
                  <a:pt x="5638800" y="1326115"/>
                  <a:pt x="5593315" y="1371600"/>
                  <a:pt x="55372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251200"/>
            <a:ext cx="574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Phân cấp layout (Hierarchy)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708400"/>
            <a:ext cx="523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Thể hiện cách bố trí View trên màn hình. Ví dụ: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LinearLayout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chứa các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Button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được sắp xếp thành hàng.</a:t>
            </a:r>
            <a:endParaRPr lang="en-US" sz="1600" dirty="0"/>
          </a:p>
        </p:txBody>
      </p:sp>
      <p:pic>
        <p:nvPicPr>
          <p:cNvPr id="10" name="Image 1" descr="https://kimi-web-img.moonshot.cn/img/www.cs.odu.edu/095bb5e9dfa8e3815e6083e95f84fac86df836d1.png">    </p:cNvPr>
          <p:cNvPicPr>
            <a:picLocks noChangeAspect="1"/>
          </p:cNvPicPr>
          <p:nvPr/>
        </p:nvPicPr>
        <p:blipFill>
          <a:blip r:embed="rId2"/>
          <a:srcRect l="0" r="0" t="13299" b="13299"/>
          <a:stretch/>
        </p:blipFill>
        <p:spPr>
          <a:xfrm>
            <a:off x="6299200" y="1047750"/>
            <a:ext cx="56388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90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Cây phân cấp ViewGroup và View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5494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Cấu trúc giao diện được tổ chức thành cây, giống như cây gia đình.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54600" y="2489200"/>
            <a:ext cx="2082800" cy="914400"/>
          </a:xfrm>
          <a:custGeom>
            <a:avLst/>
            <a:gdLst/>
            <a:ahLst/>
            <a:cxnLst/>
            <a:rect l="l" t="t" r="r" b="b"/>
            <a:pathLst>
              <a:path w="2082800" h="914400">
                <a:moveTo>
                  <a:pt x="101599" y="0"/>
                </a:moveTo>
                <a:lnTo>
                  <a:pt x="1981201" y="0"/>
                </a:lnTo>
                <a:cubicBezTo>
                  <a:pt x="2037313" y="0"/>
                  <a:pt x="2082800" y="45487"/>
                  <a:pt x="2082800" y="101599"/>
                </a:cubicBezTo>
                <a:lnTo>
                  <a:pt x="2082800" y="812801"/>
                </a:lnTo>
                <a:cubicBezTo>
                  <a:pt x="2082800" y="868913"/>
                  <a:pt x="2037313" y="914400"/>
                  <a:pt x="19812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BACBD3"/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41900" y="2692400"/>
            <a:ext cx="210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Root ViewGroup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53000" y="3022600"/>
            <a:ext cx="228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(Luôn là một Layout)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26000" y="3810000"/>
            <a:ext cx="1524000" cy="508000"/>
          </a:xfrm>
          <a:custGeom>
            <a:avLst/>
            <a:gdLst/>
            <a:ahLst/>
            <a:cxnLst/>
            <a:rect l="l" t="t" r="r" b="b"/>
            <a:pathLst>
              <a:path w="1524000" h="508000">
                <a:moveTo>
                  <a:pt x="101600" y="0"/>
                </a:moveTo>
                <a:lnTo>
                  <a:pt x="1422400" y="0"/>
                </a:lnTo>
                <a:cubicBezTo>
                  <a:pt x="1478475" y="0"/>
                  <a:pt x="1524000" y="45525"/>
                  <a:pt x="1524000" y="101600"/>
                </a:cubicBezTo>
                <a:lnTo>
                  <a:pt x="1524000" y="406400"/>
                </a:lnTo>
                <a:cubicBezTo>
                  <a:pt x="1524000" y="462475"/>
                  <a:pt x="1478475" y="508000"/>
                  <a:pt x="1422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3810000"/>
            <a:ext cx="20320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ViewGroup Con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1650" y="4318000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1" name="Shape 8"/>
          <p:cNvSpPr/>
          <p:nvPr/>
        </p:nvSpPr>
        <p:spPr>
          <a:xfrm>
            <a:off x="6070600" y="4622800"/>
            <a:ext cx="558800" cy="457200"/>
          </a:xfrm>
          <a:custGeom>
            <a:avLst/>
            <a:gdLst/>
            <a:ahLst/>
            <a:cxnLst/>
            <a:rect l="l" t="t" r="r" b="b"/>
            <a:pathLst>
              <a:path w="558800" h="457200">
                <a:moveTo>
                  <a:pt x="101599" y="0"/>
                </a:moveTo>
                <a:lnTo>
                  <a:pt x="457201" y="0"/>
                </a:lnTo>
                <a:cubicBezTo>
                  <a:pt x="513313" y="0"/>
                  <a:pt x="558800" y="45487"/>
                  <a:pt x="558800" y="101599"/>
                </a:cubicBezTo>
                <a:lnTo>
                  <a:pt x="558800" y="355601"/>
                </a:lnTo>
                <a:cubicBezTo>
                  <a:pt x="558800" y="411713"/>
                  <a:pt x="513313" y="457200"/>
                  <a:pt x="45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042725" y="4622800"/>
            <a:ext cx="614549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73600" y="4546003"/>
            <a:ext cx="558800" cy="457200"/>
          </a:xfrm>
          <a:custGeom>
            <a:avLst/>
            <a:gdLst/>
            <a:ahLst/>
            <a:cxnLst/>
            <a:rect l="l" t="t" r="r" b="b"/>
            <a:pathLst>
              <a:path w="558800" h="457200">
                <a:moveTo>
                  <a:pt x="101599" y="0"/>
                </a:moveTo>
                <a:lnTo>
                  <a:pt x="457201" y="0"/>
                </a:lnTo>
                <a:cubicBezTo>
                  <a:pt x="513313" y="0"/>
                  <a:pt x="558800" y="45487"/>
                  <a:pt x="558800" y="101599"/>
                </a:cubicBezTo>
                <a:lnTo>
                  <a:pt x="558800" y="355601"/>
                </a:lnTo>
                <a:cubicBezTo>
                  <a:pt x="558800" y="411713"/>
                  <a:pt x="513313" y="457200"/>
                  <a:pt x="45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419600" y="4546003"/>
            <a:ext cx="10668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08600" y="4546003"/>
            <a:ext cx="609600" cy="508000"/>
          </a:xfrm>
          <a:custGeom>
            <a:avLst/>
            <a:gdLst/>
            <a:ahLst/>
            <a:cxnLst/>
            <a:rect l="l" t="t" r="r" b="b"/>
            <a:pathLst>
              <a:path w="609600" h="508000">
                <a:moveTo>
                  <a:pt x="101600" y="0"/>
                </a:moveTo>
                <a:lnTo>
                  <a:pt x="508000" y="0"/>
                </a:lnTo>
                <a:cubicBezTo>
                  <a:pt x="564075" y="0"/>
                  <a:pt x="609600" y="45525"/>
                  <a:pt x="609600" y="101600"/>
                </a:cubicBezTo>
                <a:lnTo>
                  <a:pt x="609600" y="406400"/>
                </a:lnTo>
                <a:cubicBezTo>
                  <a:pt x="609600" y="462475"/>
                  <a:pt x="564075" y="508000"/>
                  <a:pt x="5080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054600" y="4546003"/>
            <a:ext cx="11176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54000" y="561340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Lưu ý: 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Root View luôn là một ViewGroup 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Hãy giữ cây phân cấp phẳng để tối ưu hiệu suất.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 flipH="1">
            <a:off x="5089155" y="4286517"/>
            <a:ext cx="494916" cy="255991"/>
          </a:xfrm>
          <a:prstGeom prst="line">
            <a:avLst/>
          </a:prstGeom>
          <a:noFill/>
          <a:ln w="12700">
            <a:solidFill>
              <a:srgbClr val="44546A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5592604" y="4329182"/>
            <a:ext cx="8533" cy="298656"/>
          </a:xfrm>
          <a:prstGeom prst="line">
            <a:avLst/>
          </a:prstGeom>
          <a:noFill/>
          <a:ln w="12700">
            <a:solidFill>
              <a:srgbClr val="44546A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 flipH="1">
            <a:off x="5541406" y="3416147"/>
            <a:ext cx="588779" cy="392520"/>
          </a:xfrm>
          <a:prstGeom prst="line">
            <a:avLst/>
          </a:prstGeom>
          <a:noFill/>
          <a:ln w="12700">
            <a:solidFill>
              <a:srgbClr val="44546A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5592604" y="4295050"/>
            <a:ext cx="699709" cy="375454"/>
          </a:xfrm>
          <a:prstGeom prst="line">
            <a:avLst/>
          </a:prstGeom>
          <a:noFill/>
          <a:ln w="12700">
            <a:solidFill>
              <a:srgbClr val="44546A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6858000" y="4089400"/>
            <a:ext cx="558800" cy="457200"/>
          </a:xfrm>
          <a:custGeom>
            <a:avLst/>
            <a:gdLst/>
            <a:ahLst/>
            <a:cxnLst/>
            <a:rect l="l" t="t" r="r" b="b"/>
            <a:pathLst>
              <a:path w="558800" h="457200">
                <a:moveTo>
                  <a:pt x="101599" y="0"/>
                </a:moveTo>
                <a:lnTo>
                  <a:pt x="457201" y="0"/>
                </a:lnTo>
                <a:cubicBezTo>
                  <a:pt x="513313" y="0"/>
                  <a:pt x="558800" y="45487"/>
                  <a:pt x="558800" y="101599"/>
                </a:cubicBezTo>
                <a:lnTo>
                  <a:pt x="558800" y="355601"/>
                </a:lnTo>
                <a:cubicBezTo>
                  <a:pt x="558800" y="411713"/>
                  <a:pt x="513313" y="457200"/>
                  <a:pt x="45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830125" y="4064000"/>
            <a:ext cx="614549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965119" y="3581400"/>
            <a:ext cx="558800" cy="457200"/>
          </a:xfrm>
          <a:custGeom>
            <a:avLst/>
            <a:gdLst/>
            <a:ahLst/>
            <a:cxnLst/>
            <a:rect l="l" t="t" r="r" b="b"/>
            <a:pathLst>
              <a:path w="558800" h="457200">
                <a:moveTo>
                  <a:pt x="101599" y="0"/>
                </a:moveTo>
                <a:lnTo>
                  <a:pt x="457201" y="0"/>
                </a:lnTo>
                <a:cubicBezTo>
                  <a:pt x="513313" y="0"/>
                  <a:pt x="558800" y="45487"/>
                  <a:pt x="558800" y="101599"/>
                </a:cubicBezTo>
                <a:lnTo>
                  <a:pt x="558800" y="355601"/>
                </a:lnTo>
                <a:cubicBezTo>
                  <a:pt x="558800" y="411713"/>
                  <a:pt x="513313" y="457200"/>
                  <a:pt x="4572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909369" y="3581400"/>
            <a:ext cx="614549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30185" y="3382015"/>
            <a:ext cx="1032497" cy="716775"/>
          </a:xfrm>
          <a:prstGeom prst="line">
            <a:avLst/>
          </a:prstGeom>
          <a:noFill/>
          <a:ln w="12700">
            <a:solidFill>
              <a:srgbClr val="44546A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6121652" y="3390548"/>
            <a:ext cx="1843466" cy="419452"/>
          </a:xfrm>
          <a:prstGeom prst="line">
            <a:avLst/>
          </a:prstGeom>
          <a:noFill/>
          <a:ln w="12700">
            <a:solidFill>
              <a:srgbClr val="44546A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619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layout bằng XML và Java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914400"/>
            <a:ext cx="568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Cùng tạo một LinearLayout dọc chứa một TextView, nhưng bằng hai cách khác nhau.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1727200"/>
            <a:ext cx="5689600" cy="3115297"/>
          </a:xfrm>
          <a:custGeom>
            <a:avLst/>
            <a:gdLst/>
            <a:ahLst/>
            <a:cxnLst/>
            <a:rect l="l" t="t" r="r" b="b"/>
            <a:pathLst>
              <a:path w="5689600" h="3115297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68037"/>
                  <a:pt x="5689600" y="151964"/>
                </a:cubicBezTo>
                <a:lnTo>
                  <a:pt x="5689600" y="2963333"/>
                </a:lnTo>
                <a:cubicBezTo>
                  <a:pt x="5689600" y="3047261"/>
                  <a:pt x="5644113" y="3115297"/>
                  <a:pt x="5588001" y="3115297"/>
                </a:cubicBezTo>
                <a:lnTo>
                  <a:pt x="101599" y="3115297"/>
                </a:lnTo>
                <a:cubicBezTo>
                  <a:pt x="45487" y="3115297"/>
                  <a:pt x="0" y="3047261"/>
                  <a:pt x="0" y="2963333"/>
                </a:cubicBezTo>
                <a:lnTo>
                  <a:pt x="0" y="151964"/>
                </a:lnTo>
                <a:cubicBezTo>
                  <a:pt x="0" y="68093"/>
                  <a:pt x="45525" y="0"/>
                  <a:pt x="101599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9304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XML (static)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387600"/>
            <a:ext cx="5283200" cy="2337028"/>
          </a:xfrm>
          <a:custGeom>
            <a:avLst/>
            <a:gdLst/>
            <a:ahLst/>
            <a:cxnLst/>
            <a:rect l="l" t="t" r="r" b="b"/>
            <a:pathLst>
              <a:path w="5283200" h="2337028">
                <a:moveTo>
                  <a:pt x="50804" y="0"/>
                </a:moveTo>
                <a:lnTo>
                  <a:pt x="5232396" y="0"/>
                </a:lnTo>
                <a:cubicBezTo>
                  <a:pt x="5260454" y="0"/>
                  <a:pt x="5283200" y="43600"/>
                  <a:pt x="5283200" y="97384"/>
                </a:cubicBezTo>
                <a:lnTo>
                  <a:pt x="5283200" y="2239644"/>
                </a:lnTo>
                <a:cubicBezTo>
                  <a:pt x="5283200" y="2293427"/>
                  <a:pt x="5260454" y="2337028"/>
                  <a:pt x="5232396" y="2337028"/>
                </a:cubicBezTo>
                <a:lnTo>
                  <a:pt x="50804" y="2337028"/>
                </a:lnTo>
                <a:cubicBezTo>
                  <a:pt x="22746" y="2337028"/>
                  <a:pt x="0" y="2293427"/>
                  <a:pt x="0" y="2239644"/>
                </a:cubicBezTo>
                <a:lnTo>
                  <a:pt x="0" y="97384"/>
                </a:lnTo>
                <a:cubicBezTo>
                  <a:pt x="0" y="43636"/>
                  <a:pt x="22765" y="0"/>
                  <a:pt x="50804" y="0"/>
                </a:cubicBezTo>
                <a:close/>
              </a:path>
            </a:pathLst>
          </a:custGeom>
          <a:solidFill>
            <a:srgbClr val="1E2939"/>
          </a:solidFill>
          <a:ln/>
        </p:spPr>
      </p:sp>
      <p:sp>
        <p:nvSpPr>
          <p:cNvPr id="8" name="Shape 5"/>
          <p:cNvSpPr/>
          <p:nvPr/>
        </p:nvSpPr>
        <p:spPr>
          <a:xfrm>
            <a:off x="6248400" y="1066800"/>
            <a:ext cx="5689600" cy="2625842"/>
          </a:xfrm>
          <a:custGeom>
            <a:avLst/>
            <a:gdLst/>
            <a:ahLst/>
            <a:cxnLst/>
            <a:rect l="l" t="t" r="r" b="b"/>
            <a:pathLst>
              <a:path w="5689600" h="2625842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52245"/>
                  <a:pt x="5689600" y="116692"/>
                </a:cubicBezTo>
                <a:lnTo>
                  <a:pt x="5689600" y="2509150"/>
                </a:lnTo>
                <a:cubicBezTo>
                  <a:pt x="5689600" y="2573597"/>
                  <a:pt x="5644117" y="2625842"/>
                  <a:pt x="5588010" y="2625842"/>
                </a:cubicBezTo>
                <a:lnTo>
                  <a:pt x="101590" y="2625842"/>
                </a:lnTo>
                <a:cubicBezTo>
                  <a:pt x="45483" y="2625842"/>
                  <a:pt x="0" y="2573597"/>
                  <a:pt x="0" y="2509150"/>
                </a:cubicBezTo>
                <a:lnTo>
                  <a:pt x="0" y="116692"/>
                </a:lnTo>
                <a:cubicBezTo>
                  <a:pt x="0" y="52288"/>
                  <a:pt x="45521" y="0"/>
                  <a:pt x="10159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Text 6"/>
          <p:cNvSpPr/>
          <p:nvPr/>
        </p:nvSpPr>
        <p:spPr>
          <a:xfrm>
            <a:off x="6451600" y="12700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(dynamic)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51600" y="1727200"/>
            <a:ext cx="5283200" cy="1701800"/>
          </a:xfrm>
          <a:custGeom>
            <a:avLst/>
            <a:gdLst/>
            <a:ahLst/>
            <a:cxnLst/>
            <a:rect l="l" t="t" r="r" b="b"/>
            <a:pathLst>
              <a:path w="5283200" h="1701800">
                <a:moveTo>
                  <a:pt x="50794" y="0"/>
                </a:moveTo>
                <a:lnTo>
                  <a:pt x="5232406" y="0"/>
                </a:lnTo>
                <a:cubicBezTo>
                  <a:pt x="5260459" y="0"/>
                  <a:pt x="5283200" y="27208"/>
                  <a:pt x="5283200" y="60771"/>
                </a:cubicBezTo>
                <a:lnTo>
                  <a:pt x="5283200" y="1641029"/>
                </a:lnTo>
                <a:cubicBezTo>
                  <a:pt x="5283200" y="1674592"/>
                  <a:pt x="5260459" y="1701800"/>
                  <a:pt x="5232406" y="1701800"/>
                </a:cubicBezTo>
                <a:lnTo>
                  <a:pt x="50794" y="1701800"/>
                </a:lnTo>
                <a:cubicBezTo>
                  <a:pt x="22741" y="1701800"/>
                  <a:pt x="0" y="1674592"/>
                  <a:pt x="0" y="1641029"/>
                </a:cubicBezTo>
                <a:lnTo>
                  <a:pt x="0" y="60771"/>
                </a:lnTo>
                <a:cubicBezTo>
                  <a:pt x="0" y="27208"/>
                  <a:pt x="22741" y="0"/>
                  <a:pt x="50794" y="0"/>
                </a:cubicBezTo>
                <a:close/>
              </a:path>
            </a:pathLst>
          </a:custGeom>
          <a:solidFill>
            <a:srgbClr val="1E2939"/>
          </a:solidFill>
          <a:ln/>
        </p:spPr>
      </p:sp>
      <p:sp>
        <p:nvSpPr>
          <p:cNvPr id="11" name="Text 8"/>
          <p:cNvSpPr/>
          <p:nvPr/>
        </p:nvSpPr>
        <p:spPr>
          <a:xfrm>
            <a:off x="6553200" y="1807866"/>
            <a:ext cx="5080000" cy="1748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LinearLayout linearL = new LinearLayout(this);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linearL.setOrientation(LinearLayout.VERTICAL);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TextView myText = new TextView(this);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myText.setText("Display this text!");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linearL.addView(myText);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setContentView(linearL);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</p:txBody>
      </p:sp>
      <p:pic>
        <p:nvPicPr>
          <p:cNvPr id="12" name="Image 1" descr="https://kimi-img.moonshot.cn/pub/slides/25-09-17-21:46:17-d35bnad96bk3iv622h4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7600"/>
            <a:ext cx="5283200" cy="23370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58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Thiết lập kích thước View trong Java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3208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Sau khi tạo View, bạn cần gán LayoutParams để xác định kích thước và các thuộc tính layout khác.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032000"/>
            <a:ext cx="11684000" cy="3149600"/>
          </a:xfrm>
          <a:custGeom>
            <a:avLst/>
            <a:gdLst/>
            <a:ahLst/>
            <a:cxnLst/>
            <a:rect l="l" t="t" r="r" b="b"/>
            <a:pathLst>
              <a:path w="11684000" h="3149600">
                <a:moveTo>
                  <a:pt x="101606" y="0"/>
                </a:moveTo>
                <a:lnTo>
                  <a:pt x="11582394" y="0"/>
                </a:lnTo>
                <a:cubicBezTo>
                  <a:pt x="11638509" y="0"/>
                  <a:pt x="11684000" y="45491"/>
                  <a:pt x="11684000" y="101606"/>
                </a:cubicBezTo>
                <a:lnTo>
                  <a:pt x="11684000" y="3047994"/>
                </a:lnTo>
                <a:cubicBezTo>
                  <a:pt x="11684000" y="3104109"/>
                  <a:pt x="11638509" y="3149600"/>
                  <a:pt x="11582394" y="3149600"/>
                </a:cubicBezTo>
                <a:lnTo>
                  <a:pt x="101606" y="3149600"/>
                </a:lnTo>
                <a:cubicBezTo>
                  <a:pt x="45491" y="3149600"/>
                  <a:pt x="0" y="3104109"/>
                  <a:pt x="0" y="30479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58800" y="2603500"/>
            <a:ext cx="74168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Đặt chiều rộng và chiều cao trong code Java: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LinearLayout.LayoutParams layoutParams =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new Linear.LayoutParams(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LayoutParams.MATCH_PARENT,       LayoutParams.MATCH_CONTENT);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myView.setLayoutParams(layoutParams);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5486400"/>
            <a:ext cx="3759200" cy="812800"/>
          </a:xfrm>
          <a:custGeom>
            <a:avLst/>
            <a:gdLst/>
            <a:ahLst/>
            <a:cxnLst/>
            <a:rect l="l" t="t" r="r" b="b"/>
            <a:pathLst>
              <a:path w="3759200" h="8128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711200"/>
                </a:lnTo>
                <a:cubicBezTo>
                  <a:pt x="3759200" y="767275"/>
                  <a:pt x="3713675" y="812800"/>
                  <a:pt x="3657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Text 5"/>
          <p:cNvSpPr/>
          <p:nvPr/>
        </p:nvSpPr>
        <p:spPr>
          <a:xfrm>
            <a:off x="1193800" y="5689600"/>
            <a:ext cx="187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MATCH_PARENT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400" y="5943600"/>
            <a:ext cx="396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Mở rộng để khớp với cha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16400" y="5486400"/>
            <a:ext cx="3759200" cy="812800"/>
          </a:xfrm>
          <a:custGeom>
            <a:avLst/>
            <a:gdLst/>
            <a:ahLst/>
            <a:cxnLst/>
            <a:rect l="l" t="t" r="r" b="b"/>
            <a:pathLst>
              <a:path w="3759200" h="8128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711200"/>
                </a:lnTo>
                <a:cubicBezTo>
                  <a:pt x="3759200" y="767275"/>
                  <a:pt x="3713675" y="812800"/>
                  <a:pt x="3657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1" name="Text 8"/>
          <p:cNvSpPr/>
          <p:nvPr/>
        </p:nvSpPr>
        <p:spPr>
          <a:xfrm>
            <a:off x="5156200" y="5689600"/>
            <a:ext cx="187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MATCH_PARENT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4800" y="5943600"/>
            <a:ext cx="396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Mở rộng khớp với cha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78800" y="5486400"/>
            <a:ext cx="3759200" cy="812800"/>
          </a:xfrm>
          <a:custGeom>
            <a:avLst/>
            <a:gdLst/>
            <a:ahLst/>
            <a:cxnLst/>
            <a:rect l="l" t="t" r="r" b="b"/>
            <a:pathLst>
              <a:path w="3759200" h="8128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711200"/>
                </a:lnTo>
                <a:cubicBezTo>
                  <a:pt x="3759200" y="767275"/>
                  <a:pt x="3713675" y="812800"/>
                  <a:pt x="3657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4" name="Text 11"/>
          <p:cNvSpPr/>
          <p:nvPr/>
        </p:nvSpPr>
        <p:spPr>
          <a:xfrm>
            <a:off x="9185072" y="5689600"/>
            <a:ext cx="17466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MATCH_CONTENT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77200" y="5943600"/>
            <a:ext cx="396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Thu gọn vừa nội dung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838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Thực hành tốt cho cây phân cấp View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7018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7000B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Không nên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-29845" y="3292475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Lồng quá nhiều ViewGroup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89600" y="2997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7" name="Shape 4"/>
          <p:cNvSpPr/>
          <p:nvPr/>
        </p:nvSpPr>
        <p:spPr>
          <a:xfrm>
            <a:off x="5867400" y="317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010400" y="17018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A63E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Nên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10400" y="32512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Giữ cây phân cấp phẳng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4000" y="5410200"/>
            <a:ext cx="1168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Cách sắp xếp cây phân cấp ảnh hưởng trực tiếp đến hiệu suất ứng dụng. Hãy dùng số lượng View tối thiểu và đơn giản nhất.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4-d2sjh6m1bb2p4onbq9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8:39-d2sjh7u1bb2p4onbq9d0.jp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19005" b="17569"/>
          <a:stretch/>
        </p:blipFill>
        <p:spPr>
          <a:xfrm>
            <a:off x="0" y="1316990"/>
            <a:ext cx="12192000" cy="4321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67155" y="3056890"/>
            <a:ext cx="9475470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ConstraintLayout và Layout Editor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107305" y="1623060"/>
            <a:ext cx="2824344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9:07-d2sjheu1bb2p4onbqa2g.jp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64374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415" y="1687830"/>
            <a:ext cx="0" cy="4709160"/>
          </a:xfrm>
          <a:prstGeom prst="straightConnector1">
            <a:avLst/>
          </a:prstGeom>
          <a:noFill/>
          <a:ln w="31750">
            <a:solidFill>
              <a:srgbClr val="44546A"/>
            </a:solidFill>
            <a:prstDash val="solid"/>
            <a:headEnd type="none"/>
            <a:tailEnd type="arrow"/>
          </a:ln>
        </p:spPr>
      </p:sp>
      <p:sp>
        <p:nvSpPr>
          <p:cNvPr id="4" name="Shape 1"/>
          <p:cNvSpPr/>
          <p:nvPr/>
        </p:nvSpPr>
        <p:spPr>
          <a:xfrm>
            <a:off x="537210" y="546100"/>
            <a:ext cx="410845" cy="410845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5" name="Text 2"/>
          <p:cNvSpPr/>
          <p:nvPr/>
        </p:nvSpPr>
        <p:spPr>
          <a:xfrm>
            <a:off x="537210" y="546100"/>
            <a:ext cx="410845" cy="4108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65225" y="380365"/>
            <a:ext cx="7855972" cy="11096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Trình chỉnh sửa layout với ConstraintLayout có thể: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8382" y="1788452"/>
            <a:ext cx="3997325" cy="35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Kết nối phần tử UI với layout cha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8382" y="2681845"/>
            <a:ext cx="3997325" cy="6232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Thay đổi kích thước và vị trí phần tử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8382" y="3672001"/>
            <a:ext cx="3997325" cy="6232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Căn chỉnh phần tử so với nhau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8382" y="4664891"/>
            <a:ext cx="3997325" cy="35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Điều chỉnh margin, kích thước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4052" y="1914817"/>
            <a:ext cx="327660" cy="327660"/>
          </a:xfrm>
          <a:prstGeom prst="ellipse">
            <a:avLst/>
          </a:prstGeom>
          <a:solidFill>
            <a:srgbClr val="7A8F9E"/>
          </a:solidFill>
          <a:ln/>
        </p:spPr>
      </p:sp>
      <p:sp>
        <p:nvSpPr>
          <p:cNvPr id="12" name="Text 9"/>
          <p:cNvSpPr/>
          <p:nvPr/>
        </p:nvSpPr>
        <p:spPr>
          <a:xfrm>
            <a:off x="354052" y="1914817"/>
            <a:ext cx="327660" cy="327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54052" y="2805035"/>
            <a:ext cx="327660" cy="327660"/>
          </a:xfrm>
          <a:prstGeom prst="ellipse">
            <a:avLst/>
          </a:prstGeom>
          <a:solidFill>
            <a:srgbClr val="7A8F9E"/>
          </a:solidFill>
          <a:ln/>
        </p:spPr>
      </p:sp>
      <p:sp>
        <p:nvSpPr>
          <p:cNvPr id="14" name="Text 11"/>
          <p:cNvSpPr/>
          <p:nvPr/>
        </p:nvSpPr>
        <p:spPr>
          <a:xfrm>
            <a:off x="354052" y="2805035"/>
            <a:ext cx="327660" cy="327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54052" y="3795191"/>
            <a:ext cx="327660" cy="327660"/>
          </a:xfrm>
          <a:prstGeom prst="ellipse">
            <a:avLst/>
          </a:prstGeom>
          <a:solidFill>
            <a:srgbClr val="7A8F9E"/>
          </a:solidFill>
          <a:ln/>
        </p:spPr>
      </p:sp>
      <p:sp>
        <p:nvSpPr>
          <p:cNvPr id="16" name="Text 13"/>
          <p:cNvSpPr/>
          <p:nvPr/>
        </p:nvSpPr>
        <p:spPr>
          <a:xfrm>
            <a:off x="354052" y="3795191"/>
            <a:ext cx="327660" cy="327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4052" y="4771015"/>
            <a:ext cx="327660" cy="327660"/>
          </a:xfrm>
          <a:prstGeom prst="ellipse">
            <a:avLst/>
          </a:prstGeom>
          <a:solidFill>
            <a:srgbClr val="7A8F9E"/>
          </a:solidFill>
          <a:ln/>
        </p:spPr>
      </p:sp>
      <p:sp>
        <p:nvSpPr>
          <p:cNvPr id="18" name="Text 15"/>
          <p:cNvSpPr/>
          <p:nvPr/>
        </p:nvSpPr>
        <p:spPr>
          <a:xfrm>
            <a:off x="354052" y="4771015"/>
            <a:ext cx="327660" cy="327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9" name="Image 1" descr="https://kimi-img.moonshot.cn/pub/slides/slides_tmpl/image/25-09-04-14:59:07-d2sjheu1bb2p4onbqa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405" y="0"/>
            <a:ext cx="2728595" cy="68573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0" y="0"/>
            <a:ext cx="7620000" cy="266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08382" y="5645195"/>
            <a:ext cx="3997325" cy="35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Thay đổi thuộc tính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54052" y="5751319"/>
            <a:ext cx="327660" cy="327660"/>
          </a:xfrm>
          <a:prstGeom prst="ellipse">
            <a:avLst/>
          </a:prstGeom>
          <a:solidFill>
            <a:srgbClr val="7A8F9E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pic>
        <p:nvPicPr>
          <p:cNvPr id="3" name="Image 1" descr="https://kimi-web-img.moonshot.cn/img/img-bss.csdnimg.cn/bddaed76cd53de9d537dae0e5a0eb5031438b323.jpg">    </p:cNvPr>
          <p:cNvPicPr>
            <a:picLocks noChangeAspect="1"/>
          </p:cNvPicPr>
          <p:nvPr/>
        </p:nvPicPr>
        <p:blipFill>
          <a:blip r:embed="rId2"/>
          <a:srcRect l="25000" r="25000" t="0" b="0"/>
          <a:stretch/>
        </p:blipFill>
        <p:spPr>
          <a:xfrm>
            <a:off x="254000" y="254000"/>
            <a:ext cx="5638800" cy="6350000"/>
          </a:xfrm>
          <a:prstGeom prst="roundRect">
            <a:avLst>
              <a:gd name="adj" fmla="val 1802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299200" y="254000"/>
            <a:ext cx="614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ConstraintLayout là gì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299200" y="9144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Đây là layout mặc định cho dự án mới, cung cấp sự linh hoạt tối đa cho thiết kế.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311900" y="17780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7" name="Text 3"/>
          <p:cNvSpPr/>
          <p:nvPr/>
        </p:nvSpPr>
        <p:spPr>
          <a:xfrm>
            <a:off x="6705600" y="1727200"/>
            <a:ext cx="523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Ràng buộc (Constraint):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Kết nối tới View khác, layout cha hoặc guideline vô hình.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350000" y="2540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80975" y="88900"/>
                </a:moveTo>
                <a:lnTo>
                  <a:pt x="123825" y="88900"/>
                </a:lnTo>
                <a:cubicBezTo>
                  <a:pt x="118547" y="88900"/>
                  <a:pt x="114300" y="84653"/>
                  <a:pt x="114300" y="79375"/>
                </a:cubicBezTo>
                <a:lnTo>
                  <a:pt x="114300" y="22225"/>
                </a:lnTo>
                <a:cubicBezTo>
                  <a:pt x="114300" y="18375"/>
                  <a:pt x="116602" y="14883"/>
                  <a:pt x="120174" y="13414"/>
                </a:cubicBezTo>
                <a:cubicBezTo>
                  <a:pt x="123746" y="11946"/>
                  <a:pt x="127833" y="12779"/>
                  <a:pt x="130572" y="15478"/>
                </a:cubicBezTo>
                <a:lnTo>
                  <a:pt x="146447" y="31353"/>
                </a:lnTo>
                <a:lnTo>
                  <a:pt x="175577" y="2222"/>
                </a:lnTo>
                <a:cubicBezTo>
                  <a:pt x="177006" y="794"/>
                  <a:pt x="178951" y="0"/>
                  <a:pt x="180975" y="0"/>
                </a:cubicBezTo>
                <a:cubicBezTo>
                  <a:pt x="182999" y="0"/>
                  <a:pt x="184944" y="794"/>
                  <a:pt x="186412" y="2262"/>
                </a:cubicBezTo>
                <a:lnTo>
                  <a:pt x="200978" y="16828"/>
                </a:lnTo>
                <a:cubicBezTo>
                  <a:pt x="202406" y="18256"/>
                  <a:pt x="203200" y="20201"/>
                  <a:pt x="203200" y="22225"/>
                </a:cubicBezTo>
                <a:cubicBezTo>
                  <a:pt x="203200" y="24249"/>
                  <a:pt x="202406" y="26194"/>
                  <a:pt x="200938" y="27662"/>
                </a:cubicBezTo>
                <a:lnTo>
                  <a:pt x="171847" y="56753"/>
                </a:lnTo>
                <a:lnTo>
                  <a:pt x="187722" y="72628"/>
                </a:lnTo>
                <a:cubicBezTo>
                  <a:pt x="190460" y="75367"/>
                  <a:pt x="191254" y="79454"/>
                  <a:pt x="189786" y="83026"/>
                </a:cubicBezTo>
                <a:cubicBezTo>
                  <a:pt x="188317" y="86598"/>
                  <a:pt x="184825" y="88900"/>
                  <a:pt x="180975" y="88900"/>
                </a:cubicBezTo>
                <a:close/>
                <a:moveTo>
                  <a:pt x="180975" y="114300"/>
                </a:moveTo>
                <a:cubicBezTo>
                  <a:pt x="184825" y="114300"/>
                  <a:pt x="188317" y="116602"/>
                  <a:pt x="189786" y="120174"/>
                </a:cubicBezTo>
                <a:cubicBezTo>
                  <a:pt x="191254" y="123746"/>
                  <a:pt x="190460" y="127833"/>
                  <a:pt x="187722" y="130572"/>
                </a:cubicBezTo>
                <a:lnTo>
                  <a:pt x="171847" y="146447"/>
                </a:lnTo>
                <a:lnTo>
                  <a:pt x="200978" y="175577"/>
                </a:lnTo>
                <a:cubicBezTo>
                  <a:pt x="202406" y="177006"/>
                  <a:pt x="203240" y="178951"/>
                  <a:pt x="203240" y="181015"/>
                </a:cubicBezTo>
                <a:cubicBezTo>
                  <a:pt x="203240" y="183078"/>
                  <a:pt x="202446" y="184983"/>
                  <a:pt x="200978" y="186452"/>
                </a:cubicBezTo>
                <a:lnTo>
                  <a:pt x="186412" y="201017"/>
                </a:lnTo>
                <a:cubicBezTo>
                  <a:pt x="184944" y="202406"/>
                  <a:pt x="182999" y="203200"/>
                  <a:pt x="180975" y="203200"/>
                </a:cubicBezTo>
                <a:cubicBezTo>
                  <a:pt x="178951" y="203200"/>
                  <a:pt x="177006" y="202406"/>
                  <a:pt x="175538" y="200938"/>
                </a:cubicBezTo>
                <a:lnTo>
                  <a:pt x="146447" y="171847"/>
                </a:lnTo>
                <a:lnTo>
                  <a:pt x="130572" y="187722"/>
                </a:lnTo>
                <a:cubicBezTo>
                  <a:pt x="127833" y="190460"/>
                  <a:pt x="123746" y="191254"/>
                  <a:pt x="120174" y="189786"/>
                </a:cubicBezTo>
                <a:cubicBezTo>
                  <a:pt x="116602" y="188317"/>
                  <a:pt x="114300" y="184825"/>
                  <a:pt x="114300" y="180975"/>
                </a:cubicBezTo>
                <a:lnTo>
                  <a:pt x="114300" y="123825"/>
                </a:lnTo>
                <a:cubicBezTo>
                  <a:pt x="114300" y="118547"/>
                  <a:pt x="118547" y="114300"/>
                  <a:pt x="123825" y="114300"/>
                </a:cubicBezTo>
                <a:lnTo>
                  <a:pt x="180975" y="114300"/>
                </a:lnTo>
                <a:close/>
                <a:moveTo>
                  <a:pt x="79375" y="114300"/>
                </a:moveTo>
                <a:cubicBezTo>
                  <a:pt x="84653" y="114300"/>
                  <a:pt x="88900" y="118547"/>
                  <a:pt x="88900" y="123825"/>
                </a:cubicBezTo>
                <a:lnTo>
                  <a:pt x="88900" y="180975"/>
                </a:lnTo>
                <a:cubicBezTo>
                  <a:pt x="88900" y="184825"/>
                  <a:pt x="86598" y="188317"/>
                  <a:pt x="83026" y="189786"/>
                </a:cubicBezTo>
                <a:cubicBezTo>
                  <a:pt x="79454" y="191254"/>
                  <a:pt x="75367" y="190460"/>
                  <a:pt x="72628" y="187722"/>
                </a:cubicBezTo>
                <a:lnTo>
                  <a:pt x="56753" y="171847"/>
                </a:lnTo>
                <a:lnTo>
                  <a:pt x="27622" y="200978"/>
                </a:lnTo>
                <a:cubicBezTo>
                  <a:pt x="26194" y="202406"/>
                  <a:pt x="24249" y="203200"/>
                  <a:pt x="22225" y="203200"/>
                </a:cubicBezTo>
                <a:cubicBezTo>
                  <a:pt x="20201" y="203200"/>
                  <a:pt x="18256" y="202406"/>
                  <a:pt x="16788" y="200938"/>
                </a:cubicBezTo>
                <a:lnTo>
                  <a:pt x="2262" y="186412"/>
                </a:lnTo>
                <a:cubicBezTo>
                  <a:pt x="794" y="184944"/>
                  <a:pt x="0" y="182999"/>
                  <a:pt x="0" y="180975"/>
                </a:cubicBezTo>
                <a:cubicBezTo>
                  <a:pt x="0" y="178951"/>
                  <a:pt x="794" y="177006"/>
                  <a:pt x="2262" y="175538"/>
                </a:cubicBezTo>
                <a:lnTo>
                  <a:pt x="31353" y="146447"/>
                </a:lnTo>
                <a:lnTo>
                  <a:pt x="15478" y="130572"/>
                </a:lnTo>
                <a:cubicBezTo>
                  <a:pt x="12740" y="127833"/>
                  <a:pt x="11946" y="123746"/>
                  <a:pt x="13414" y="120174"/>
                </a:cubicBezTo>
                <a:cubicBezTo>
                  <a:pt x="14883" y="116602"/>
                  <a:pt x="18375" y="114300"/>
                  <a:pt x="22225" y="114300"/>
                </a:cubicBezTo>
                <a:lnTo>
                  <a:pt x="79375" y="114300"/>
                </a:lnTo>
                <a:close/>
                <a:moveTo>
                  <a:pt x="22225" y="88900"/>
                </a:moveTo>
                <a:cubicBezTo>
                  <a:pt x="18375" y="88900"/>
                  <a:pt x="14883" y="86598"/>
                  <a:pt x="13414" y="83026"/>
                </a:cubicBezTo>
                <a:cubicBezTo>
                  <a:pt x="11946" y="79454"/>
                  <a:pt x="12779" y="75367"/>
                  <a:pt x="15478" y="72628"/>
                </a:cubicBezTo>
                <a:lnTo>
                  <a:pt x="31353" y="56753"/>
                </a:lnTo>
                <a:lnTo>
                  <a:pt x="2262" y="27662"/>
                </a:lnTo>
                <a:cubicBezTo>
                  <a:pt x="794" y="26194"/>
                  <a:pt x="0" y="24249"/>
                  <a:pt x="0" y="22225"/>
                </a:cubicBezTo>
                <a:cubicBezTo>
                  <a:pt x="0" y="20201"/>
                  <a:pt x="794" y="18256"/>
                  <a:pt x="2262" y="16788"/>
                </a:cubicBezTo>
                <a:lnTo>
                  <a:pt x="16788" y="2262"/>
                </a:lnTo>
                <a:cubicBezTo>
                  <a:pt x="18256" y="794"/>
                  <a:pt x="20201" y="0"/>
                  <a:pt x="22225" y="0"/>
                </a:cubicBezTo>
                <a:cubicBezTo>
                  <a:pt x="24249" y="0"/>
                  <a:pt x="26194" y="794"/>
                  <a:pt x="27662" y="2262"/>
                </a:cubicBezTo>
                <a:lnTo>
                  <a:pt x="56753" y="31353"/>
                </a:lnTo>
                <a:lnTo>
                  <a:pt x="72628" y="15478"/>
                </a:lnTo>
                <a:cubicBezTo>
                  <a:pt x="75367" y="12740"/>
                  <a:pt x="79454" y="11946"/>
                  <a:pt x="83026" y="13414"/>
                </a:cubicBezTo>
                <a:cubicBezTo>
                  <a:pt x="86598" y="14883"/>
                  <a:pt x="88900" y="18375"/>
                  <a:pt x="88900" y="22225"/>
                </a:cubicBezTo>
                <a:lnTo>
                  <a:pt x="88900" y="79375"/>
                </a:lnTo>
                <a:cubicBezTo>
                  <a:pt x="88900" y="84653"/>
                  <a:pt x="84653" y="88900"/>
                  <a:pt x="79375" y="88900"/>
                </a:cubicBezTo>
                <a:lnTo>
                  <a:pt x="22225" y="8890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9" name="Text 5"/>
          <p:cNvSpPr/>
          <p:nvPr/>
        </p:nvSpPr>
        <p:spPr>
          <a:xfrm>
            <a:off x="6756400" y="2489200"/>
            <a:ext cx="499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Giảm lồng nhau: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Tạo layout phẳng, hiệu suất cao.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354564" y="29972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6350" y="25400"/>
                </a:moveTo>
                <a:cubicBezTo>
                  <a:pt x="6350" y="11390"/>
                  <a:pt x="17740" y="0"/>
                  <a:pt x="31750" y="0"/>
                </a:cubicBezTo>
                <a:lnTo>
                  <a:pt x="120650" y="0"/>
                </a:lnTo>
                <a:cubicBezTo>
                  <a:pt x="134660" y="0"/>
                  <a:pt x="146050" y="11390"/>
                  <a:pt x="146050" y="25400"/>
                </a:cubicBezTo>
                <a:lnTo>
                  <a:pt x="146050" y="177800"/>
                </a:lnTo>
                <a:cubicBezTo>
                  <a:pt x="146050" y="191810"/>
                  <a:pt x="134660" y="203200"/>
                  <a:pt x="120650" y="203200"/>
                </a:cubicBezTo>
                <a:lnTo>
                  <a:pt x="31750" y="203200"/>
                </a:lnTo>
                <a:cubicBezTo>
                  <a:pt x="17740" y="203200"/>
                  <a:pt x="6350" y="191810"/>
                  <a:pt x="6350" y="177800"/>
                </a:cubicBezTo>
                <a:lnTo>
                  <a:pt x="6350" y="25400"/>
                </a:lnTo>
                <a:close/>
                <a:moveTo>
                  <a:pt x="31750" y="25400"/>
                </a:moveTo>
                <a:lnTo>
                  <a:pt x="31750" y="146050"/>
                </a:lnTo>
                <a:lnTo>
                  <a:pt x="120650" y="146050"/>
                </a:lnTo>
                <a:lnTo>
                  <a:pt x="120650" y="25400"/>
                </a:lnTo>
                <a:lnTo>
                  <a:pt x="31750" y="25400"/>
                </a:lnTo>
                <a:close/>
                <a:moveTo>
                  <a:pt x="76200" y="187325"/>
                </a:moveTo>
                <a:cubicBezTo>
                  <a:pt x="83225" y="187325"/>
                  <a:pt x="88900" y="181650"/>
                  <a:pt x="88900" y="174625"/>
                </a:cubicBezTo>
                <a:cubicBezTo>
                  <a:pt x="88900" y="167600"/>
                  <a:pt x="83225" y="161925"/>
                  <a:pt x="76200" y="161925"/>
                </a:cubicBezTo>
                <a:cubicBezTo>
                  <a:pt x="69175" y="161925"/>
                  <a:pt x="63500" y="167600"/>
                  <a:pt x="63500" y="174625"/>
                </a:cubicBezTo>
                <a:cubicBezTo>
                  <a:pt x="63500" y="181650"/>
                  <a:pt x="69175" y="187325"/>
                  <a:pt x="76200" y="187325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1" name="Text 7"/>
          <p:cNvSpPr/>
          <p:nvPr/>
        </p:nvSpPr>
        <p:spPr>
          <a:xfrm>
            <a:off x="6714927" y="2946400"/>
            <a:ext cx="5219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Thích ứng màn hình: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Dễ dàng tương thích nhiều kích thước.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6-d2sjh9m1bb2p4onbq9i0.png">    </p:cNvPr>
          <p:cNvPicPr>
            <a:picLocks noChangeAspect="1"/>
          </p:cNvPicPr>
          <p:nvPr/>
        </p:nvPicPr>
        <p:blipFill>
          <a:blip r:embed="rId1">
            <a:alphaModFix amt="63000"/>
          </a:blip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63750"/>
            <a:ext cx="12192000" cy="3797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2063750"/>
            <a:ext cx="12192000" cy="3797300"/>
          </a:xfrm>
          <a:prstGeom prst="rect">
            <a:avLst/>
          </a:prstGeom>
          <a:noFill/>
          <a:ln/>
        </p:spPr>
        <p:txBody>
          <a:bodyPr wrap="square" lIns="45720" tIns="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63235" y="1688296"/>
            <a:ext cx="6148070" cy="9326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80000"/>
              </a:lnSpc>
              <a:buNone/>
            </a:pPr>
            <a:r>
              <a:rPr lang="en-US" sz="3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Layout editor main toolbar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63235" y="3036988"/>
            <a:ext cx="6148070" cy="27308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Surface</a:t>
            </a:r>
            <a:pPr algn="just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hiển thị layout ở dạng thiết kế hoặc blueprint.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Orientation in Editor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chuyển giữa dọc (Portrait) và ngang (Landscape).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Device in Editor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chọn loại thiết bị để xem trước.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Version in Editor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chọn phiên bản API để preview.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Theme in Editor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chọn giao diện (theme).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Locale in Editor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chọn ngôn ngữ/địa phương để xem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63235" y="2549229"/>
            <a:ext cx="6148705" cy="4877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Thanh công cụ chính của Layout Editor gồm: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4-14:58:46-d2sjh9m1bb2p4onbq9h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1122045"/>
            <a:ext cx="4139565" cy="41281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2-d2sjh8m1bb2p4onbq9g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351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2930" y="179194"/>
            <a:ext cx="11609070" cy="683450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82930" y="179194"/>
            <a:ext cx="11609070" cy="68345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161280" y="1252220"/>
            <a:ext cx="707263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837565" y="914400"/>
            <a:ext cx="410845" cy="410845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7" name="Text 4"/>
          <p:cNvSpPr/>
          <p:nvPr/>
        </p:nvSpPr>
        <p:spPr>
          <a:xfrm>
            <a:off x="837565" y="914400"/>
            <a:ext cx="410845" cy="4108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48410" y="543320"/>
            <a:ext cx="3974691" cy="25606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32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ConstraintLayout toolbar in layout editor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7565" y="3484880"/>
            <a:ext cx="4435475" cy="3413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Show Constraints / Show Margins</a:t>
            </a:r>
            <a:pPr algn="just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bật/tắt hiển thị constraint và margin.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Autoconnect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bật/tắt tự động gắn constraint.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Clear All Constraints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xóa hết constraint.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 Constraints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tự động đoán và tạo constraint.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Default Margins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đặt margin mặc định.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 / Align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gom nhóm, căn chỉnh phần tử.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Guidelines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thêm đường guideline dọc hoặc ngang.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Zoom controls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phóng to/thu nhỏ layout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7565" y="2936875"/>
            <a:ext cx="4129405" cy="4877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Các công cụ chính: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4-14:58:36-d2sjh761bb2p4onbq9bg.jpg">    </p:cNvPr>
          <p:cNvPicPr>
            <a:picLocks noChangeAspect="1"/>
          </p:cNvPicPr>
          <p:nvPr/>
        </p:nvPicPr>
        <p:blipFill>
          <a:blip r:embed="rId2"/>
          <a:srcRect l="0" r="0" t="19716" b="0"/>
          <a:stretch/>
        </p:blipFill>
        <p:spPr>
          <a:xfrm>
            <a:off x="5273040" y="1449705"/>
            <a:ext cx="3344545" cy="4491355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4-14:58:40-d2sjh861bb2p4onbq9e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550" y="1473200"/>
            <a:ext cx="3354705" cy="44913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3-d2sjh8u1bb2p4onbq9g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23"/>
            <a:ext cx="12204000" cy="68777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7565" y="914400"/>
            <a:ext cx="410845" cy="410845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4" name="Text 1"/>
          <p:cNvSpPr/>
          <p:nvPr/>
        </p:nvSpPr>
        <p:spPr>
          <a:xfrm>
            <a:off x="837565" y="914400"/>
            <a:ext cx="410845" cy="4108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7565" y="2510155"/>
            <a:ext cx="5683250" cy="19510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Bật trong toolbar nếu bị tắt.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Khi kéo thả một phần tử vào layout, Autoconnect sẽ tự động tạo các constraint kết nối với layout cha.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50806" y="540206"/>
            <a:ext cx="5682615" cy="987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80000"/>
              </a:lnSpc>
              <a:buNone/>
            </a:pPr>
            <a:r>
              <a:rPr lang="en-US" sz="3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Autoconnect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784715" y="5549265"/>
            <a:ext cx="1990725" cy="483870"/>
          </a:xfrm>
          <a:prstGeom prst="rect">
            <a:avLst/>
          </a:prstGeom>
          <a:solidFill>
            <a:srgbClr val="6D7B87"/>
          </a:solidFill>
          <a:ln/>
        </p:spPr>
      </p:sp>
      <p:sp>
        <p:nvSpPr>
          <p:cNvPr id="8" name="Text 5"/>
          <p:cNvSpPr/>
          <p:nvPr/>
        </p:nvSpPr>
        <p:spPr>
          <a:xfrm>
            <a:off x="9784715" y="5549265"/>
            <a:ext cx="1990725" cy="4838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85" y="-31750"/>
            <a:ext cx="12300585" cy="6921500"/>
          </a:xfrm>
          <a:prstGeom prst="rect">
            <a:avLst/>
          </a:prstGeom>
        </p:spPr>
      </p:pic>
      <p:pic>
        <p:nvPicPr>
          <p:cNvPr id="3" name="Image 1" descr="https://kimi-web-img.moonshot.cn/img/www.androidheadlines.com/8b95a727674e88315df62d897c134e873b620e3d.jpg">    </p:cNvPr>
          <p:cNvPicPr>
            <a:picLocks noChangeAspect="1"/>
          </p:cNvPicPr>
          <p:nvPr/>
        </p:nvPicPr>
        <p:blipFill>
          <a:blip r:embed="rId2"/>
          <a:srcRect l="20126" r="20126" t="0" b="0"/>
          <a:stretch/>
        </p:blipFill>
        <p:spPr>
          <a:xfrm>
            <a:off x="254000" y="254000"/>
            <a:ext cx="5689600" cy="6350000"/>
          </a:xfrm>
          <a:prstGeom prst="roundRect">
            <a:avLst>
              <a:gd name="adj" fmla="val 1786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248400" y="254000"/>
            <a:ext cx="619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Handle và Attributes Pane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248400" y="914400"/>
            <a:ext cx="5689600" cy="863600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6400800" y="1066800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Resize Handle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0" y="1371600"/>
            <a:ext cx="589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Điều chỉnh kích thước View.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248400" y="1981200"/>
            <a:ext cx="5689600" cy="863600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0" y="2133600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Baseline Handle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0" y="2438400"/>
            <a:ext cx="589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Căn chỉnh theo đường cơ sở của văn bản.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48400" y="3048000"/>
            <a:ext cx="5689600" cy="863600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400800" y="3200400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 Handle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3505200"/>
            <a:ext cx="589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Kéo để tạo ràng buộc với View khác.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48400" y="5189962"/>
            <a:ext cx="5689600" cy="863600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0" y="5342362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 Pane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00800" y="5647162"/>
            <a:ext cx="589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Bảng điều chỉnh margin, layout_width, layout_height...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248400" y="4096738"/>
            <a:ext cx="5689600" cy="863600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0" y="4249138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 line and handle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00800" y="4553938"/>
            <a:ext cx="589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Vẽ và chỉnh đường constraint.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52-d2sjhb61bb2p4onbq9n0.jp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6710" y="497205"/>
            <a:ext cx="410845" cy="410845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4" name="Text 1"/>
          <p:cNvSpPr/>
          <p:nvPr/>
        </p:nvSpPr>
        <p:spPr>
          <a:xfrm>
            <a:off x="346710" y="497205"/>
            <a:ext cx="410845" cy="4108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55575" y="1139190"/>
            <a:ext cx="1203960" cy="412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Thiết lập thuộc tính trong Layout Editor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123440" y="494030"/>
            <a:ext cx="9406890" cy="1851660"/>
          </a:xfrm>
          <a:prstGeom prst="roundRect">
            <a:avLst/>
          </a:prstGeom>
          <a:gradFill rotWithShape="1" flip="none">
            <a:gsLst>
              <a:gs pos="0">
                <a:srgbClr val="FFFFFF">
                  <a:alpha val="50000"/>
                </a:srgbClr>
              </a:gs>
              <a:gs pos="17000">
                <a:srgbClr val="FFFFFF">
                  <a:alpha val="50000"/>
                </a:srgbClr>
              </a:gs>
              <a:gs pos="97000">
                <a:srgbClr val="ADBACA">
                  <a:alpha val="80000"/>
                </a:srgbClr>
              </a:gs>
              <a:gs pos="100000">
                <a:srgbClr val="ADBACA">
                  <a:alpha val="80000"/>
                </a:srgbClr>
              </a:gs>
            </a:gsLst>
            <a:lin ang="105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2123440" y="494030"/>
            <a:ext cx="9406890" cy="1851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53765" y="1139190"/>
            <a:ext cx="8076565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Vertical view size control: chỉnh layout_height 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Horizontal view size control: chỉnh layout_width 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 pane close button: nút đóng bảng thuộc tính.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53765" y="702628"/>
            <a:ext cx="5176520" cy="35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 pane view inspector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9-04-14:58:55-d2sjhbu1bb2p4onbq9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360" y="504825"/>
            <a:ext cx="1845945" cy="184086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25980" y="2498725"/>
            <a:ext cx="9406890" cy="1851660"/>
          </a:xfrm>
          <a:prstGeom prst="roundRect">
            <a:avLst/>
          </a:prstGeom>
          <a:gradFill rotWithShape="1" flip="none">
            <a:gsLst>
              <a:gs pos="0">
                <a:srgbClr val="FFFFFF">
                  <a:alpha val="50000"/>
                </a:srgbClr>
              </a:gs>
              <a:gs pos="17000">
                <a:srgbClr val="FFFFFF">
                  <a:alpha val="50000"/>
                </a:srgbClr>
              </a:gs>
              <a:gs pos="97000">
                <a:srgbClr val="ADBACA">
                  <a:alpha val="80000"/>
                </a:srgbClr>
              </a:gs>
              <a:gs pos="100000">
                <a:srgbClr val="ADBACA">
                  <a:alpha val="80000"/>
                </a:srgbClr>
              </a:gs>
            </a:gsLst>
            <a:lin ang="10500000" scaled="1"/>
          </a:gradFill>
          <a:ln/>
        </p:spPr>
      </p:sp>
      <p:sp>
        <p:nvSpPr>
          <p:cNvPr id="12" name="Text 8"/>
          <p:cNvSpPr/>
          <p:nvPr/>
        </p:nvSpPr>
        <p:spPr>
          <a:xfrm>
            <a:off x="2125980" y="2498725"/>
            <a:ext cx="9406890" cy="1851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53765" y="3016114"/>
            <a:ext cx="8076565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Hai thuộc tính cơ bản nhất của View: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match_constraint : mở rộng phần tử để lấp đầy vùng cho phép.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wrap_content : co lại để vừa với nội dung.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Giá trị cố định</a:t>
            </a:r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số dp (density-independent pixels)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53765" y="2576473"/>
            <a:ext cx="5176520" cy="6232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Layout_width and layout_height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143760" y="4493895"/>
            <a:ext cx="9406890" cy="1851660"/>
          </a:xfrm>
          <a:prstGeom prst="roundRect">
            <a:avLst/>
          </a:prstGeom>
          <a:gradFill rotWithShape="1" flip="none">
            <a:gsLst>
              <a:gs pos="0">
                <a:srgbClr val="FFFFFF">
                  <a:alpha val="50000"/>
                </a:srgbClr>
              </a:gs>
              <a:gs pos="17000">
                <a:srgbClr val="FFFFFF">
                  <a:alpha val="50000"/>
                </a:srgbClr>
              </a:gs>
              <a:gs pos="97000">
                <a:srgbClr val="ADBACA">
                  <a:alpha val="80000"/>
                </a:srgbClr>
              </a:gs>
              <a:gs pos="100000">
                <a:srgbClr val="ADBACA">
                  <a:alpha val="80000"/>
                </a:srgbClr>
              </a:gs>
            </a:gsLst>
            <a:lin ang="10500000" scaled="1"/>
          </a:gradFill>
          <a:ln/>
        </p:spPr>
      </p:sp>
      <p:sp>
        <p:nvSpPr>
          <p:cNvPr id="16" name="Text 12"/>
          <p:cNvSpPr/>
          <p:nvPr/>
        </p:nvSpPr>
        <p:spPr>
          <a:xfrm>
            <a:off x="2143760" y="4493895"/>
            <a:ext cx="9406890" cy="1851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53765" y="4850487"/>
            <a:ext cx="8076565" cy="1333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Cách xem và chỉnh tất cả thuộc tính của phần tử: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Nhấn tab Attributes.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Chọn phần tử trong Design, Blueprint hoặc Component Tree.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Thay đổi thuộc tính thường dùng.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Nhấn View more attributes để thấy và chỉnh thêm các thuộc tính nâng cao.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53765" y="4493895"/>
            <a:ext cx="5176520" cy="356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 attributes</a:t>
            </a:r>
            <a:endParaRPr lang="en-US" sz="1600" dirty="0"/>
          </a:p>
        </p:txBody>
      </p:sp>
      <p:pic>
        <p:nvPicPr>
          <p:cNvPr id="19" name="Image 2" descr="https://kimi-img.moonshot.cn/pub/slides/slides_tmpl/image/25-09-04-14:58:56-d2sjhc61bb2p4onbq9p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90" y="2491740"/>
            <a:ext cx="1845310" cy="1840230"/>
          </a:xfrm>
          <a:prstGeom prst="rect">
            <a:avLst/>
          </a:prstGeom>
        </p:spPr>
      </p:pic>
      <p:pic>
        <p:nvPicPr>
          <p:cNvPr id="20" name="Image 3" descr="https://kimi-img.moonshot.cn/pub/slides/slides_tmpl/image/25-09-04-14:58:55-d2sjhbu1bb2p4onbq9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825" y="4479925"/>
            <a:ext cx="1845310" cy="18402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47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Preview và Tạo Layout Variant</a:t>
            </a:r>
            <a:endParaRPr lang="en-US" sz="1600" dirty="0"/>
          </a:p>
        </p:txBody>
      </p:sp>
      <p:pic>
        <p:nvPicPr>
          <p:cNvPr id="4" name="Image 1" descr="https://kimi-web-img.moonshot.cn/img/www.androidheadlines.com/8b95a727674e88315df62d897c134e873b620e3d.jpg">    </p:cNvPr>
          <p:cNvPicPr>
            <a:picLocks noChangeAspect="1"/>
          </p:cNvPicPr>
          <p:nvPr/>
        </p:nvPicPr>
        <p:blipFill>
          <a:blip r:embed="rId2"/>
          <a:srcRect l="0" r="0" t="23221" b="23221"/>
          <a:stretch/>
        </p:blipFill>
        <p:spPr>
          <a:xfrm>
            <a:off x="254000" y="2209800"/>
            <a:ext cx="5689600" cy="2032000"/>
          </a:xfrm>
          <a:prstGeom prst="roundRect">
            <a:avLst>
              <a:gd name="adj" fmla="val 500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254000" y="4445000"/>
            <a:ext cx="619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Xem trước (Preview)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54000" y="4944865"/>
            <a:ext cx="5689600" cy="1199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Kiểm tra giao diện trên nhiều thiết bị, chế độ dọc/ngang để đảm bảo tính thích ứng: 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Orientation in Editor</a:t>
            </a:r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chuyển ngang ↔ dọc (Landscape / Portrait).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Device in Editor: </a:t>
            </a:r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chọn thiết bị để xem trước (điện thoại, tablet…).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endParaRPr lang="en-US" sz="1600" dirty="0"/>
          </a:p>
        </p:txBody>
      </p:sp>
      <p:pic>
        <p:nvPicPr>
          <p:cNvPr id="7" name="Image 2" descr="https://kimi-web-img.moonshot.cn/img/media.geeksforgeeks.org/ad8585ad49c2430afd30c1d399a1a0fead5baf51.jpg">    </p:cNvPr>
          <p:cNvPicPr>
            <a:picLocks noChangeAspect="1"/>
          </p:cNvPicPr>
          <p:nvPr/>
        </p:nvPicPr>
        <p:blipFill>
          <a:blip r:embed="rId3"/>
          <a:srcRect l="0" r="0" t="37836" b="37836"/>
          <a:stretch/>
        </p:blipFill>
        <p:spPr>
          <a:xfrm>
            <a:off x="6248400" y="2209800"/>
            <a:ext cx="5689600" cy="2032000"/>
          </a:xfrm>
          <a:prstGeom prst="roundRect">
            <a:avLst>
              <a:gd name="adj" fmla="val 5000"/>
            </a:avLst>
          </a:prstGeom>
        </p:spPr>
      </p:pic>
      <p:sp>
        <p:nvSpPr>
          <p:cNvPr id="8" name="Text 3"/>
          <p:cNvSpPr/>
          <p:nvPr/>
        </p:nvSpPr>
        <p:spPr>
          <a:xfrm>
            <a:off x="6248400" y="4445000"/>
            <a:ext cx="619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Tạo Layout Variant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248400" y="4548079"/>
            <a:ext cx="5689600" cy="1711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Layout cho chế độ ngang (landscape): Tạo biến thể activity_main.xml (land) để tùy chỉnh giao diện khi xoay ngang.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Layout cho tablet: Tạo biến thể activity_main.xml (xlarge) để tối ưu giao diện trên màn hình lớn.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4-d2sjh6m1bb2p4onbq9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8:39-d2sjh7u1bb2p4onbq9d0.jp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19005" b="17569"/>
          <a:stretch/>
        </p:blipFill>
        <p:spPr>
          <a:xfrm>
            <a:off x="0" y="1316990"/>
            <a:ext cx="12192000" cy="4321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67155" y="3056890"/>
            <a:ext cx="9475470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Xử lý sự kiện và tài nguyên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107305" y="1623060"/>
            <a:ext cx="2824344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614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và Event Handler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9144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Để ứng dụng phản hồi người dùng, cần bắt (Event) và xử lý (Event Handler) các hành động.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1727200"/>
            <a:ext cx="5638800" cy="1244600"/>
          </a:xfrm>
          <a:custGeom>
            <a:avLst/>
            <a:gdLst/>
            <a:ahLst/>
            <a:cxnLst/>
            <a:rect l="l" t="t" r="r" b="b"/>
            <a:pathLst>
              <a:path w="5638800" h="1244600">
                <a:moveTo>
                  <a:pt x="101597" y="0"/>
                </a:moveTo>
                <a:lnTo>
                  <a:pt x="5537203" y="0"/>
                </a:lnTo>
                <a:cubicBezTo>
                  <a:pt x="5593314" y="0"/>
                  <a:pt x="5638800" y="45486"/>
                  <a:pt x="5638800" y="101597"/>
                </a:cubicBezTo>
                <a:lnTo>
                  <a:pt x="5638800" y="1143003"/>
                </a:lnTo>
                <a:cubicBezTo>
                  <a:pt x="5638800" y="1199114"/>
                  <a:pt x="5593314" y="1244600"/>
                  <a:pt x="5537203" y="1244600"/>
                </a:cubicBezTo>
                <a:lnTo>
                  <a:pt x="101597" y="1244600"/>
                </a:lnTo>
                <a:cubicBezTo>
                  <a:pt x="45486" y="1244600"/>
                  <a:pt x="0" y="1199114"/>
                  <a:pt x="0" y="11430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930400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Cách 1: Khai báo trong XML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235200"/>
            <a:ext cx="5232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Dùng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android:onClick="methodName"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và định nghĩa phương thức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methodName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trong Activity.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4000" y="3175000"/>
            <a:ext cx="5638800" cy="1231900"/>
          </a:xfrm>
          <a:custGeom>
            <a:avLst/>
            <a:gdLst/>
            <a:ahLst/>
            <a:cxnLst/>
            <a:rect l="l" t="t" r="r" b="b"/>
            <a:pathLst>
              <a:path w="5638800" h="1231900">
                <a:moveTo>
                  <a:pt x="101595" y="0"/>
                </a:moveTo>
                <a:lnTo>
                  <a:pt x="5537205" y="0"/>
                </a:lnTo>
                <a:cubicBezTo>
                  <a:pt x="5593314" y="0"/>
                  <a:pt x="5638800" y="45486"/>
                  <a:pt x="5638800" y="101595"/>
                </a:cubicBezTo>
                <a:lnTo>
                  <a:pt x="5638800" y="1130305"/>
                </a:lnTo>
                <a:cubicBezTo>
                  <a:pt x="5638800" y="1186414"/>
                  <a:pt x="5593314" y="1231900"/>
                  <a:pt x="55372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378200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Cách 2: Lập trình trong Java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683000"/>
            <a:ext cx="52324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Dùng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setOnClickListener()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để gắn hành động trực tiếp cho View.</a:t>
            </a:r>
            <a:endParaRPr lang="en-US" sz="1600" dirty="0"/>
          </a:p>
        </p:txBody>
      </p:sp>
      <p:pic>
        <p:nvPicPr>
          <p:cNvPr id="11" name="Image 1" descr="https://kimi-web-img.moonshot.cn/img/content-management-files.canva.com/b89cd11709c2812d8ff7605db621a4c933711543.png">    </p:cNvPr>
          <p:cNvPicPr>
            <a:picLocks noChangeAspect="1"/>
          </p:cNvPicPr>
          <p:nvPr/>
        </p:nvPicPr>
        <p:blipFill>
          <a:blip r:embed="rId2"/>
          <a:srcRect l="5690" r="5690" t="0" b="0"/>
          <a:stretch/>
        </p:blipFill>
        <p:spPr>
          <a:xfrm>
            <a:off x="6299200" y="1047750"/>
            <a:ext cx="56388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22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Tách tài nguyên khỏi code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559050"/>
            <a:ext cx="5638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Đưa dữ liệu tĩnh (chuỗi, màu sắc, kích thước) vào thư mục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res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giúp dễ bảo trì và hỗ trợ đa ngôn ngữ.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3384550"/>
            <a:ext cx="5638800" cy="1676400"/>
          </a:xfrm>
          <a:custGeom>
            <a:avLst/>
            <a:gdLst/>
            <a:ahLst/>
            <a:cxnLst/>
            <a:rect l="l" t="t" r="r" b="b"/>
            <a:pathLst>
              <a:path w="5638800" h="1676400">
                <a:moveTo>
                  <a:pt x="101607" y="0"/>
                </a:moveTo>
                <a:lnTo>
                  <a:pt x="5537193" y="0"/>
                </a:lnTo>
                <a:cubicBezTo>
                  <a:pt x="5593309" y="0"/>
                  <a:pt x="5638800" y="45491"/>
                  <a:pt x="5638800" y="101607"/>
                </a:cubicBezTo>
                <a:lnTo>
                  <a:pt x="5638800" y="1574793"/>
                </a:lnTo>
                <a:cubicBezTo>
                  <a:pt x="5638800" y="1630909"/>
                  <a:pt x="5593309" y="1676400"/>
                  <a:pt x="55371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587750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Cách tham chiếu: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4006850"/>
            <a:ext cx="1763514" cy="215900"/>
          </a:xfrm>
          <a:custGeom>
            <a:avLst/>
            <a:gdLst/>
            <a:ahLst/>
            <a:cxnLst/>
            <a:rect l="l" t="t" r="r" b="b"/>
            <a:pathLst>
              <a:path w="1763514" h="215900">
                <a:moveTo>
                  <a:pt x="50799" y="0"/>
                </a:moveTo>
                <a:lnTo>
                  <a:pt x="1712715" y="0"/>
                </a:lnTo>
                <a:cubicBezTo>
                  <a:pt x="1740771" y="0"/>
                  <a:pt x="1763514" y="22744"/>
                  <a:pt x="1763514" y="50799"/>
                </a:cubicBezTo>
                <a:lnTo>
                  <a:pt x="1763514" y="165101"/>
                </a:lnTo>
                <a:cubicBezTo>
                  <a:pt x="1763514" y="193156"/>
                  <a:pt x="1740771" y="215900"/>
                  <a:pt x="1712715" y="215900"/>
                </a:cubicBezTo>
                <a:lnTo>
                  <a:pt x="50799" y="215900"/>
                </a:lnTo>
                <a:cubicBezTo>
                  <a:pt x="22744" y="215900"/>
                  <a:pt x="0" y="193156"/>
                  <a:pt x="0" y="1651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006850"/>
            <a:ext cx="2271514" cy="2159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R.string.app_name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311650"/>
            <a:ext cx="2154634" cy="215900"/>
          </a:xfrm>
          <a:custGeom>
            <a:avLst/>
            <a:gdLst/>
            <a:ahLst/>
            <a:cxnLst/>
            <a:rect l="l" t="t" r="r" b="b"/>
            <a:pathLst>
              <a:path w="2154634" h="215900">
                <a:moveTo>
                  <a:pt x="50799" y="0"/>
                </a:moveTo>
                <a:lnTo>
                  <a:pt x="2103835" y="0"/>
                </a:lnTo>
                <a:cubicBezTo>
                  <a:pt x="2131891" y="0"/>
                  <a:pt x="2154634" y="22744"/>
                  <a:pt x="2154634" y="50799"/>
                </a:cubicBezTo>
                <a:lnTo>
                  <a:pt x="2154634" y="165101"/>
                </a:lnTo>
                <a:cubicBezTo>
                  <a:pt x="2154634" y="193156"/>
                  <a:pt x="2131891" y="215900"/>
                  <a:pt x="2103835" y="215900"/>
                </a:cubicBezTo>
                <a:lnTo>
                  <a:pt x="50799" y="215900"/>
                </a:lnTo>
                <a:cubicBezTo>
                  <a:pt x="22744" y="215900"/>
                  <a:pt x="0" y="193156"/>
                  <a:pt x="0" y="1651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311650"/>
            <a:ext cx="2662634" cy="2159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R.color.primary_color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4616450"/>
            <a:ext cx="1763514" cy="215900"/>
          </a:xfrm>
          <a:custGeom>
            <a:avLst/>
            <a:gdLst/>
            <a:ahLst/>
            <a:cxnLst/>
            <a:rect l="l" t="t" r="r" b="b"/>
            <a:pathLst>
              <a:path w="1763514" h="215900">
                <a:moveTo>
                  <a:pt x="50799" y="0"/>
                </a:moveTo>
                <a:lnTo>
                  <a:pt x="1712715" y="0"/>
                </a:lnTo>
                <a:cubicBezTo>
                  <a:pt x="1740771" y="0"/>
                  <a:pt x="1763514" y="22744"/>
                  <a:pt x="1763514" y="50799"/>
                </a:cubicBezTo>
                <a:lnTo>
                  <a:pt x="1763514" y="165101"/>
                </a:lnTo>
                <a:cubicBezTo>
                  <a:pt x="1763514" y="193156"/>
                  <a:pt x="1740771" y="215900"/>
                  <a:pt x="1712715" y="215900"/>
                </a:cubicBezTo>
                <a:lnTo>
                  <a:pt x="50799" y="215900"/>
                </a:lnTo>
                <a:cubicBezTo>
                  <a:pt x="22744" y="215900"/>
                  <a:pt x="0" y="193156"/>
                  <a:pt x="0" y="1651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616450"/>
            <a:ext cx="2271514" cy="2159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R.dimen.text_size</a:t>
            </a:r>
            <a:endParaRPr lang="en-US" sz="1600" dirty="0"/>
          </a:p>
        </p:txBody>
      </p:sp>
      <p:pic>
        <p:nvPicPr>
          <p:cNvPr id="13" name="Image 1" descr="https://kimi-web-img.moonshot.cn/img/www.androidheadlines.com/8b95a727674e88315df62d897c134e873b620e3d.jpg">    </p:cNvPr>
          <p:cNvPicPr>
            <a:picLocks noChangeAspect="1"/>
          </p:cNvPicPr>
          <p:nvPr/>
        </p:nvPicPr>
        <p:blipFill>
          <a:blip r:embed="rId2"/>
          <a:srcRect l="0" r="0" t="6768" b="6768"/>
          <a:stretch/>
        </p:blipFill>
        <p:spPr>
          <a:xfrm>
            <a:off x="6299200" y="2184400"/>
            <a:ext cx="5638800" cy="3251200"/>
          </a:xfrm>
          <a:prstGeom prst="roundRect">
            <a:avLst>
              <a:gd name="adj" fmla="val 3125"/>
            </a:avLst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39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Đơn vị đo dp và sp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8200" y="1803400"/>
            <a:ext cx="4673600" cy="3403600"/>
          </a:xfrm>
          <a:custGeom>
            <a:avLst/>
            <a:gdLst/>
            <a:ahLst/>
            <a:cxnLst/>
            <a:rect l="l" t="t" r="r" b="b"/>
            <a:pathLst>
              <a:path w="4673600" h="3403600">
                <a:moveTo>
                  <a:pt x="101597" y="0"/>
                </a:moveTo>
                <a:lnTo>
                  <a:pt x="4572003" y="0"/>
                </a:lnTo>
                <a:cubicBezTo>
                  <a:pt x="4628113" y="0"/>
                  <a:pt x="4673600" y="45487"/>
                  <a:pt x="4673600" y="101597"/>
                </a:cubicBezTo>
                <a:lnTo>
                  <a:pt x="4673600" y="3302003"/>
                </a:lnTo>
                <a:cubicBezTo>
                  <a:pt x="4673600" y="3358113"/>
                  <a:pt x="4628113" y="3403600"/>
                  <a:pt x="4572003" y="3403600"/>
                </a:cubicBezTo>
                <a:lnTo>
                  <a:pt x="101597" y="3403600"/>
                </a:lnTo>
                <a:cubicBezTo>
                  <a:pt x="45487" y="3403600"/>
                  <a:pt x="0" y="3358113"/>
                  <a:pt x="0" y="33020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746375" y="21082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71438" y="571500"/>
                </a:moveTo>
                <a:cubicBezTo>
                  <a:pt x="31998" y="571500"/>
                  <a:pt x="0" y="539502"/>
                  <a:pt x="0" y="500063"/>
                </a:cubicBezTo>
                <a:lnTo>
                  <a:pt x="0" y="261938"/>
                </a:lnTo>
                <a:cubicBezTo>
                  <a:pt x="0" y="222498"/>
                  <a:pt x="31998" y="190500"/>
                  <a:pt x="71438" y="190500"/>
                </a:cubicBezTo>
                <a:lnTo>
                  <a:pt x="107156" y="190500"/>
                </a:lnTo>
                <a:lnTo>
                  <a:pt x="107156" y="345281"/>
                </a:lnTo>
                <a:cubicBezTo>
                  <a:pt x="107156" y="365075"/>
                  <a:pt x="123081" y="381000"/>
                  <a:pt x="142875" y="381000"/>
                </a:cubicBezTo>
                <a:cubicBezTo>
                  <a:pt x="162669" y="381000"/>
                  <a:pt x="178594" y="365075"/>
                  <a:pt x="178594" y="345281"/>
                </a:cubicBezTo>
                <a:lnTo>
                  <a:pt x="178594" y="190500"/>
                </a:lnTo>
                <a:lnTo>
                  <a:pt x="250031" y="190500"/>
                </a:lnTo>
                <a:lnTo>
                  <a:pt x="250031" y="297656"/>
                </a:lnTo>
                <a:cubicBezTo>
                  <a:pt x="250031" y="317450"/>
                  <a:pt x="265956" y="333375"/>
                  <a:pt x="285750" y="333375"/>
                </a:cubicBezTo>
                <a:cubicBezTo>
                  <a:pt x="305544" y="333375"/>
                  <a:pt x="321469" y="317450"/>
                  <a:pt x="321469" y="297656"/>
                </a:cubicBezTo>
                <a:lnTo>
                  <a:pt x="321469" y="190500"/>
                </a:lnTo>
                <a:lnTo>
                  <a:pt x="392906" y="190500"/>
                </a:lnTo>
                <a:lnTo>
                  <a:pt x="392906" y="345281"/>
                </a:lnTo>
                <a:cubicBezTo>
                  <a:pt x="392906" y="365075"/>
                  <a:pt x="408831" y="381000"/>
                  <a:pt x="428625" y="381000"/>
                </a:cubicBezTo>
                <a:cubicBezTo>
                  <a:pt x="448419" y="381000"/>
                  <a:pt x="464344" y="365075"/>
                  <a:pt x="464344" y="345281"/>
                </a:cubicBezTo>
                <a:lnTo>
                  <a:pt x="464344" y="190500"/>
                </a:lnTo>
                <a:lnTo>
                  <a:pt x="535781" y="190500"/>
                </a:lnTo>
                <a:lnTo>
                  <a:pt x="535781" y="297656"/>
                </a:lnTo>
                <a:cubicBezTo>
                  <a:pt x="535781" y="317450"/>
                  <a:pt x="551706" y="333375"/>
                  <a:pt x="571500" y="333375"/>
                </a:cubicBezTo>
                <a:cubicBezTo>
                  <a:pt x="591294" y="333375"/>
                  <a:pt x="607219" y="317450"/>
                  <a:pt x="607219" y="297656"/>
                </a:cubicBezTo>
                <a:lnTo>
                  <a:pt x="607219" y="190500"/>
                </a:lnTo>
                <a:lnTo>
                  <a:pt x="678656" y="190500"/>
                </a:lnTo>
                <a:lnTo>
                  <a:pt x="678656" y="345281"/>
                </a:lnTo>
                <a:cubicBezTo>
                  <a:pt x="678656" y="365075"/>
                  <a:pt x="694581" y="381000"/>
                  <a:pt x="714375" y="381000"/>
                </a:cubicBezTo>
                <a:cubicBezTo>
                  <a:pt x="734169" y="381000"/>
                  <a:pt x="750094" y="365075"/>
                  <a:pt x="750094" y="345281"/>
                </a:cubicBezTo>
                <a:lnTo>
                  <a:pt x="750094" y="190500"/>
                </a:lnTo>
                <a:lnTo>
                  <a:pt x="785813" y="190500"/>
                </a:lnTo>
                <a:cubicBezTo>
                  <a:pt x="825252" y="190500"/>
                  <a:pt x="857250" y="222498"/>
                  <a:pt x="857250" y="261938"/>
                </a:cubicBezTo>
                <a:lnTo>
                  <a:pt x="857250" y="500063"/>
                </a:lnTo>
                <a:cubicBezTo>
                  <a:pt x="857250" y="539502"/>
                  <a:pt x="825252" y="571500"/>
                  <a:pt x="785813" y="571500"/>
                </a:cubicBezTo>
                <a:lnTo>
                  <a:pt x="71438" y="57150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3073400"/>
            <a:ext cx="406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dp (Density-independent pixels)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3987800"/>
            <a:ext cx="406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Dùng cho kích thước của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Đảm bảo kích thước vật lý giống nhau trên mọi màn hình.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680200" y="1803400"/>
            <a:ext cx="4673600" cy="3403600"/>
          </a:xfrm>
          <a:custGeom>
            <a:avLst/>
            <a:gdLst/>
            <a:ahLst/>
            <a:cxnLst/>
            <a:rect l="l" t="t" r="r" b="b"/>
            <a:pathLst>
              <a:path w="4673600" h="3403600">
                <a:moveTo>
                  <a:pt x="101597" y="0"/>
                </a:moveTo>
                <a:lnTo>
                  <a:pt x="4572003" y="0"/>
                </a:lnTo>
                <a:cubicBezTo>
                  <a:pt x="4628113" y="0"/>
                  <a:pt x="4673600" y="45487"/>
                  <a:pt x="4673600" y="101597"/>
                </a:cubicBezTo>
                <a:lnTo>
                  <a:pt x="4673600" y="3302003"/>
                </a:lnTo>
                <a:cubicBezTo>
                  <a:pt x="4673600" y="3358113"/>
                  <a:pt x="4628113" y="3403600"/>
                  <a:pt x="4572003" y="3403600"/>
                </a:cubicBezTo>
                <a:lnTo>
                  <a:pt x="101597" y="3403600"/>
                </a:lnTo>
                <a:cubicBezTo>
                  <a:pt x="45487" y="3403600"/>
                  <a:pt x="0" y="3358113"/>
                  <a:pt x="0" y="33020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Shape 6"/>
          <p:cNvSpPr/>
          <p:nvPr/>
        </p:nvSpPr>
        <p:spPr>
          <a:xfrm>
            <a:off x="8636000" y="2108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24309" y="75456"/>
                </a:moveTo>
                <a:cubicBezTo>
                  <a:pt x="416570" y="58489"/>
                  <a:pt x="399604" y="47625"/>
                  <a:pt x="381000" y="47625"/>
                </a:cubicBezTo>
                <a:cubicBezTo>
                  <a:pt x="362396" y="47625"/>
                  <a:pt x="345430" y="58489"/>
                  <a:pt x="337691" y="75456"/>
                </a:cubicBezTo>
                <a:lnTo>
                  <a:pt x="88553" y="619125"/>
                </a:lnTo>
                <a:lnTo>
                  <a:pt x="71438" y="619125"/>
                </a:lnTo>
                <a:cubicBezTo>
                  <a:pt x="45095" y="619125"/>
                  <a:pt x="23812" y="640407"/>
                  <a:pt x="23812" y="666750"/>
                </a:cubicBezTo>
                <a:cubicBezTo>
                  <a:pt x="23812" y="693093"/>
                  <a:pt x="45095" y="714375"/>
                  <a:pt x="71438" y="714375"/>
                </a:cubicBezTo>
                <a:lnTo>
                  <a:pt x="202406" y="714375"/>
                </a:lnTo>
                <a:cubicBezTo>
                  <a:pt x="228749" y="714375"/>
                  <a:pt x="250031" y="693093"/>
                  <a:pt x="250031" y="666750"/>
                </a:cubicBezTo>
                <a:cubicBezTo>
                  <a:pt x="250031" y="640407"/>
                  <a:pt x="228749" y="619125"/>
                  <a:pt x="202406" y="619125"/>
                </a:cubicBezTo>
                <a:lnTo>
                  <a:pt x="193328" y="619125"/>
                </a:lnTo>
                <a:lnTo>
                  <a:pt x="226070" y="547687"/>
                </a:lnTo>
                <a:lnTo>
                  <a:pt x="536079" y="547687"/>
                </a:lnTo>
                <a:lnTo>
                  <a:pt x="568821" y="619125"/>
                </a:lnTo>
                <a:lnTo>
                  <a:pt x="559743" y="619125"/>
                </a:lnTo>
                <a:cubicBezTo>
                  <a:pt x="533400" y="619125"/>
                  <a:pt x="512118" y="640407"/>
                  <a:pt x="512118" y="666750"/>
                </a:cubicBezTo>
                <a:cubicBezTo>
                  <a:pt x="512118" y="693093"/>
                  <a:pt x="533400" y="714375"/>
                  <a:pt x="559743" y="714375"/>
                </a:cubicBezTo>
                <a:lnTo>
                  <a:pt x="690711" y="714375"/>
                </a:lnTo>
                <a:cubicBezTo>
                  <a:pt x="717054" y="714375"/>
                  <a:pt x="738336" y="693093"/>
                  <a:pt x="738336" y="666750"/>
                </a:cubicBezTo>
                <a:cubicBezTo>
                  <a:pt x="738336" y="640407"/>
                  <a:pt x="717054" y="619125"/>
                  <a:pt x="690711" y="619125"/>
                </a:cubicBezTo>
                <a:lnTo>
                  <a:pt x="673596" y="619125"/>
                </a:lnTo>
                <a:lnTo>
                  <a:pt x="424458" y="75456"/>
                </a:lnTo>
                <a:close/>
                <a:moveTo>
                  <a:pt x="492323" y="452438"/>
                </a:moveTo>
                <a:lnTo>
                  <a:pt x="269677" y="452438"/>
                </a:lnTo>
                <a:lnTo>
                  <a:pt x="381000" y="209550"/>
                </a:lnTo>
                <a:lnTo>
                  <a:pt x="492323" y="452438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0" name="Text 7"/>
          <p:cNvSpPr/>
          <p:nvPr/>
        </p:nvSpPr>
        <p:spPr>
          <a:xfrm>
            <a:off x="6985000" y="3073400"/>
            <a:ext cx="406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 (Scale-independent pixels)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85000" y="3987800"/>
            <a:ext cx="406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Dùng cho kích thước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chữ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Tương tự dp nhưng còn tôn trọng cài đặt font chữ hệ thống của người dùng.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54000" y="56134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Không nên dùng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px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in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mm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9B79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pt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để tránh hiển thị không đều.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4-d2sjh6m1bb2p4onbq9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8:39-d2sjh7u1bb2p4onbq9d0.jp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19005" b="17569"/>
          <a:stretch/>
        </p:blipFill>
        <p:spPr>
          <a:xfrm>
            <a:off x="0" y="1316990"/>
            <a:ext cx="12192000" cy="4321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67155" y="3056890"/>
            <a:ext cx="9475470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Tổng kết và định hướng thực hành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107305" y="1623060"/>
            <a:ext cx="2824344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32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Quy trình thiết kế giao diện cơ bản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16025" y="302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536700" y="3340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2875" y="47625"/>
                </a:moveTo>
                <a:cubicBezTo>
                  <a:pt x="142875" y="34454"/>
                  <a:pt x="153516" y="23812"/>
                  <a:pt x="166688" y="23812"/>
                </a:cubicBezTo>
                <a:lnTo>
                  <a:pt x="214313" y="23812"/>
                </a:lnTo>
                <a:cubicBezTo>
                  <a:pt x="227484" y="23812"/>
                  <a:pt x="238125" y="34454"/>
                  <a:pt x="238125" y="47625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208359" y="119063"/>
                </a:lnTo>
                <a:lnTo>
                  <a:pt x="208359" y="166688"/>
                </a:lnTo>
                <a:lnTo>
                  <a:pt x="297656" y="166688"/>
                </a:lnTo>
                <a:cubicBezTo>
                  <a:pt x="327273" y="166688"/>
                  <a:pt x="351234" y="190649"/>
                  <a:pt x="351234" y="220266"/>
                </a:cubicBezTo>
                <a:lnTo>
                  <a:pt x="351234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lnTo>
                  <a:pt x="381000" y="333375"/>
                </a:lnTo>
                <a:cubicBezTo>
                  <a:pt x="381000" y="346546"/>
                  <a:pt x="370359" y="357188"/>
                  <a:pt x="357188" y="357188"/>
                </a:cubicBezTo>
                <a:lnTo>
                  <a:pt x="309563" y="357188"/>
                </a:lnTo>
                <a:cubicBezTo>
                  <a:pt x="296391" y="357188"/>
                  <a:pt x="285750" y="346546"/>
                  <a:pt x="285750" y="333375"/>
                </a:cubicBezTo>
                <a:lnTo>
                  <a:pt x="285750" y="285750"/>
                </a:lnTo>
                <a:cubicBezTo>
                  <a:pt x="285750" y="272579"/>
                  <a:pt x="296391" y="261938"/>
                  <a:pt x="309563" y="261938"/>
                </a:cubicBezTo>
                <a:lnTo>
                  <a:pt x="315516" y="261938"/>
                </a:lnTo>
                <a:lnTo>
                  <a:pt x="315516" y="220266"/>
                </a:lnTo>
                <a:cubicBezTo>
                  <a:pt x="315516" y="210369"/>
                  <a:pt x="307553" y="202406"/>
                  <a:pt x="297656" y="202406"/>
                </a:cubicBezTo>
                <a:lnTo>
                  <a:pt x="208359" y="202406"/>
                </a:lnTo>
                <a:lnTo>
                  <a:pt x="208359" y="261938"/>
                </a:lnTo>
                <a:lnTo>
                  <a:pt x="214313" y="261938"/>
                </a:lnTo>
                <a:cubicBezTo>
                  <a:pt x="227484" y="261938"/>
                  <a:pt x="238125" y="272579"/>
                  <a:pt x="238125" y="285750"/>
                </a:cubicBezTo>
                <a:lnTo>
                  <a:pt x="238125" y="333375"/>
                </a:lnTo>
                <a:cubicBezTo>
                  <a:pt x="238125" y="346546"/>
                  <a:pt x="227484" y="357188"/>
                  <a:pt x="214313" y="357188"/>
                </a:cubicBezTo>
                <a:lnTo>
                  <a:pt x="166688" y="357188"/>
                </a:lnTo>
                <a:cubicBezTo>
                  <a:pt x="153516" y="357188"/>
                  <a:pt x="142875" y="346546"/>
                  <a:pt x="142875" y="333375"/>
                </a:cubicBezTo>
                <a:lnTo>
                  <a:pt x="142875" y="285750"/>
                </a:lnTo>
                <a:cubicBezTo>
                  <a:pt x="142875" y="272579"/>
                  <a:pt x="153516" y="261938"/>
                  <a:pt x="166688" y="261938"/>
                </a:cubicBezTo>
                <a:lnTo>
                  <a:pt x="172641" y="261938"/>
                </a:lnTo>
                <a:lnTo>
                  <a:pt x="172641" y="202406"/>
                </a:lnTo>
                <a:lnTo>
                  <a:pt x="83344" y="202406"/>
                </a:lnTo>
                <a:cubicBezTo>
                  <a:pt x="73447" y="202406"/>
                  <a:pt x="65484" y="210369"/>
                  <a:pt x="65484" y="220266"/>
                </a:cubicBezTo>
                <a:lnTo>
                  <a:pt x="65484" y="261938"/>
                </a:lnTo>
                <a:lnTo>
                  <a:pt x="71438" y="261938"/>
                </a:lnTo>
                <a:cubicBezTo>
                  <a:pt x="84609" y="261938"/>
                  <a:pt x="95250" y="272579"/>
                  <a:pt x="95250" y="285750"/>
                </a:cubicBezTo>
                <a:lnTo>
                  <a:pt x="95250" y="333375"/>
                </a:lnTo>
                <a:cubicBezTo>
                  <a:pt x="95250" y="346546"/>
                  <a:pt x="84609" y="357188"/>
                  <a:pt x="71438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285750"/>
                </a:lnTo>
                <a:cubicBezTo>
                  <a:pt x="0" y="272579"/>
                  <a:pt x="10641" y="261938"/>
                  <a:pt x="23812" y="261938"/>
                </a:cubicBezTo>
                <a:lnTo>
                  <a:pt x="29766" y="261938"/>
                </a:lnTo>
                <a:lnTo>
                  <a:pt x="29766" y="220266"/>
                </a:lnTo>
                <a:cubicBezTo>
                  <a:pt x="29766" y="190649"/>
                  <a:pt x="53727" y="166688"/>
                  <a:pt x="83344" y="166688"/>
                </a:cubicBezTo>
                <a:lnTo>
                  <a:pt x="172641" y="166688"/>
                </a:lnTo>
                <a:lnTo>
                  <a:pt x="172641" y="119063"/>
                </a:lnTo>
                <a:lnTo>
                  <a:pt x="166688" y="119063"/>
                </a:lnTo>
                <a:cubicBezTo>
                  <a:pt x="153516" y="119063"/>
                  <a:pt x="142875" y="108421"/>
                  <a:pt x="142875" y="95250"/>
                </a:cubicBezTo>
                <a:lnTo>
                  <a:pt x="142875" y="47625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676275" y="4140200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Chọn Layout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5095" y="4445000"/>
            <a:ext cx="255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Chọn ViewGroup phù hợp.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86100" y="37084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Shape 6"/>
          <p:cNvSpPr/>
          <p:nvPr/>
        </p:nvSpPr>
        <p:spPr>
          <a:xfrm>
            <a:off x="4130675" y="302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0" name="Shape 7"/>
          <p:cNvSpPr/>
          <p:nvPr/>
        </p:nvSpPr>
        <p:spPr>
          <a:xfrm>
            <a:off x="4451350" y="3340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72641" y="255984"/>
                </a:moveTo>
                <a:lnTo>
                  <a:pt x="172641" y="208359"/>
                </a:lnTo>
                <a:lnTo>
                  <a:pt x="125016" y="208359"/>
                </a:lnTo>
                <a:cubicBezTo>
                  <a:pt x="115119" y="208359"/>
                  <a:pt x="107156" y="200397"/>
                  <a:pt x="107156" y="190500"/>
                </a:cubicBezTo>
                <a:cubicBezTo>
                  <a:pt x="107156" y="180603"/>
                  <a:pt x="115119" y="172641"/>
                  <a:pt x="125016" y="172641"/>
                </a:cubicBezTo>
                <a:lnTo>
                  <a:pt x="172641" y="172641"/>
                </a:lnTo>
                <a:lnTo>
                  <a:pt x="172641" y="125016"/>
                </a:lnTo>
                <a:cubicBezTo>
                  <a:pt x="172641" y="115119"/>
                  <a:pt x="180603" y="107156"/>
                  <a:pt x="190500" y="107156"/>
                </a:cubicBezTo>
                <a:cubicBezTo>
                  <a:pt x="200397" y="107156"/>
                  <a:pt x="208359" y="115119"/>
                  <a:pt x="208359" y="125016"/>
                </a:cubicBezTo>
                <a:lnTo>
                  <a:pt x="208359" y="172641"/>
                </a:lnTo>
                <a:lnTo>
                  <a:pt x="255984" y="172641"/>
                </a:lnTo>
                <a:cubicBezTo>
                  <a:pt x="265881" y="172641"/>
                  <a:pt x="273844" y="180603"/>
                  <a:pt x="273844" y="190500"/>
                </a:cubicBezTo>
                <a:cubicBezTo>
                  <a:pt x="273844" y="200397"/>
                  <a:pt x="265881" y="208359"/>
                  <a:pt x="255984" y="208359"/>
                </a:cubicBezTo>
                <a:lnTo>
                  <a:pt x="208359" y="208359"/>
                </a:lnTo>
                <a:lnTo>
                  <a:pt x="208359" y="255984"/>
                </a:lnTo>
                <a:cubicBezTo>
                  <a:pt x="208359" y="265881"/>
                  <a:pt x="200397" y="273844"/>
                  <a:pt x="190500" y="273844"/>
                </a:cubicBezTo>
                <a:cubicBezTo>
                  <a:pt x="180603" y="273844"/>
                  <a:pt x="172641" y="265881"/>
                  <a:pt x="172641" y="255984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1" name="Text 8"/>
          <p:cNvSpPr/>
          <p:nvPr/>
        </p:nvSpPr>
        <p:spPr>
          <a:xfrm>
            <a:off x="3698875" y="41402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Thêm View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21620" y="4445000"/>
            <a:ext cx="303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Đặt các View con vào layout.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00750" y="37084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045325" y="302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366000" y="3340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12" y="47625"/>
                </a:moveTo>
                <a:cubicBezTo>
                  <a:pt x="10641" y="47625"/>
                  <a:pt x="0" y="58266"/>
                  <a:pt x="0" y="71438"/>
                </a:cubicBezTo>
                <a:cubicBezTo>
                  <a:pt x="0" y="84609"/>
                  <a:pt x="10641" y="95250"/>
                  <a:pt x="23812" y="95250"/>
                </a:cubicBezTo>
                <a:lnTo>
                  <a:pt x="88329" y="95250"/>
                </a:lnTo>
                <a:cubicBezTo>
                  <a:pt x="97482" y="116309"/>
                  <a:pt x="118467" y="130969"/>
                  <a:pt x="142875" y="130969"/>
                </a:cubicBezTo>
                <a:cubicBezTo>
                  <a:pt x="167283" y="130969"/>
                  <a:pt x="188268" y="116309"/>
                  <a:pt x="197421" y="95250"/>
                </a:cubicBezTo>
                <a:lnTo>
                  <a:pt x="357188" y="95250"/>
                </a:lnTo>
                <a:cubicBezTo>
                  <a:pt x="370359" y="95250"/>
                  <a:pt x="381000" y="84609"/>
                  <a:pt x="381000" y="71438"/>
                </a:cubicBezTo>
                <a:cubicBezTo>
                  <a:pt x="381000" y="58266"/>
                  <a:pt x="370359" y="47625"/>
                  <a:pt x="357188" y="47625"/>
                </a:cubicBezTo>
                <a:lnTo>
                  <a:pt x="197421" y="47625"/>
                </a:lnTo>
                <a:cubicBezTo>
                  <a:pt x="188268" y="26566"/>
                  <a:pt x="167283" y="11906"/>
                  <a:pt x="142875" y="11906"/>
                </a:cubicBezTo>
                <a:cubicBezTo>
                  <a:pt x="118467" y="11906"/>
                  <a:pt x="97482" y="26566"/>
                  <a:pt x="88329" y="47625"/>
                </a:cubicBezTo>
                <a:lnTo>
                  <a:pt x="23812" y="47625"/>
                </a:lnTo>
                <a:close/>
                <a:moveTo>
                  <a:pt x="23812" y="166688"/>
                </a:move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07392" y="214313"/>
                </a:lnTo>
                <a:cubicBezTo>
                  <a:pt x="216545" y="235372"/>
                  <a:pt x="237530" y="250031"/>
                  <a:pt x="261938" y="250031"/>
                </a:cubicBezTo>
                <a:cubicBezTo>
                  <a:pt x="286345" y="250031"/>
                  <a:pt x="307330" y="235372"/>
                  <a:pt x="316483" y="214313"/>
                </a:cubicBezTo>
                <a:lnTo>
                  <a:pt x="357188" y="214313"/>
                </a:lnTo>
                <a:cubicBezTo>
                  <a:pt x="370359" y="214313"/>
                  <a:pt x="381000" y="203671"/>
                  <a:pt x="381000" y="190500"/>
                </a:cubicBezTo>
                <a:cubicBezTo>
                  <a:pt x="381000" y="177329"/>
                  <a:pt x="370359" y="166688"/>
                  <a:pt x="357188" y="166688"/>
                </a:cubicBezTo>
                <a:lnTo>
                  <a:pt x="316483" y="166688"/>
                </a:lnTo>
                <a:cubicBezTo>
                  <a:pt x="307330" y="145628"/>
                  <a:pt x="286345" y="130969"/>
                  <a:pt x="261938" y="130969"/>
                </a:cubicBezTo>
                <a:cubicBezTo>
                  <a:pt x="237530" y="130969"/>
                  <a:pt x="216545" y="145628"/>
                  <a:pt x="207392" y="166688"/>
                </a:cubicBezTo>
                <a:lnTo>
                  <a:pt x="23812" y="166688"/>
                </a:lnTo>
                <a:close/>
                <a:moveTo>
                  <a:pt x="23812" y="285750"/>
                </a:moveTo>
                <a:cubicBezTo>
                  <a:pt x="10641" y="285750"/>
                  <a:pt x="0" y="296391"/>
                  <a:pt x="0" y="309563"/>
                </a:cubicBezTo>
                <a:cubicBezTo>
                  <a:pt x="0" y="322734"/>
                  <a:pt x="10641" y="333375"/>
                  <a:pt x="23812" y="333375"/>
                </a:cubicBezTo>
                <a:lnTo>
                  <a:pt x="64517" y="333375"/>
                </a:lnTo>
                <a:cubicBezTo>
                  <a:pt x="73670" y="354434"/>
                  <a:pt x="94655" y="369094"/>
                  <a:pt x="119063" y="369094"/>
                </a:cubicBezTo>
                <a:cubicBezTo>
                  <a:pt x="143470" y="369094"/>
                  <a:pt x="164455" y="354434"/>
                  <a:pt x="173608" y="333375"/>
                </a:cubicBezTo>
                <a:lnTo>
                  <a:pt x="357188" y="333375"/>
                </a:lnTo>
                <a:cubicBezTo>
                  <a:pt x="370359" y="333375"/>
                  <a:pt x="381000" y="322734"/>
                  <a:pt x="381000" y="309563"/>
                </a:cubicBezTo>
                <a:cubicBezTo>
                  <a:pt x="381000" y="296391"/>
                  <a:pt x="370359" y="285750"/>
                  <a:pt x="357188" y="285750"/>
                </a:cubicBezTo>
                <a:lnTo>
                  <a:pt x="173608" y="285750"/>
                </a:lnTo>
                <a:cubicBezTo>
                  <a:pt x="164455" y="264691"/>
                  <a:pt x="143470" y="250031"/>
                  <a:pt x="119063" y="250031"/>
                </a:cubicBezTo>
                <a:cubicBezTo>
                  <a:pt x="94655" y="250031"/>
                  <a:pt x="73670" y="264691"/>
                  <a:pt x="64517" y="285750"/>
                </a:cubicBezTo>
                <a:lnTo>
                  <a:pt x="23812" y="28575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6" name="Text 13"/>
          <p:cNvSpPr/>
          <p:nvPr/>
        </p:nvSpPr>
        <p:spPr>
          <a:xfrm>
            <a:off x="6574036" y="4140200"/>
            <a:ext cx="195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Điều chỉnh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74370" y="4445000"/>
            <a:ext cx="295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Chỉnh thuộc tính, ràng buộc.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915400" y="37084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9" name="Shape 16"/>
          <p:cNvSpPr/>
          <p:nvPr/>
        </p:nvSpPr>
        <p:spPr>
          <a:xfrm>
            <a:off x="9959975" y="2895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20" name="Shape 17"/>
          <p:cNvSpPr/>
          <p:nvPr/>
        </p:nvSpPr>
        <p:spPr>
          <a:xfrm>
            <a:off x="10304463" y="3213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21" name="Text 18"/>
          <p:cNvSpPr/>
          <p:nvPr/>
        </p:nvSpPr>
        <p:spPr>
          <a:xfrm>
            <a:off x="9428361" y="4013200"/>
            <a:ext cx="208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Gắn sự kiện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01150" y="4318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Xử lý tương tác, tách tài nguyên.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8115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Lỗi thường gặp và cách khắc phục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343150"/>
            <a:ext cx="5740400" cy="1498600"/>
          </a:xfrm>
          <a:custGeom>
            <a:avLst/>
            <a:gdLst/>
            <a:ahLst/>
            <a:cxnLst/>
            <a:rect l="l" t="t" r="r" b="b"/>
            <a:pathLst>
              <a:path w="5740400" h="1498600">
                <a:moveTo>
                  <a:pt x="101605" y="0"/>
                </a:moveTo>
                <a:lnTo>
                  <a:pt x="5638795" y="0"/>
                </a:lnTo>
                <a:cubicBezTo>
                  <a:pt x="5694910" y="0"/>
                  <a:pt x="5740400" y="45490"/>
                  <a:pt x="5740400" y="101605"/>
                </a:cubicBezTo>
                <a:lnTo>
                  <a:pt x="5740400" y="1396995"/>
                </a:lnTo>
                <a:cubicBezTo>
                  <a:pt x="5740400" y="1453110"/>
                  <a:pt x="5694910" y="1498600"/>
                  <a:pt x="5638795" y="1498600"/>
                </a:cubicBezTo>
                <a:lnTo>
                  <a:pt x="101605" y="1498600"/>
                </a:lnTo>
                <a:cubicBezTo>
                  <a:pt x="45490" y="1498600"/>
                  <a:pt x="0" y="1453110"/>
                  <a:pt x="0" y="13969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546350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1000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Thiếu ID hoặc kích thước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85115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Gây lỗi khi chạy ứng dụng.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10515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✔ Sửa: Luôn kiểm tra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R.id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và đặt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layout_width/height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7600" y="2343150"/>
            <a:ext cx="5740400" cy="1498600"/>
          </a:xfrm>
          <a:custGeom>
            <a:avLst/>
            <a:gdLst/>
            <a:ahLst/>
            <a:cxnLst/>
            <a:rect l="l" t="t" r="r" b="b"/>
            <a:pathLst>
              <a:path w="5740400" h="1498600">
                <a:moveTo>
                  <a:pt x="101605" y="0"/>
                </a:moveTo>
                <a:lnTo>
                  <a:pt x="5638795" y="0"/>
                </a:lnTo>
                <a:cubicBezTo>
                  <a:pt x="5694910" y="0"/>
                  <a:pt x="5740400" y="45490"/>
                  <a:pt x="5740400" y="101605"/>
                </a:cubicBezTo>
                <a:lnTo>
                  <a:pt x="5740400" y="1396995"/>
                </a:lnTo>
                <a:cubicBezTo>
                  <a:pt x="5740400" y="1453110"/>
                  <a:pt x="5694910" y="1498600"/>
                  <a:pt x="5638795" y="1498600"/>
                </a:cubicBezTo>
                <a:lnTo>
                  <a:pt x="101605" y="1498600"/>
                </a:lnTo>
                <a:cubicBezTo>
                  <a:pt x="45490" y="1498600"/>
                  <a:pt x="0" y="1453110"/>
                  <a:pt x="0" y="13969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546350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1000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Lồng quá nhiều ViewGroup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285115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Làm chậm hiệu suất.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310515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✔ Sửa: Ưu tiên ConstraintLayout, giữ cây phẳng.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4044950"/>
            <a:ext cx="5740400" cy="1231900"/>
          </a:xfrm>
          <a:custGeom>
            <a:avLst/>
            <a:gdLst/>
            <a:ahLst/>
            <a:cxnLst/>
            <a:rect l="l" t="t" r="r" b="b"/>
            <a:pathLst>
              <a:path w="5740400" h="1231900">
                <a:moveTo>
                  <a:pt x="101595" y="0"/>
                </a:moveTo>
                <a:lnTo>
                  <a:pt x="5638805" y="0"/>
                </a:lnTo>
                <a:cubicBezTo>
                  <a:pt x="5694914" y="0"/>
                  <a:pt x="5740400" y="45486"/>
                  <a:pt x="5740400" y="101595"/>
                </a:cubicBezTo>
                <a:lnTo>
                  <a:pt x="5740400" y="1130305"/>
                </a:lnTo>
                <a:cubicBezTo>
                  <a:pt x="5740400" y="1186414"/>
                  <a:pt x="5694914" y="1231900"/>
                  <a:pt x="56388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248150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1000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Dùng đơn vị px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455295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Hiển thị không đều trên các màn hình.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48069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✔ Sửa: Chỉ dùng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dp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cho View và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sp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cho chữ.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7600" y="4044950"/>
            <a:ext cx="5740400" cy="1231900"/>
          </a:xfrm>
          <a:custGeom>
            <a:avLst/>
            <a:gdLst/>
            <a:ahLst/>
            <a:cxnLst/>
            <a:rect l="l" t="t" r="r" b="b"/>
            <a:pathLst>
              <a:path w="5740400" h="1231900">
                <a:moveTo>
                  <a:pt x="101595" y="0"/>
                </a:moveTo>
                <a:lnTo>
                  <a:pt x="5638805" y="0"/>
                </a:lnTo>
                <a:cubicBezTo>
                  <a:pt x="5694914" y="0"/>
                  <a:pt x="5740400" y="45486"/>
                  <a:pt x="5740400" y="101595"/>
                </a:cubicBezTo>
                <a:lnTo>
                  <a:pt x="5740400" y="1130305"/>
                </a:lnTo>
                <a:cubicBezTo>
                  <a:pt x="5740400" y="1186414"/>
                  <a:pt x="5694914" y="1231900"/>
                  <a:pt x="56388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4248150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1000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Hardcode chuỗi văn bản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455295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Khó bảo trì và dịch thuật.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00800" y="48069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✔ Sửa: Đưa tất cả chuỗi vào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highlight>
                  <a:srgbClr val="E5E7EB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strings.xml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823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8-d2sjh7m1bb2p4onbq9c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430" y="-18415"/>
            <a:ext cx="12214225" cy="68637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303" y="2823307"/>
            <a:ext cx="8146415" cy="165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pPr algn="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苹方-简" pitchFamily="34" charset="0"/>
                <a:ea typeface="苹方-简" pitchFamily="34" charset="-122"/>
                <a:cs typeface="苹方-简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1430" y="-18415"/>
            <a:ext cx="12214860" cy="135191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8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-11430" y="-18415"/>
            <a:ext cx="12214860" cy="13519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10800000">
            <a:off x="0" y="5347335"/>
            <a:ext cx="12192000" cy="149796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8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7" name="Text 4"/>
          <p:cNvSpPr/>
          <p:nvPr/>
        </p:nvSpPr>
        <p:spPr>
          <a:xfrm rot="10800000">
            <a:off x="0" y="5347335"/>
            <a:ext cx="12192000" cy="14979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UI: View, Layout &amp; Constraint</dc:title>
  <dc:subject>Android UI: View, Layout &amp; Constraint</dc:subject>
  <dc:creator>Kimi</dc:creator>
  <cp:lastModifiedBy>Kimi</cp:lastModifiedBy>
  <cp:revision>1</cp:revision>
  <dcterms:created xsi:type="dcterms:W3CDTF">2025-09-17T14:42:42Z</dcterms:created>
  <dcterms:modified xsi:type="dcterms:W3CDTF">2025-09-17T14:42:42Z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{"Label":"Android UI: View, Layout &amp; Constraint","ContentProducer":"001191110108MACG2KBH8F10000","ProduceID":"d3596ok432e3km3jece0","ReservedCode1":"","ContentPropagator":"001191110108MACG2KBH8F20000","PropagateID":"d3596ok432e3km3jece0","ReservedCode2":""}</vt:lpwstr>
  </property>
</Properties>
</file>