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8-d2sjh7m1bb2p4onbq9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785" y="-635"/>
            <a:ext cx="12263755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93365" y="2157730"/>
            <a:ext cx="8289925" cy="165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TextView &amp; ScrollView: Bộ Đôi Hiển Thị Nội Dung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10800000">
            <a:off x="13335" y="5374005"/>
            <a:ext cx="12192000" cy="149796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7" name="Text 4"/>
          <p:cNvSpPr/>
          <p:nvPr/>
        </p:nvSpPr>
        <p:spPr>
          <a:xfrm rot="10800000">
            <a:off x="13335" y="5374005"/>
            <a:ext cx="12192000" cy="14979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38701" y="4001993"/>
            <a:ext cx="3831333" cy="160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Các thành viên: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23020155-Trần Quang Thành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23020012-Hoàng Quốc Bảo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23020152-Cao Trần Hà Thái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23020125-Nguyễn Đỗ Trọng Nghĩa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23020161-Quách Đức Thiện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2-d2sjh8m1bb2p4onbq9g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080"/>
            <a:ext cx="12192000" cy="6863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99895"/>
            <a:ext cx="12192000" cy="5129530"/>
          </a:xfrm>
          <a:prstGeom prst="rect">
            <a:avLst/>
          </a:prstGeom>
          <a:solidFill>
            <a:srgbClr val="FFFFFF">
              <a:alpha val="78039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1699895"/>
            <a:ext cx="12192000" cy="5129530"/>
          </a:xfrm>
          <a:prstGeom prst="rect">
            <a:avLst/>
          </a:prstGeom>
          <a:noFill/>
          <a:ln/>
        </p:spPr>
        <p:txBody>
          <a:bodyPr wrap="square" lIns="36195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83560" y="2673350"/>
            <a:ext cx="6162675" cy="6584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Giới thiệu TextView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83560" y="3740785"/>
            <a:ext cx="6162675" cy="65841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24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Giới thiệu ScrollView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71340" y="829945"/>
            <a:ext cx="3737865" cy="1936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Nội dung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4-14:58:33-d2sjh6e1bb2p4onbq9ag.png">    </p:cNvPr>
          <p:cNvPicPr>
            <a:picLocks noChangeAspect="1"/>
          </p:cNvPicPr>
          <p:nvPr/>
        </p:nvPicPr>
        <p:blipFill>
          <a:blip r:embed="rId2"/>
          <a:srcRect l="0" r="0" t="39309" b="44819"/>
          <a:stretch/>
        </p:blipFill>
        <p:spPr>
          <a:xfrm>
            <a:off x="4371340" y="1798320"/>
            <a:ext cx="3586480" cy="5676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4-d2sjh6m1bb2p4onbq9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8:39-d2sjh7u1bb2p4onbq9d0.jp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19005" b="17569"/>
          <a:stretch/>
        </p:blipFill>
        <p:spPr>
          <a:xfrm>
            <a:off x="0" y="1316990"/>
            <a:ext cx="12192000" cy="4321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7155" y="3056890"/>
            <a:ext cx="9475470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Giới thiệu TextView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107305" y="1623060"/>
            <a:ext cx="2824344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701800"/>
            <a:ext cx="436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TextView &amp; EditText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870200"/>
            <a:ext cx="436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TextView là một View con dùng để hiển thị văn bản. EditText là một TextView cho phép chỉnh sửa nội dung.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1788" y="4038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660400" y="39878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Khai báo tĩnh: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Gán trực tiếp trong file XML bằng cách tham chiếu đến string resource.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7500" y="4699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8" name="Text 5"/>
          <p:cNvSpPr/>
          <p:nvPr/>
        </p:nvSpPr>
        <p:spPr>
          <a:xfrm>
            <a:off x="660400" y="46482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Khai báo động: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Tạo và gán nội dung hoàn toàn thông qua mã Java.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927600" y="1651000"/>
            <a:ext cx="7010400" cy="3556000"/>
          </a:xfrm>
          <a:custGeom>
            <a:avLst/>
            <a:gdLst/>
            <a:ahLst/>
            <a:cxnLst/>
            <a:rect l="l" t="t" r="r" b="b"/>
            <a:pathLst>
              <a:path w="7010400" h="3556000">
                <a:moveTo>
                  <a:pt x="152410" y="0"/>
                </a:moveTo>
                <a:lnTo>
                  <a:pt x="6857990" y="0"/>
                </a:lnTo>
                <a:cubicBezTo>
                  <a:pt x="6942164" y="0"/>
                  <a:pt x="7010400" y="68236"/>
                  <a:pt x="7010400" y="152410"/>
                </a:cubicBezTo>
                <a:lnTo>
                  <a:pt x="7010400" y="3403590"/>
                </a:lnTo>
                <a:cubicBezTo>
                  <a:pt x="7010400" y="3487764"/>
                  <a:pt x="6942164" y="3556000"/>
                  <a:pt x="6857990" y="3556000"/>
                </a:cubicBezTo>
                <a:lnTo>
                  <a:pt x="152410" y="3556000"/>
                </a:lnTo>
                <a:cubicBezTo>
                  <a:pt x="68236" y="3556000"/>
                  <a:pt x="0" y="3487764"/>
                  <a:pt x="0" y="34035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76800" y="18542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Ví dụ khai báo TextView trong XML</a:t>
            </a:r>
            <a:endParaRPr lang="en-US" sz="1600" dirty="0"/>
          </a:p>
        </p:txBody>
      </p:sp>
      <p:pic>
        <p:nvPicPr>
          <p:cNvPr id="11" name="Image 1" descr="https://kimi-web-img.moonshot.cn/img/images2018.cnblogs.com/960c5eb6d141665f3a83fea7d8f077ac5272c3f3.png">    </p:cNvPr>
          <p:cNvPicPr>
            <a:picLocks noChangeAspect="1"/>
          </p:cNvPicPr>
          <p:nvPr/>
        </p:nvPicPr>
        <p:blipFill>
          <a:blip r:embed="rId2"/>
          <a:srcRect l="0" r="0" t="34923" b="34923"/>
          <a:stretch/>
        </p:blipFill>
        <p:spPr>
          <a:xfrm>
            <a:off x="5130800" y="2717800"/>
            <a:ext cx="6604000" cy="1825659"/>
          </a:xfrm>
          <a:prstGeom prst="roundRect">
            <a:avLst>
              <a:gd name="adj" fmla="val 8163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Định Dạng Văn Bản với String Resource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812800"/>
            <a:ext cx="1219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Sử dụng các thẻ HTML và ký tự đặc biệt để làm phong phú nội dung văn bản hiển thị.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371600"/>
            <a:ext cx="5689600" cy="5232400"/>
          </a:xfrm>
          <a:custGeom>
            <a:avLst/>
            <a:gdLst/>
            <a:ahLst/>
            <a:cxnLst/>
            <a:rect l="l" t="t" r="r" b="b"/>
            <a:pathLst>
              <a:path w="5689600" h="5232400">
                <a:moveTo>
                  <a:pt x="101613" y="0"/>
                </a:moveTo>
                <a:lnTo>
                  <a:pt x="5587987" y="0"/>
                </a:lnTo>
                <a:cubicBezTo>
                  <a:pt x="5644106" y="0"/>
                  <a:pt x="5689600" y="45494"/>
                  <a:pt x="5689600" y="101613"/>
                </a:cubicBezTo>
                <a:lnTo>
                  <a:pt x="5689600" y="5130787"/>
                </a:lnTo>
                <a:cubicBezTo>
                  <a:pt x="5689600" y="5186906"/>
                  <a:pt x="5644106" y="5232400"/>
                  <a:pt x="5587987" y="5232400"/>
                </a:cubicBezTo>
                <a:lnTo>
                  <a:pt x="101613" y="5232400"/>
                </a:lnTo>
                <a:cubicBezTo>
                  <a:pt x="45494" y="5232400"/>
                  <a:pt x="0" y="5186906"/>
                  <a:pt x="0" y="51307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03200" y="15748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Định dạng text trong string resource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032000"/>
            <a:ext cx="5283200" cy="4368800"/>
          </a:xfrm>
          <a:custGeom>
            <a:avLst/>
            <a:gdLst/>
            <a:ahLst/>
            <a:cxnLst/>
            <a:rect l="l" t="t" r="r" b="b"/>
            <a:pathLst>
              <a:path w="5283200" h="4368800">
                <a:moveTo>
                  <a:pt x="76192" y="0"/>
                </a:moveTo>
                <a:lnTo>
                  <a:pt x="5207008" y="0"/>
                </a:lnTo>
                <a:cubicBezTo>
                  <a:pt x="5249088" y="0"/>
                  <a:pt x="5283200" y="34112"/>
                  <a:pt x="5283200" y="76192"/>
                </a:cubicBezTo>
                <a:lnTo>
                  <a:pt x="5283200" y="4292608"/>
                </a:lnTo>
                <a:cubicBezTo>
                  <a:pt x="5283200" y="4334688"/>
                  <a:pt x="5249088" y="4368800"/>
                  <a:pt x="5207008" y="4368800"/>
                </a:cubicBezTo>
                <a:lnTo>
                  <a:pt x="76192" y="4368800"/>
                </a:lnTo>
                <a:cubicBezTo>
                  <a:pt x="34112" y="4368800"/>
                  <a:pt x="0" y="4334688"/>
                  <a:pt x="0" y="4292608"/>
                </a:cubicBezTo>
                <a:lnTo>
                  <a:pt x="0" y="76192"/>
                </a:lnTo>
                <a:cubicBezTo>
                  <a:pt x="0" y="34140"/>
                  <a:pt x="34140" y="0"/>
                  <a:pt x="76192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533997" y="2032000"/>
            <a:ext cx="5283200" cy="4368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Sử dụng thẻ HTML &lt;b&gt; và &lt;i&gt; để in đậm và in nghiêng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Tất cả các thẻ HTML khác đều không khả dụng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resources: một dòng liền mạch = một đoạn văn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\n: Bắt đầu dòng hoặc đoạn văn mới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Thoát khỏi dấu nháy đơn hoặc nháy kép bằng dấu backslash (\", \')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Thoát khỏi ký tự bất kỳ không phải ASCII bằng dấu backslash (\)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8400" y="1371600"/>
            <a:ext cx="5689600" cy="5232400"/>
          </a:xfrm>
          <a:custGeom>
            <a:avLst/>
            <a:gdLst/>
            <a:ahLst/>
            <a:cxnLst/>
            <a:rect l="l" t="t" r="r" b="b"/>
            <a:pathLst>
              <a:path w="5689600" h="5232400">
                <a:moveTo>
                  <a:pt x="101613" y="0"/>
                </a:moveTo>
                <a:lnTo>
                  <a:pt x="5587987" y="0"/>
                </a:lnTo>
                <a:cubicBezTo>
                  <a:pt x="5644106" y="0"/>
                  <a:pt x="5689600" y="45494"/>
                  <a:pt x="5689600" y="101613"/>
                </a:cubicBezTo>
                <a:lnTo>
                  <a:pt x="5689600" y="5130787"/>
                </a:lnTo>
                <a:cubicBezTo>
                  <a:pt x="5689600" y="5186906"/>
                  <a:pt x="5644106" y="5232400"/>
                  <a:pt x="5587987" y="5232400"/>
                </a:cubicBezTo>
                <a:lnTo>
                  <a:pt x="101613" y="5232400"/>
                </a:lnTo>
                <a:cubicBezTo>
                  <a:pt x="45494" y="5232400"/>
                  <a:pt x="0" y="5186906"/>
                  <a:pt x="0" y="5130787"/>
                </a:cubicBezTo>
                <a:lnTo>
                  <a:pt x="0" y="101613"/>
                </a:lnTo>
                <a:cubicBezTo>
                  <a:pt x="0" y="45531"/>
                  <a:pt x="45531" y="0"/>
                  <a:pt x="101613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97600" y="15748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 TextView trong XML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51600" y="2032000"/>
            <a:ext cx="5283200" cy="4368800"/>
          </a:xfrm>
          <a:custGeom>
            <a:avLst/>
            <a:gdLst/>
            <a:ahLst/>
            <a:cxnLst/>
            <a:rect l="l" t="t" r="r" b="b"/>
            <a:pathLst>
              <a:path w="5283200" h="4368800">
                <a:moveTo>
                  <a:pt x="76192" y="0"/>
                </a:moveTo>
                <a:lnTo>
                  <a:pt x="5207008" y="0"/>
                </a:lnTo>
                <a:cubicBezTo>
                  <a:pt x="5249088" y="0"/>
                  <a:pt x="5283200" y="34112"/>
                  <a:pt x="5283200" y="76192"/>
                </a:cubicBezTo>
                <a:lnTo>
                  <a:pt x="5283200" y="4292608"/>
                </a:lnTo>
                <a:cubicBezTo>
                  <a:pt x="5283200" y="4334688"/>
                  <a:pt x="5249088" y="4368800"/>
                  <a:pt x="5207008" y="4368800"/>
                </a:cubicBezTo>
                <a:lnTo>
                  <a:pt x="76192" y="4368800"/>
                </a:lnTo>
                <a:cubicBezTo>
                  <a:pt x="34112" y="4368800"/>
                  <a:pt x="0" y="4334688"/>
                  <a:pt x="0" y="4292608"/>
                </a:cubicBezTo>
                <a:lnTo>
                  <a:pt x="0" y="76192"/>
                </a:lnTo>
                <a:cubicBezTo>
                  <a:pt x="0" y="34140"/>
                  <a:pt x="34140" y="0"/>
                  <a:pt x="76192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pic>
        <p:nvPicPr>
          <p:cNvPr id="12" name="Image 1" descr="https://kimi-img.moonshot.cn/pub/slides/25-09-17-22:49:51-d35cl3os8jdnrofb17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2537853"/>
            <a:ext cx="5283200" cy="33570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Các Thuộc Tính TextView Phổ Biến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3759200" cy="2692400"/>
          </a:xfrm>
          <a:custGeom>
            <a:avLst/>
            <a:gdLst/>
            <a:ahLst/>
            <a:cxnLst/>
            <a:rect l="l" t="t" r="r" b="b"/>
            <a:pathLst>
              <a:path w="3759200" h="26924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2590789"/>
                </a:lnTo>
                <a:cubicBezTo>
                  <a:pt x="3759200" y="2646907"/>
                  <a:pt x="3713707" y="2692400"/>
                  <a:pt x="36575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08000" y="2190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724" y="30182"/>
                </a:moveTo>
                <a:cubicBezTo>
                  <a:pt x="166628" y="23396"/>
                  <a:pt x="159841" y="19050"/>
                  <a:pt x="152400" y="19050"/>
                </a:cubicBezTo>
                <a:cubicBezTo>
                  <a:pt x="144959" y="19050"/>
                  <a:pt x="138172" y="23396"/>
                  <a:pt x="135076" y="30182"/>
                </a:cubicBezTo>
                <a:lnTo>
                  <a:pt x="35421" y="247650"/>
                </a:lnTo>
                <a:lnTo>
                  <a:pt x="28575" y="247650"/>
                </a:lnTo>
                <a:cubicBezTo>
                  <a:pt x="18038" y="247650"/>
                  <a:pt x="9525" y="256163"/>
                  <a:pt x="9525" y="266700"/>
                </a:cubicBezTo>
                <a:cubicBezTo>
                  <a:pt x="9525" y="277237"/>
                  <a:pt x="18038" y="285750"/>
                  <a:pt x="28575" y="285750"/>
                </a:cubicBezTo>
                <a:lnTo>
                  <a:pt x="80962" y="285750"/>
                </a:lnTo>
                <a:cubicBezTo>
                  <a:pt x="91500" y="285750"/>
                  <a:pt x="100013" y="277237"/>
                  <a:pt x="100013" y="266700"/>
                </a:cubicBezTo>
                <a:cubicBezTo>
                  <a:pt x="100013" y="256163"/>
                  <a:pt x="91500" y="247650"/>
                  <a:pt x="80962" y="247650"/>
                </a:cubicBezTo>
                <a:lnTo>
                  <a:pt x="77331" y="247650"/>
                </a:lnTo>
                <a:lnTo>
                  <a:pt x="90428" y="219075"/>
                </a:lnTo>
                <a:lnTo>
                  <a:pt x="214432" y="219075"/>
                </a:lnTo>
                <a:lnTo>
                  <a:pt x="227528" y="247650"/>
                </a:lnTo>
                <a:lnTo>
                  <a:pt x="223897" y="247650"/>
                </a:lnTo>
                <a:cubicBezTo>
                  <a:pt x="213360" y="247650"/>
                  <a:pt x="204847" y="256163"/>
                  <a:pt x="204847" y="266700"/>
                </a:cubicBezTo>
                <a:cubicBezTo>
                  <a:pt x="204847" y="277237"/>
                  <a:pt x="213360" y="285750"/>
                  <a:pt x="223897" y="285750"/>
                </a:cubicBezTo>
                <a:lnTo>
                  <a:pt x="276285" y="285750"/>
                </a:lnTo>
                <a:cubicBezTo>
                  <a:pt x="286822" y="285750"/>
                  <a:pt x="295335" y="277237"/>
                  <a:pt x="295335" y="266700"/>
                </a:cubicBezTo>
                <a:cubicBezTo>
                  <a:pt x="295335" y="256163"/>
                  <a:pt x="286822" y="247650"/>
                  <a:pt x="276285" y="247650"/>
                </a:cubicBezTo>
                <a:lnTo>
                  <a:pt x="269438" y="247650"/>
                </a:lnTo>
                <a:lnTo>
                  <a:pt x="169783" y="30182"/>
                </a:lnTo>
                <a:close/>
                <a:moveTo>
                  <a:pt x="196929" y="180975"/>
                </a:moveTo>
                <a:lnTo>
                  <a:pt x="107871" y="180975"/>
                </a:lnTo>
                <a:lnTo>
                  <a:pt x="152400" y="83820"/>
                </a:lnTo>
                <a:lnTo>
                  <a:pt x="196929" y="180975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21082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android:text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2413000"/>
            <a:ext cx="240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Nội dung văn bản hiển thị.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16400" y="1016000"/>
            <a:ext cx="3759200" cy="2692400"/>
          </a:xfrm>
          <a:custGeom>
            <a:avLst/>
            <a:gdLst/>
            <a:ahLst/>
            <a:cxnLst/>
            <a:rect l="l" t="t" r="r" b="b"/>
            <a:pathLst>
              <a:path w="3759200" h="26924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2590789"/>
                </a:lnTo>
                <a:cubicBezTo>
                  <a:pt x="3759200" y="2646907"/>
                  <a:pt x="3713707" y="2692400"/>
                  <a:pt x="36575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70400" y="2190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21082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android:textColor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2413000"/>
            <a:ext cx="232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Màu sắc của văn bản.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78800" y="1016000"/>
            <a:ext cx="3759200" cy="2692400"/>
          </a:xfrm>
          <a:custGeom>
            <a:avLst/>
            <a:gdLst/>
            <a:ahLst/>
            <a:cxnLst/>
            <a:rect l="l" t="t" r="r" b="b"/>
            <a:pathLst>
              <a:path w="3759200" h="26924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2590789"/>
                </a:lnTo>
                <a:cubicBezTo>
                  <a:pt x="3759200" y="2646907"/>
                  <a:pt x="3713707" y="2692400"/>
                  <a:pt x="36575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13750" y="21907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3813" y="19050"/>
                </a:moveTo>
                <a:cubicBezTo>
                  <a:pt x="10656" y="19050"/>
                  <a:pt x="0" y="29706"/>
                  <a:pt x="0" y="42863"/>
                </a:cubicBezTo>
                <a:lnTo>
                  <a:pt x="0" y="76200"/>
                </a:lnTo>
                <a:cubicBezTo>
                  <a:pt x="0" y="86737"/>
                  <a:pt x="8513" y="95250"/>
                  <a:pt x="19050" y="95250"/>
                </a:cubicBezTo>
                <a:cubicBezTo>
                  <a:pt x="29587" y="95250"/>
                  <a:pt x="38100" y="86737"/>
                  <a:pt x="38100" y="76200"/>
                </a:cubicBezTo>
                <a:lnTo>
                  <a:pt x="38100" y="57150"/>
                </a:lnTo>
                <a:lnTo>
                  <a:pt x="76200" y="57150"/>
                </a:lnTo>
                <a:lnTo>
                  <a:pt x="76200" y="247650"/>
                </a:lnTo>
                <a:lnTo>
                  <a:pt x="57150" y="247650"/>
                </a:lnTo>
                <a:cubicBezTo>
                  <a:pt x="46613" y="247650"/>
                  <a:pt x="38100" y="256163"/>
                  <a:pt x="38100" y="266700"/>
                </a:cubicBezTo>
                <a:cubicBezTo>
                  <a:pt x="38100" y="277237"/>
                  <a:pt x="46613" y="285750"/>
                  <a:pt x="57150" y="285750"/>
                </a:cubicBezTo>
                <a:lnTo>
                  <a:pt x="133350" y="285750"/>
                </a:lnTo>
                <a:cubicBezTo>
                  <a:pt x="143887" y="285750"/>
                  <a:pt x="152400" y="277237"/>
                  <a:pt x="152400" y="266700"/>
                </a:cubicBezTo>
                <a:cubicBezTo>
                  <a:pt x="152400" y="256163"/>
                  <a:pt x="143887" y="247650"/>
                  <a:pt x="133350" y="247650"/>
                </a:cubicBezTo>
                <a:lnTo>
                  <a:pt x="114300" y="247650"/>
                </a:lnTo>
                <a:lnTo>
                  <a:pt x="114300" y="57150"/>
                </a:lnTo>
                <a:lnTo>
                  <a:pt x="152400" y="57150"/>
                </a:lnTo>
                <a:lnTo>
                  <a:pt x="152400" y="76200"/>
                </a:lnTo>
                <a:cubicBezTo>
                  <a:pt x="152400" y="86737"/>
                  <a:pt x="160913" y="95250"/>
                  <a:pt x="171450" y="95250"/>
                </a:cubicBezTo>
                <a:cubicBezTo>
                  <a:pt x="181987" y="95250"/>
                  <a:pt x="190500" y="86737"/>
                  <a:pt x="190500" y="76200"/>
                </a:cubicBezTo>
                <a:lnTo>
                  <a:pt x="190500" y="42863"/>
                </a:lnTo>
                <a:cubicBezTo>
                  <a:pt x="190500" y="29706"/>
                  <a:pt x="179844" y="19050"/>
                  <a:pt x="166688" y="19050"/>
                </a:cubicBezTo>
                <a:lnTo>
                  <a:pt x="23813" y="19050"/>
                </a:lnTo>
                <a:close/>
                <a:moveTo>
                  <a:pt x="261104" y="215146"/>
                </a:moveTo>
                <a:cubicBezTo>
                  <a:pt x="253663" y="207705"/>
                  <a:pt x="241578" y="207705"/>
                  <a:pt x="234136" y="215146"/>
                </a:cubicBezTo>
                <a:cubicBezTo>
                  <a:pt x="226695" y="222587"/>
                  <a:pt x="226695" y="234672"/>
                  <a:pt x="234136" y="242114"/>
                </a:cubicBezTo>
                <a:lnTo>
                  <a:pt x="272236" y="280214"/>
                </a:lnTo>
                <a:cubicBezTo>
                  <a:pt x="279678" y="287655"/>
                  <a:pt x="291763" y="287655"/>
                  <a:pt x="299204" y="280214"/>
                </a:cubicBezTo>
                <a:lnTo>
                  <a:pt x="337304" y="242114"/>
                </a:lnTo>
                <a:cubicBezTo>
                  <a:pt x="344745" y="234672"/>
                  <a:pt x="344745" y="222587"/>
                  <a:pt x="337304" y="215146"/>
                </a:cubicBezTo>
                <a:cubicBezTo>
                  <a:pt x="329863" y="207705"/>
                  <a:pt x="317778" y="207705"/>
                  <a:pt x="310336" y="215146"/>
                </a:cubicBezTo>
                <a:lnTo>
                  <a:pt x="304740" y="220742"/>
                </a:lnTo>
                <a:lnTo>
                  <a:pt x="304740" y="84118"/>
                </a:lnTo>
                <a:lnTo>
                  <a:pt x="310336" y="89714"/>
                </a:lnTo>
                <a:cubicBezTo>
                  <a:pt x="317778" y="97155"/>
                  <a:pt x="329863" y="97155"/>
                  <a:pt x="337304" y="89714"/>
                </a:cubicBezTo>
                <a:cubicBezTo>
                  <a:pt x="344745" y="82272"/>
                  <a:pt x="344745" y="70187"/>
                  <a:pt x="337304" y="62746"/>
                </a:cubicBezTo>
                <a:lnTo>
                  <a:pt x="299204" y="24646"/>
                </a:lnTo>
                <a:cubicBezTo>
                  <a:pt x="295632" y="21074"/>
                  <a:pt x="290810" y="19050"/>
                  <a:pt x="285750" y="19050"/>
                </a:cubicBezTo>
                <a:cubicBezTo>
                  <a:pt x="280690" y="19050"/>
                  <a:pt x="275868" y="21074"/>
                  <a:pt x="272296" y="24646"/>
                </a:cubicBezTo>
                <a:lnTo>
                  <a:pt x="234196" y="62746"/>
                </a:lnTo>
                <a:cubicBezTo>
                  <a:pt x="226755" y="70187"/>
                  <a:pt x="226755" y="82272"/>
                  <a:pt x="234196" y="89714"/>
                </a:cubicBezTo>
                <a:cubicBezTo>
                  <a:pt x="241637" y="97155"/>
                  <a:pt x="253722" y="97155"/>
                  <a:pt x="261164" y="89714"/>
                </a:cubicBezTo>
                <a:lnTo>
                  <a:pt x="266760" y="84118"/>
                </a:lnTo>
                <a:lnTo>
                  <a:pt x="266760" y="220742"/>
                </a:lnTo>
                <a:lnTo>
                  <a:pt x="261164" y="215146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4" name="Text 11"/>
          <p:cNvSpPr/>
          <p:nvPr/>
        </p:nvSpPr>
        <p:spPr>
          <a:xfrm>
            <a:off x="8991600" y="21082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android:textSize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91600" y="2413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Cỡ chữ (đơn vị sp).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3911600"/>
            <a:ext cx="3759200" cy="2692400"/>
          </a:xfrm>
          <a:custGeom>
            <a:avLst/>
            <a:gdLst/>
            <a:ahLst/>
            <a:cxnLst/>
            <a:rect l="l" t="t" r="r" b="b"/>
            <a:pathLst>
              <a:path w="3759200" h="26924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2590789"/>
                </a:lnTo>
                <a:cubicBezTo>
                  <a:pt x="3759200" y="2646907"/>
                  <a:pt x="3713707" y="2692400"/>
                  <a:pt x="36575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6100" y="508635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cubicBezTo>
                  <a:pt x="0" y="48637"/>
                  <a:pt x="8513" y="57150"/>
                  <a:pt x="19050" y="57150"/>
                </a:cubicBezTo>
                <a:lnTo>
                  <a:pt x="38100" y="57150"/>
                </a:lnTo>
                <a:lnTo>
                  <a:pt x="38100" y="247650"/>
                </a:lnTo>
                <a:lnTo>
                  <a:pt x="19050" y="247650"/>
                </a:lnTo>
                <a:cubicBezTo>
                  <a:pt x="8513" y="247650"/>
                  <a:pt x="0" y="256163"/>
                  <a:pt x="0" y="266700"/>
                </a:cubicBezTo>
                <a:cubicBezTo>
                  <a:pt x="0" y="277237"/>
                  <a:pt x="8513" y="285750"/>
                  <a:pt x="19050" y="285750"/>
                </a:cubicBezTo>
                <a:lnTo>
                  <a:pt x="152400" y="285750"/>
                </a:lnTo>
                <a:cubicBezTo>
                  <a:pt x="194489" y="285750"/>
                  <a:pt x="228600" y="251639"/>
                  <a:pt x="228600" y="209550"/>
                </a:cubicBezTo>
                <a:cubicBezTo>
                  <a:pt x="228600" y="181868"/>
                  <a:pt x="213836" y="157579"/>
                  <a:pt x="191691" y="144244"/>
                </a:cubicBezTo>
                <a:cubicBezTo>
                  <a:pt x="202823" y="130969"/>
                  <a:pt x="209550" y="113883"/>
                  <a:pt x="209550" y="95250"/>
                </a:cubicBezTo>
                <a:cubicBezTo>
                  <a:pt x="209550" y="53161"/>
                  <a:pt x="175439" y="19050"/>
                  <a:pt x="133350" y="19050"/>
                </a:cubicBezTo>
                <a:lnTo>
                  <a:pt x="19050" y="19050"/>
                </a:lnTo>
                <a:close/>
                <a:moveTo>
                  <a:pt x="171450" y="95250"/>
                </a:moveTo>
                <a:cubicBezTo>
                  <a:pt x="171450" y="116265"/>
                  <a:pt x="154365" y="133350"/>
                  <a:pt x="133350" y="133350"/>
                </a:cubicBezTo>
                <a:lnTo>
                  <a:pt x="76200" y="133350"/>
                </a:lnTo>
                <a:lnTo>
                  <a:pt x="76200" y="57150"/>
                </a:lnTo>
                <a:lnTo>
                  <a:pt x="133350" y="57150"/>
                </a:lnTo>
                <a:cubicBezTo>
                  <a:pt x="154365" y="57150"/>
                  <a:pt x="171450" y="74235"/>
                  <a:pt x="171450" y="95250"/>
                </a:cubicBezTo>
                <a:close/>
                <a:moveTo>
                  <a:pt x="76200" y="247650"/>
                </a:moveTo>
                <a:lnTo>
                  <a:pt x="76200" y="171450"/>
                </a:lnTo>
                <a:lnTo>
                  <a:pt x="152400" y="171450"/>
                </a:lnTo>
                <a:cubicBezTo>
                  <a:pt x="173415" y="171450"/>
                  <a:pt x="190500" y="188535"/>
                  <a:pt x="190500" y="209550"/>
                </a:cubicBezTo>
                <a:cubicBezTo>
                  <a:pt x="190500" y="230565"/>
                  <a:pt x="173415" y="247650"/>
                  <a:pt x="152400" y="247650"/>
                </a:cubicBezTo>
                <a:lnTo>
                  <a:pt x="76200" y="24765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18" name="Text 15"/>
          <p:cNvSpPr/>
          <p:nvPr/>
        </p:nvSpPr>
        <p:spPr>
          <a:xfrm>
            <a:off x="1066800" y="5003800"/>
            <a:ext cx="257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android:textStyle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66800" y="5308600"/>
            <a:ext cx="257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Kiểu chữ: normal, bold, italic.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16400" y="3911600"/>
            <a:ext cx="3759200" cy="2692400"/>
          </a:xfrm>
          <a:custGeom>
            <a:avLst/>
            <a:gdLst/>
            <a:ahLst/>
            <a:cxnLst/>
            <a:rect l="l" t="t" r="r" b="b"/>
            <a:pathLst>
              <a:path w="3759200" h="26924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2590789"/>
                </a:lnTo>
                <a:cubicBezTo>
                  <a:pt x="3759200" y="2646907"/>
                  <a:pt x="3713707" y="2692400"/>
                  <a:pt x="36575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29200" y="5003800"/>
            <a:ext cx="288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android:typeface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29200" y="5308600"/>
            <a:ext cx="2882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Font chữ: sans, serif, monospace.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78800" y="3911600"/>
            <a:ext cx="3759200" cy="2692400"/>
          </a:xfrm>
          <a:custGeom>
            <a:avLst/>
            <a:gdLst/>
            <a:ahLst/>
            <a:cxnLst/>
            <a:rect l="l" t="t" r="r" b="b"/>
            <a:pathLst>
              <a:path w="3759200" h="26924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2590789"/>
                </a:lnTo>
                <a:cubicBezTo>
                  <a:pt x="3759200" y="2646907"/>
                  <a:pt x="3713707" y="2692400"/>
                  <a:pt x="36575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38100" dist="12700" dir="540000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51850" y="50863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38100"/>
                </a:moveTo>
                <a:cubicBezTo>
                  <a:pt x="266700" y="27563"/>
                  <a:pt x="258187" y="19050"/>
                  <a:pt x="247650" y="19050"/>
                </a:cubicBezTo>
                <a:lnTo>
                  <a:pt x="19050" y="19050"/>
                </a:lnTo>
                <a:cubicBezTo>
                  <a:pt x="8513" y="19050"/>
                  <a:pt x="0" y="27563"/>
                  <a:pt x="0" y="38100"/>
                </a:cubicBezTo>
                <a:cubicBezTo>
                  <a:pt x="0" y="48637"/>
                  <a:pt x="8513" y="57150"/>
                  <a:pt x="19050" y="57150"/>
                </a:cubicBezTo>
                <a:lnTo>
                  <a:pt x="247650" y="57150"/>
                </a:lnTo>
                <a:cubicBezTo>
                  <a:pt x="258187" y="57150"/>
                  <a:pt x="266700" y="48637"/>
                  <a:pt x="266700" y="38100"/>
                </a:cubicBezTo>
                <a:close/>
                <a:moveTo>
                  <a:pt x="266700" y="190500"/>
                </a:moveTo>
                <a:cubicBezTo>
                  <a:pt x="266700" y="179963"/>
                  <a:pt x="258187" y="171450"/>
                  <a:pt x="247650" y="171450"/>
                </a:cubicBezTo>
                <a:lnTo>
                  <a:pt x="19050" y="171450"/>
                </a:lnTo>
                <a:cubicBezTo>
                  <a:pt x="8513" y="171450"/>
                  <a:pt x="0" y="179963"/>
                  <a:pt x="0" y="190500"/>
                </a:cubicBezTo>
                <a:cubicBezTo>
                  <a:pt x="0" y="201037"/>
                  <a:pt x="8513" y="209550"/>
                  <a:pt x="19050" y="209550"/>
                </a:cubicBezTo>
                <a:lnTo>
                  <a:pt x="247650" y="209550"/>
                </a:lnTo>
                <a:cubicBezTo>
                  <a:pt x="258187" y="209550"/>
                  <a:pt x="266700" y="201037"/>
                  <a:pt x="266700" y="190500"/>
                </a:cubicBezTo>
                <a:close/>
                <a:moveTo>
                  <a:pt x="0" y="114300"/>
                </a:moveTo>
                <a:cubicBezTo>
                  <a:pt x="0" y="124837"/>
                  <a:pt x="8513" y="133350"/>
                  <a:pt x="19050" y="133350"/>
                </a:cubicBezTo>
                <a:lnTo>
                  <a:pt x="247650" y="133350"/>
                </a:lnTo>
                <a:cubicBezTo>
                  <a:pt x="258187" y="133350"/>
                  <a:pt x="266700" y="124837"/>
                  <a:pt x="266700" y="114300"/>
                </a:cubicBezTo>
                <a:cubicBezTo>
                  <a:pt x="266700" y="103763"/>
                  <a:pt x="258187" y="95250"/>
                  <a:pt x="247650" y="95250"/>
                </a:cubicBezTo>
                <a:lnTo>
                  <a:pt x="19050" y="95250"/>
                </a:lnTo>
                <a:cubicBezTo>
                  <a:pt x="8513" y="95250"/>
                  <a:pt x="0" y="103763"/>
                  <a:pt x="0" y="114300"/>
                </a:cubicBezTo>
                <a:close/>
                <a:moveTo>
                  <a:pt x="266700" y="266700"/>
                </a:moveTo>
                <a:cubicBezTo>
                  <a:pt x="266700" y="256163"/>
                  <a:pt x="258187" y="247650"/>
                  <a:pt x="247650" y="247650"/>
                </a:cubicBezTo>
                <a:lnTo>
                  <a:pt x="19050" y="247650"/>
                </a:lnTo>
                <a:cubicBezTo>
                  <a:pt x="8513" y="247650"/>
                  <a:pt x="0" y="256163"/>
                  <a:pt x="0" y="266700"/>
                </a:cubicBezTo>
                <a:cubicBezTo>
                  <a:pt x="0" y="277237"/>
                  <a:pt x="8513" y="285750"/>
                  <a:pt x="19050" y="285750"/>
                </a:cubicBezTo>
                <a:lnTo>
                  <a:pt x="247650" y="285750"/>
                </a:lnTo>
                <a:cubicBezTo>
                  <a:pt x="258187" y="285750"/>
                  <a:pt x="266700" y="277237"/>
                  <a:pt x="266700" y="266700"/>
                </a:cubicBez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25" name="Text 22"/>
          <p:cNvSpPr/>
          <p:nvPr/>
        </p:nvSpPr>
        <p:spPr>
          <a:xfrm>
            <a:off x="8991600" y="50038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android:lineSpacingExtra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991600" y="5308600"/>
            <a:ext cx="3060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Khoảng cách dòng.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193800"/>
            <a:ext cx="584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Tự Động Liên Kết với `autoLink`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3114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Biến địa chỉ web, email, số điện thoại... thành liên kết có thể nhấn mở ứng dụng tương ứng.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022600"/>
            <a:ext cx="5842000" cy="2336800"/>
          </a:xfrm>
          <a:custGeom>
            <a:avLst/>
            <a:gdLst/>
            <a:ahLst/>
            <a:cxnLst/>
            <a:rect l="l" t="t" r="r" b="b"/>
            <a:pathLst>
              <a:path w="5842000" h="2336800">
                <a:moveTo>
                  <a:pt x="101604" y="0"/>
                </a:moveTo>
                <a:lnTo>
                  <a:pt x="5740396" y="0"/>
                </a:lnTo>
                <a:cubicBezTo>
                  <a:pt x="5796510" y="0"/>
                  <a:pt x="5842000" y="45490"/>
                  <a:pt x="5842000" y="101604"/>
                </a:cubicBezTo>
                <a:lnTo>
                  <a:pt x="5842000" y="2235196"/>
                </a:lnTo>
                <a:cubicBezTo>
                  <a:pt x="5842000" y="2291310"/>
                  <a:pt x="5796510" y="2336800"/>
                  <a:pt x="57403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76200" dist="50800" dir="540000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225800"/>
            <a:ext cx="594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Ví dụ với `android:autoLink="web"`: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632200"/>
            <a:ext cx="5435600" cy="1524000"/>
          </a:xfrm>
          <a:custGeom>
            <a:avLst/>
            <a:gdLst/>
            <a:ahLst/>
            <a:cxnLst/>
            <a:rect l="l" t="t" r="r" b="b"/>
            <a:pathLst>
              <a:path w="5435600" h="1524000">
                <a:moveTo>
                  <a:pt x="76200" y="0"/>
                </a:moveTo>
                <a:lnTo>
                  <a:pt x="5359400" y="0"/>
                </a:lnTo>
                <a:cubicBezTo>
                  <a:pt x="5401456" y="0"/>
                  <a:pt x="5435600" y="34144"/>
                  <a:pt x="5435600" y="76200"/>
                </a:cubicBezTo>
                <a:lnTo>
                  <a:pt x="5435600" y="1447800"/>
                </a:lnTo>
                <a:cubicBezTo>
                  <a:pt x="5435600" y="1489856"/>
                  <a:pt x="5401456" y="1524000"/>
                  <a:pt x="53594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632200"/>
            <a:ext cx="5435600" cy="15240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 www.rockument.com ...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4000" y="5461000"/>
            <a:ext cx="635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Lưu ý: Không dùng HTML cho web link khi dùng `autoLink`.</a:t>
            </a:r>
            <a:endParaRPr lang="en-US" sz="1600" dirty="0"/>
          </a:p>
        </p:txBody>
      </p:sp>
      <p:pic>
        <p:nvPicPr>
          <p:cNvPr id="10" name="Image 1" descr="https://kimi-web-img.moonshot.cn/img/www.mobileui.cn/cdc9246555179afeafbf5ed6ff2b872b0658004f.jpg">    </p:cNvPr>
          <p:cNvPicPr>
            <a:picLocks noChangeAspect="1"/>
          </p:cNvPicPr>
          <p:nvPr/>
        </p:nvPicPr>
        <p:blipFill>
          <a:blip r:embed="rId2"/>
          <a:srcRect l="0" r="0" t="24624" b="24624"/>
          <a:stretch/>
        </p:blipFill>
        <p:spPr>
          <a:xfrm>
            <a:off x="6502400" y="2108200"/>
            <a:ext cx="5435600" cy="1219200"/>
          </a:xfrm>
          <a:prstGeom prst="roundRect">
            <a:avLst>
              <a:gd name="adj" fmla="val 8333"/>
            </a:avLst>
          </a:prstGeom>
        </p:spPr>
      </p:pic>
      <p:pic>
        <p:nvPicPr>
          <p:cNvPr id="11" name="Image 2" descr="https://kimi-web-img.moonshot.cn/img/www.imgeek.org/9e2e9b59c1edcb0fb5c5731c4be0eab07e3d2c56.png">    </p:cNvPr>
          <p:cNvPicPr>
            <a:picLocks noChangeAspect="1"/>
          </p:cNvPicPr>
          <p:nvPr/>
        </p:nvPicPr>
        <p:blipFill>
          <a:blip r:embed="rId3"/>
          <a:srcRect l="0" r="0" t="36885" b="36885"/>
          <a:stretch/>
        </p:blipFill>
        <p:spPr>
          <a:xfrm>
            <a:off x="6502400" y="3530600"/>
            <a:ext cx="5435600" cy="1219200"/>
          </a:xfrm>
          <a:prstGeom prst="roundRect">
            <a:avLst>
              <a:gd name="adj" fmla="val 8333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 TextView Động Bằng Mã Java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914400"/>
            <a:ext cx="1219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 và tùy chỉnh TextView khi ứng dụng đang chạy, ví dụ như hiển thị bình luận người dùng vừa nhập.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1473200"/>
            <a:ext cx="5689600" cy="5130800"/>
          </a:xfrm>
          <a:custGeom>
            <a:avLst/>
            <a:gdLst/>
            <a:ahLst/>
            <a:cxnLst/>
            <a:rect l="l" t="t" r="r" b="b"/>
            <a:pathLst>
              <a:path w="5689600" h="51308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5029210"/>
                </a:lnTo>
                <a:cubicBezTo>
                  <a:pt x="5689600" y="5085317"/>
                  <a:pt x="5644117" y="5130800"/>
                  <a:pt x="5588010" y="5130800"/>
                </a:cubicBezTo>
                <a:lnTo>
                  <a:pt x="101590" y="5130800"/>
                </a:lnTo>
                <a:cubicBezTo>
                  <a:pt x="45483" y="5130800"/>
                  <a:pt x="0" y="5085317"/>
                  <a:pt x="0" y="50292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03200" y="16764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Đoạn Mã Java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133600"/>
            <a:ext cx="5283200" cy="4267200"/>
          </a:xfrm>
          <a:custGeom>
            <a:avLst/>
            <a:gdLst/>
            <a:ahLst/>
            <a:cxnLst/>
            <a:rect l="l" t="t" r="r" b="b"/>
            <a:pathLst>
              <a:path w="5283200" h="4267200">
                <a:moveTo>
                  <a:pt x="76212" y="0"/>
                </a:moveTo>
                <a:lnTo>
                  <a:pt x="5206988" y="0"/>
                </a:lnTo>
                <a:cubicBezTo>
                  <a:pt x="5249079" y="0"/>
                  <a:pt x="5283200" y="34121"/>
                  <a:pt x="5283200" y="76212"/>
                </a:cubicBezTo>
                <a:lnTo>
                  <a:pt x="5283200" y="4190988"/>
                </a:lnTo>
                <a:cubicBezTo>
                  <a:pt x="5283200" y="4233079"/>
                  <a:pt x="5249079" y="4267200"/>
                  <a:pt x="5206988" y="4267200"/>
                </a:cubicBezTo>
                <a:lnTo>
                  <a:pt x="76212" y="4267200"/>
                </a:lnTo>
                <a:cubicBezTo>
                  <a:pt x="34121" y="4267200"/>
                  <a:pt x="0" y="4233079"/>
                  <a:pt x="0" y="41909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133600"/>
            <a:ext cx="5283200" cy="426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TextView myTextview = new TextView(this);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myTextView.setWidth(LayoutParams.MATCH_PARENT);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myTextView.setHeight(LayoutParams.WRAP_CONTENT);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myTextView.setMinLines(3);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myTextView.setText(R.string.my_story);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myTextView.append(userComment);</a:t>
            </a:r>
            <a:endParaRPr lang="en-US" sz="1600" dirty="0"/>
          </a:p>
        </p:txBody>
      </p:sp>
      <p:pic>
        <p:nvPicPr>
          <p:cNvPr id="9" name="Image 1" descr="https://kimi-web-img.moonshot.cn/img/ucc.alicdn.com/a0d1d59e3584c141509d3b1109fcb446e81cff1d.png">    </p:cNvPr>
          <p:cNvPicPr>
            <a:picLocks noChangeAspect="1"/>
          </p:cNvPicPr>
          <p:nvPr/>
        </p:nvPicPr>
        <p:blipFill>
          <a:blip r:embed="rId2"/>
          <a:srcRect l="0" r="0" t="26771" b="26771"/>
          <a:stretch/>
        </p:blipFill>
        <p:spPr>
          <a:xfrm>
            <a:off x="6253956" y="1808559"/>
            <a:ext cx="5689600" cy="4102100"/>
          </a:xfrm>
          <a:prstGeom prst="roundRect">
            <a:avLst>
              <a:gd name="adj" fmla="val 2477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7524948" y="6014641"/>
            <a:ext cx="39902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Kết quả trên màn hình thiết bị (ảnh tượng trưng)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4-d2sjh6m1bb2p4onbq9b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8:39-d2sjh7u1bb2p4onbq9d0.jp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19005" b="17569"/>
          <a:stretch/>
        </p:blipFill>
        <p:spPr>
          <a:xfrm>
            <a:off x="0" y="1316990"/>
            <a:ext cx="12192000" cy="4321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67155" y="3056890"/>
            <a:ext cx="9475470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333F4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Giới thiệu ScrollView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107305" y="1623060"/>
            <a:ext cx="2824344" cy="1066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14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ScrollView: Giải Pháp cho Nội Dung Dài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30584" y="16764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Vấn Đề</a:t>
            </a:r>
            <a:endParaRPr lang="en-US" sz="1600" dirty="0"/>
          </a:p>
        </p:txBody>
      </p:sp>
      <p:pic>
        <p:nvPicPr>
          <p:cNvPr id="5" name="Image 1" descr="https://kimi-web-img.moonshot.cn/img/www.codebye.com/a4f09db4ce1ae9096cd33b9c7d7d15bf60ebf872.jpg">    </p:cNvPr>
          <p:cNvPicPr>
            <a:picLocks noChangeAspect="1"/>
          </p:cNvPicPr>
          <p:nvPr/>
        </p:nvPicPr>
        <p:blipFill>
          <a:blip r:embed="rId2"/>
          <a:srcRect l="0" r="0" t="29459" b="29459"/>
          <a:stretch/>
        </p:blipFill>
        <p:spPr>
          <a:xfrm>
            <a:off x="484584" y="2133600"/>
            <a:ext cx="4673600" cy="2438400"/>
          </a:xfrm>
          <a:prstGeom prst="roundRect">
            <a:avLst>
              <a:gd name="adj" fmla="val 4167"/>
            </a:avLst>
          </a:prstGeom>
        </p:spPr>
      </p:pic>
      <p:sp>
        <p:nvSpPr>
          <p:cNvPr id="6" name="Text 2"/>
          <p:cNvSpPr/>
          <p:nvPr/>
        </p:nvSpPr>
        <p:spPr>
          <a:xfrm>
            <a:off x="230584" y="4673600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Nội dung dài bị cắt xén, không thể xem tiếp.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838825" y="2870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05956" y="248781"/>
                </a:moveTo>
                <a:cubicBezTo>
                  <a:pt x="517118" y="237619"/>
                  <a:pt x="517118" y="219492"/>
                  <a:pt x="505956" y="208330"/>
                </a:cubicBezTo>
                <a:lnTo>
                  <a:pt x="391656" y="94030"/>
                </a:lnTo>
                <a:cubicBezTo>
                  <a:pt x="380494" y="82868"/>
                  <a:pt x="362367" y="82868"/>
                  <a:pt x="351205" y="94030"/>
                </a:cubicBezTo>
                <a:cubicBezTo>
                  <a:pt x="340043" y="105192"/>
                  <a:pt x="340043" y="123319"/>
                  <a:pt x="351205" y="134481"/>
                </a:cubicBezTo>
                <a:lnTo>
                  <a:pt x="41674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416749" y="257175"/>
                </a:lnTo>
                <a:lnTo>
                  <a:pt x="351205" y="322719"/>
                </a:lnTo>
                <a:cubicBezTo>
                  <a:pt x="340042" y="333881"/>
                  <a:pt x="340042" y="352008"/>
                  <a:pt x="351205" y="363170"/>
                </a:cubicBezTo>
                <a:cubicBezTo>
                  <a:pt x="362367" y="374333"/>
                  <a:pt x="380494" y="374333"/>
                  <a:pt x="391656" y="363170"/>
                </a:cubicBezTo>
                <a:lnTo>
                  <a:pt x="505956" y="248870"/>
                </a:lnTo>
                <a:close/>
              </a:path>
            </a:pathLst>
          </a:custGeom>
          <a:solidFill>
            <a:srgbClr val="F9B79B"/>
          </a:solidFill>
          <a:ln/>
        </p:spPr>
      </p:sp>
      <p:sp>
        <p:nvSpPr>
          <p:cNvPr id="8" name="Text 4"/>
          <p:cNvSpPr/>
          <p:nvPr/>
        </p:nvSpPr>
        <p:spPr>
          <a:xfrm>
            <a:off x="5564584" y="3505200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9B7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ScrollView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79816" y="16764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Giải Pháp</a:t>
            </a:r>
            <a:endParaRPr lang="en-US" sz="1600" dirty="0"/>
          </a:p>
        </p:txBody>
      </p:sp>
      <p:pic>
        <p:nvPicPr>
          <p:cNvPr id="10" name="Image 2" descr="https://kimi-web-img.moonshot.cn/img/raw.githubusercontent.com/83b1e091948411daab51e89167a9b54910d150dc.png">    </p:cNvPr>
          <p:cNvPicPr>
            <a:picLocks noChangeAspect="1"/>
          </p:cNvPicPr>
          <p:nvPr/>
        </p:nvPicPr>
        <p:blipFill>
          <a:blip r:embed="rId3"/>
          <a:srcRect l="18056" r="18056" t="0" b="0"/>
          <a:stretch/>
        </p:blipFill>
        <p:spPr>
          <a:xfrm>
            <a:off x="7033816" y="2133600"/>
            <a:ext cx="4673600" cy="2438400"/>
          </a:xfrm>
          <a:prstGeom prst="roundRect">
            <a:avLst>
              <a:gd name="adj" fmla="val 4167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6779816" y="4673600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Bao bọc nội dung bằng ScrollView để cuộn dọc.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254000" y="5232400"/>
            <a:ext cx="11684000" cy="711200"/>
          </a:xfrm>
          <a:custGeom>
            <a:avLst/>
            <a:gdLst/>
            <a:ahLst/>
            <a:cxnLst/>
            <a:rect l="l" t="t" r="r" b="b"/>
            <a:pathLst>
              <a:path w="11684000" h="711200">
                <a:moveTo>
                  <a:pt x="76198" y="0"/>
                </a:moveTo>
                <a:lnTo>
                  <a:pt x="11607802" y="0"/>
                </a:lnTo>
                <a:cubicBezTo>
                  <a:pt x="11649885" y="0"/>
                  <a:pt x="11684000" y="34115"/>
                  <a:pt x="11684000" y="76198"/>
                </a:cubicBezTo>
                <a:lnTo>
                  <a:pt x="11684000" y="635002"/>
                </a:lnTo>
                <a:cubicBezTo>
                  <a:pt x="11684000" y="677085"/>
                  <a:pt x="11649885" y="711200"/>
                  <a:pt x="11607802" y="711200"/>
                </a:cubicBezTo>
                <a:lnTo>
                  <a:pt x="76198" y="711200"/>
                </a:lnTo>
                <a:cubicBezTo>
                  <a:pt x="34143" y="711200"/>
                  <a:pt x="0" y="677057"/>
                  <a:pt x="0" y="6350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254000" y="5232400"/>
            <a:ext cx="11684000" cy="711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Lưu ý: ScrollView chỉ được chứa 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một view trực tiếp</a:t>
            </a:r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Để cuộn ngang, dùng HorizontalScrollView. Để hiển thị danh sách dài, dùng RecyclerView.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41-d2sjh8e1bb2p4onbq9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45" y="-15875"/>
            <a:ext cx="12300585" cy="692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Cấu Trúc ScrollView: Một Con hoặc Nhiều Con?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914400"/>
            <a:ext cx="5689600" cy="5689600"/>
          </a:xfrm>
          <a:custGeom>
            <a:avLst/>
            <a:gdLst/>
            <a:ahLst/>
            <a:cxnLst/>
            <a:rect l="l" t="t" r="r" b="b"/>
            <a:pathLst>
              <a:path w="5689600" h="5689600">
                <a:moveTo>
                  <a:pt x="101616" y="0"/>
                </a:moveTo>
                <a:lnTo>
                  <a:pt x="5587984" y="0"/>
                </a:lnTo>
                <a:cubicBezTo>
                  <a:pt x="5644105" y="0"/>
                  <a:pt x="5689600" y="45495"/>
                  <a:pt x="5689600" y="101616"/>
                </a:cubicBezTo>
                <a:lnTo>
                  <a:pt x="5689600" y="5587984"/>
                </a:lnTo>
                <a:cubicBezTo>
                  <a:pt x="5689600" y="5644105"/>
                  <a:pt x="5644105" y="5689600"/>
                  <a:pt x="5587984" y="5689600"/>
                </a:cubicBezTo>
                <a:lnTo>
                  <a:pt x="101616" y="5689600"/>
                </a:lnTo>
                <a:cubicBezTo>
                  <a:pt x="45495" y="5689600"/>
                  <a:pt x="0" y="5644105"/>
                  <a:pt x="0" y="5587984"/>
                </a:cubicBezTo>
                <a:lnTo>
                  <a:pt x="0" y="101616"/>
                </a:lnTo>
                <a:cubicBezTo>
                  <a:pt x="0" y="45533"/>
                  <a:pt x="45533" y="0"/>
                  <a:pt x="101616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203200" y="11176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ScrollView chỉ chứa TextView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574800"/>
            <a:ext cx="579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Phù hợp cho bài viết ngắn, chỉ có văn bản.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930400"/>
            <a:ext cx="5283200" cy="4470400"/>
          </a:xfrm>
          <a:custGeom>
            <a:avLst/>
            <a:gdLst/>
            <a:ahLst/>
            <a:cxnLst/>
            <a:rect l="l" t="t" r="r" b="b"/>
            <a:pathLst>
              <a:path w="5283200" h="4470400">
                <a:moveTo>
                  <a:pt x="76220" y="0"/>
                </a:moveTo>
                <a:lnTo>
                  <a:pt x="5206980" y="0"/>
                </a:lnTo>
                <a:cubicBezTo>
                  <a:pt x="5249075" y="0"/>
                  <a:pt x="5283200" y="34125"/>
                  <a:pt x="5283200" y="76220"/>
                </a:cubicBezTo>
                <a:lnTo>
                  <a:pt x="5283200" y="4394180"/>
                </a:lnTo>
                <a:cubicBezTo>
                  <a:pt x="5283200" y="4436275"/>
                  <a:pt x="5249075" y="4470400"/>
                  <a:pt x="5206980" y="4470400"/>
                </a:cubicBezTo>
                <a:lnTo>
                  <a:pt x="76220" y="4470400"/>
                </a:lnTo>
                <a:cubicBezTo>
                  <a:pt x="34125" y="4470400"/>
                  <a:pt x="0" y="4436275"/>
                  <a:pt x="0" y="4394180"/>
                </a:cubicBezTo>
                <a:lnTo>
                  <a:pt x="0" y="76220"/>
                </a:lnTo>
                <a:cubicBezTo>
                  <a:pt x="0" y="34153"/>
                  <a:pt x="34153" y="0"/>
                  <a:pt x="7622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sp>
        <p:nvSpPr>
          <p:cNvPr id="8" name="Shape 5"/>
          <p:cNvSpPr/>
          <p:nvPr/>
        </p:nvSpPr>
        <p:spPr>
          <a:xfrm>
            <a:off x="6248400" y="914400"/>
            <a:ext cx="5689600" cy="5689600"/>
          </a:xfrm>
          <a:custGeom>
            <a:avLst/>
            <a:gdLst/>
            <a:ahLst/>
            <a:cxnLst/>
            <a:rect l="l" t="t" r="r" b="b"/>
            <a:pathLst>
              <a:path w="5689600" h="5689600">
                <a:moveTo>
                  <a:pt x="101616" y="0"/>
                </a:moveTo>
                <a:lnTo>
                  <a:pt x="5587984" y="0"/>
                </a:lnTo>
                <a:cubicBezTo>
                  <a:pt x="5644105" y="0"/>
                  <a:pt x="5689600" y="45495"/>
                  <a:pt x="5689600" y="101616"/>
                </a:cubicBezTo>
                <a:lnTo>
                  <a:pt x="5689600" y="5587984"/>
                </a:lnTo>
                <a:cubicBezTo>
                  <a:pt x="5689600" y="5644105"/>
                  <a:pt x="5644105" y="5689600"/>
                  <a:pt x="5587984" y="5689600"/>
                </a:cubicBezTo>
                <a:lnTo>
                  <a:pt x="101616" y="5689600"/>
                </a:lnTo>
                <a:cubicBezTo>
                  <a:pt x="45495" y="5689600"/>
                  <a:pt x="0" y="5644105"/>
                  <a:pt x="0" y="5587984"/>
                </a:cubicBezTo>
                <a:lnTo>
                  <a:pt x="0" y="101616"/>
                </a:lnTo>
                <a:cubicBezTo>
                  <a:pt x="0" y="45533"/>
                  <a:pt x="45533" y="0"/>
                  <a:pt x="101616" y="0"/>
                </a:cubicBezTo>
                <a:close/>
              </a:path>
            </a:pathLst>
          </a:custGeom>
          <a:solidFill>
            <a:srgbClr val="D7E3E9">
              <a:alpha val="66667"/>
            </a:srgbClr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97600" y="11176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ScrollView chứa ViewGroup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1600" y="1574800"/>
            <a:ext cx="528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Phù hợp cho layout phức tạp (nhiều TextView, ImageView, Button...).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51600" y="2184400"/>
            <a:ext cx="5283200" cy="4216400"/>
          </a:xfrm>
          <a:custGeom>
            <a:avLst/>
            <a:gdLst/>
            <a:ahLst/>
            <a:cxnLst/>
            <a:rect l="l" t="t" r="r" b="b"/>
            <a:pathLst>
              <a:path w="5283200" h="4216400">
                <a:moveTo>
                  <a:pt x="76190" y="0"/>
                </a:moveTo>
                <a:lnTo>
                  <a:pt x="5207010" y="0"/>
                </a:lnTo>
                <a:cubicBezTo>
                  <a:pt x="5249088" y="0"/>
                  <a:pt x="5283200" y="34112"/>
                  <a:pt x="5283200" y="76190"/>
                </a:cubicBezTo>
                <a:lnTo>
                  <a:pt x="5283200" y="4140210"/>
                </a:lnTo>
                <a:cubicBezTo>
                  <a:pt x="5283200" y="4182288"/>
                  <a:pt x="5249088" y="4216400"/>
                  <a:pt x="5207010" y="4216400"/>
                </a:cubicBezTo>
                <a:lnTo>
                  <a:pt x="76190" y="4216400"/>
                </a:lnTo>
                <a:cubicBezTo>
                  <a:pt x="34112" y="4216400"/>
                  <a:pt x="0" y="4182288"/>
                  <a:pt x="0" y="4140210"/>
                </a:cubicBezTo>
                <a:lnTo>
                  <a:pt x="0" y="76190"/>
                </a:lnTo>
                <a:cubicBezTo>
                  <a:pt x="0" y="34112"/>
                  <a:pt x="34112" y="0"/>
                  <a:pt x="76190" y="0"/>
                </a:cubicBezTo>
                <a:close/>
              </a:path>
            </a:pathLst>
          </a:custGeom>
          <a:solidFill>
            <a:srgbClr val="BACBD3"/>
          </a:solidFill>
          <a:ln/>
        </p:spPr>
      </p:sp>
      <p:pic>
        <p:nvPicPr>
          <p:cNvPr id="12" name="Image 1" descr="https://kimi-img.moonshot.cn/pub/slides/25-09-17-22:52:56-d35cmi5nfo2nvh7iskm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2184400"/>
            <a:ext cx="5283200" cy="4216400"/>
          </a:xfrm>
          <a:prstGeom prst="rect">
            <a:avLst/>
          </a:prstGeom>
        </p:spPr>
      </p:pic>
      <p:pic>
        <p:nvPicPr>
          <p:cNvPr id="13" name="Image 2" descr="https://kimi-img.moonshot.cn/pub/slides/25-09-17-22:53:28-d35cmq1rqpmdfi9rlh3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0400"/>
            <a:ext cx="52832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8:38-d2sjh7m1bb2p4onbq9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430" y="-18415"/>
            <a:ext cx="12214225" cy="68637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22475" y="2712377"/>
            <a:ext cx="8146415" cy="165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44546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苹方-简" pitchFamily="34" charset="0"/>
                <a:ea typeface="苹方-简" pitchFamily="34" charset="-122"/>
                <a:cs typeface="苹方-简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-11430" y="-18415"/>
            <a:ext cx="12214860" cy="1351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rot="10800000">
            <a:off x="0" y="5347335"/>
            <a:ext cx="12192000" cy="1497965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86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7" name="Text 4"/>
          <p:cNvSpPr/>
          <p:nvPr/>
        </p:nvSpPr>
        <p:spPr>
          <a:xfrm rot="10800000">
            <a:off x="0" y="5347335"/>
            <a:ext cx="12192000" cy="14979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TextView &amp; ScrollView: Bộ Đôi Hiển Thị Nội Dung</dc:title>
  <dc:subject>TextView &amp; ScrollView: Bộ Đôi Hiển Thị Nội Dung</dc:subject>
  <dc:creator>Kimi</dc:creator>
  <cp:lastModifiedBy>Kimi</cp:lastModifiedBy>
  <cp:revision>1</cp:revision>
  <dcterms:created xsi:type="dcterms:W3CDTF">2025-09-17T14:56:28Z</dcterms:created>
  <dcterms:modified xsi:type="dcterms:W3CDTF">2025-09-17T14:56:28Z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{"Label":"TextView &amp; ScrollView: Bộ Đôi Hiển Thị Nội Dung","ContentProducer":"001191110108MACG2KBH8F10000","ProduceID":"d359q50r7lpvrvt8jo30","ReservedCode1":"","ContentPropagator":"001191110108MACG2KBH8F20000","PropagateID":"d359q50r7lpvrvt8jo30","ReservedCode2":""}</vt:lpwstr>
  </property>
</Properties>
</file>